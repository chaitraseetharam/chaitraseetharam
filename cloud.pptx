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6" r:id="rId1"/>
  </p:sldMasterIdLst>
  <p:sldIdLst>
    <p:sldId id="256" r:id="rId2"/>
    <p:sldId id="258" r:id="rId3"/>
    <p:sldId id="260" r:id="rId4"/>
    <p:sldId id="261" r:id="rId5"/>
    <p:sldId id="266" r:id="rId6"/>
    <p:sldId id="263" r:id="rId7"/>
    <p:sldId id="264" r:id="rId8"/>
    <p:sldId id="273" r:id="rId9"/>
    <p:sldId id="265" r:id="rId10"/>
    <p:sldId id="269" r:id="rId11"/>
    <p:sldId id="272" r:id="rId12"/>
    <p:sldId id="270" r:id="rId13"/>
    <p:sldId id="267" r:id="rId14"/>
    <p:sldId id="268" r:id="rId15"/>
    <p:sldId id="274" r:id="rId16"/>
    <p:sldId id="275" r:id="rId17"/>
    <p:sldId id="276" r:id="rId18"/>
    <p:sldId id="277" r:id="rId19"/>
    <p:sldId id="278" r:id="rId20"/>
    <p:sldId id="279" r:id="rId21"/>
    <p:sldId id="280" r:id="rId22"/>
    <p:sldId id="281" r:id="rId23"/>
    <p:sldId id="283" r:id="rId24"/>
    <p:sldId id="284" r:id="rId25"/>
    <p:sldId id="285"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76340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68827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59410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01980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8708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13775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89828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16034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44979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17191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53378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73489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656096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407974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8100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64185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6/23/2022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37383731"/>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cloud-service-models#PaaS" TargetMode="External"/><Relationship Id="rId2" Type="http://schemas.openxmlformats.org/officeDocument/2006/relationships/hyperlink" Target="https://www.javatpoint.com/cloud-service-models#IaaS" TargetMode="External"/><Relationship Id="rId1" Type="http://schemas.openxmlformats.org/officeDocument/2006/relationships/slideLayout" Target="../slideLayouts/slideLayout5.xml"/><Relationship Id="rId4" Type="http://schemas.openxmlformats.org/officeDocument/2006/relationships/hyperlink" Target="https://www.javatpoint.com/cloud-service-models#Saa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940BE-C6BF-48D2-8F68-AD000BB44C11}"/>
              </a:ext>
            </a:extLst>
          </p:cNvPr>
          <p:cNvSpPr>
            <a:spLocks noGrp="1"/>
          </p:cNvSpPr>
          <p:nvPr>
            <p:ph type="ctrTitle"/>
          </p:nvPr>
        </p:nvSpPr>
        <p:spPr>
          <a:xfrm>
            <a:off x="185531" y="132522"/>
            <a:ext cx="11741426" cy="702365"/>
          </a:xfrm>
        </p:spPr>
        <p:txBody>
          <a:bodyPr>
            <a:normAutofit/>
          </a:bodyPr>
          <a:lstStyle/>
          <a:p>
            <a:pPr algn="ctr"/>
            <a:r>
              <a:rPr lang="en-IN" sz="4000" b="1" dirty="0">
                <a:solidFill>
                  <a:schemeClr val="tx1">
                    <a:lumMod val="95000"/>
                    <a:lumOff val="5000"/>
                  </a:schemeClr>
                </a:solidFill>
                <a:latin typeface="Times New Roman" panose="02020603050405020304" pitchFamily="18" charset="0"/>
                <a:cs typeface="Times New Roman" panose="02020603050405020304" pitchFamily="18" charset="0"/>
              </a:rPr>
              <a:t>AWS CLOUD</a:t>
            </a:r>
          </a:p>
        </p:txBody>
      </p:sp>
      <p:sp>
        <p:nvSpPr>
          <p:cNvPr id="3" name="Subtitle 2">
            <a:extLst>
              <a:ext uri="{FF2B5EF4-FFF2-40B4-BE49-F238E27FC236}">
                <a16:creationId xmlns:a16="http://schemas.microsoft.com/office/drawing/2014/main" id="{996CA723-7EA5-415C-8C9B-08C9B34258AB}"/>
              </a:ext>
            </a:extLst>
          </p:cNvPr>
          <p:cNvSpPr>
            <a:spLocks noGrp="1"/>
          </p:cNvSpPr>
          <p:nvPr>
            <p:ph type="subTitle" idx="1"/>
          </p:nvPr>
        </p:nvSpPr>
        <p:spPr>
          <a:xfrm>
            <a:off x="185531" y="834887"/>
            <a:ext cx="11741426" cy="5890591"/>
          </a:xfrm>
        </p:spPr>
        <p:txBody>
          <a:bodyPr/>
          <a:lstStyle/>
          <a:p>
            <a:pPr marL="342900" indent="-342900" algn="l">
              <a:buClr>
                <a:srgbClr val="002060"/>
              </a:buClr>
              <a:buFont typeface="Wingdings" panose="05000000000000000000" pitchFamily="2" charset="2"/>
              <a:buChar char="Ø"/>
            </a:pP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Cloud </a:t>
            </a:r>
          </a:p>
          <a:p>
            <a:pPr marL="342900" indent="-342900" algn="l">
              <a:buClr>
                <a:srgbClr val="002060"/>
              </a:buClr>
              <a:buFont typeface="Wingdings" panose="05000000000000000000" pitchFamily="2" charset="2"/>
              <a:buChar char="Ø"/>
            </a:pP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Scaling </a:t>
            </a:r>
          </a:p>
          <a:p>
            <a:pPr marL="342900" indent="-342900" algn="l">
              <a:buClr>
                <a:srgbClr val="002060"/>
              </a:buClr>
              <a:buFont typeface="Wingdings" panose="05000000000000000000" pitchFamily="2" charset="2"/>
              <a:buChar char="Ø"/>
            </a:pP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Cloud Terminology /  Characteristics</a:t>
            </a:r>
          </a:p>
          <a:p>
            <a:pPr marL="342900" indent="-342900" algn="l">
              <a:buClr>
                <a:srgbClr val="002060"/>
              </a:buClr>
              <a:buFont typeface="Wingdings" panose="05000000000000000000" pitchFamily="2" charset="2"/>
              <a:buChar char="Ø"/>
            </a:pP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AWS Region / Availability Zone /  Instances / AMI</a:t>
            </a:r>
          </a:p>
          <a:p>
            <a:pPr marL="342900" indent="-342900" algn="l">
              <a:buClr>
                <a:srgbClr val="002060"/>
              </a:buClr>
              <a:buFont typeface="Wingdings" panose="05000000000000000000" pitchFamily="2" charset="2"/>
              <a:buChar char="Ø"/>
            </a:pPr>
            <a:r>
              <a:rPr lang="en-IN" sz="2400" dirty="0">
                <a:solidFill>
                  <a:schemeClr val="tx1">
                    <a:lumMod val="95000"/>
                    <a:lumOff val="5000"/>
                  </a:schemeClr>
                </a:solidFill>
                <a:latin typeface="Times New Roman" panose="02020603050405020304" pitchFamily="18" charset="0"/>
                <a:cs typeface="Times New Roman" panose="02020603050405020304" pitchFamily="18" charset="0"/>
              </a:rPr>
              <a:t>Low latency /  High Throughput / High Availability / Fault tolerance</a:t>
            </a:r>
          </a:p>
          <a:p>
            <a:pPr marL="342900" indent="-342900" algn="l">
              <a:buClr>
                <a:srgbClr val="002060"/>
              </a:buClr>
              <a:buFont typeface="Wingdings" panose="05000000000000000000" pitchFamily="2" charset="2"/>
              <a:buChar char="Ø"/>
            </a:pPr>
            <a:r>
              <a:rPr lang="en-IN" sz="2400" i="0" dirty="0">
                <a:solidFill>
                  <a:srgbClr val="292929"/>
                </a:solidFill>
                <a:effectLst/>
                <a:latin typeface="Times New Roman" panose="02020603050405020304" pitchFamily="18" charset="0"/>
                <a:cs typeface="Times New Roman" panose="02020603050405020304" pitchFamily="18" charset="0"/>
              </a:rPr>
              <a:t>Factors To Consider When Choosing Your Region and AZ</a:t>
            </a:r>
          </a:p>
          <a:p>
            <a:pPr marL="342900" indent="-342900" algn="l">
              <a:buClr>
                <a:srgbClr val="002060"/>
              </a:buClr>
              <a:buFont typeface="Wingdings" panose="05000000000000000000" pitchFamily="2" charset="2"/>
              <a:buChar char="Ø"/>
            </a:pPr>
            <a:r>
              <a:rPr lang="en-IN" sz="2400" dirty="0">
                <a:solidFill>
                  <a:srgbClr val="292929"/>
                </a:solidFill>
                <a:latin typeface="Times New Roman" panose="02020603050405020304" pitchFamily="18" charset="0"/>
                <a:cs typeface="Times New Roman" panose="02020603050405020304" pitchFamily="18" charset="0"/>
              </a:rPr>
              <a:t>Regional Services &amp; Global Services </a:t>
            </a:r>
          </a:p>
          <a:p>
            <a:pPr marL="342900" indent="-342900" algn="l">
              <a:buClr>
                <a:srgbClr val="002060"/>
              </a:buClr>
              <a:buFont typeface="Wingdings" panose="05000000000000000000" pitchFamily="2" charset="2"/>
              <a:buChar char="Ø"/>
            </a:pPr>
            <a:r>
              <a:rPr lang="en-IN" sz="2400" dirty="0">
                <a:solidFill>
                  <a:srgbClr val="292929"/>
                </a:solidFill>
                <a:latin typeface="Times New Roman" panose="02020603050405020304" pitchFamily="18" charset="0"/>
                <a:cs typeface="Times New Roman" panose="02020603050405020304" pitchFamily="18" charset="0"/>
              </a:rPr>
              <a:t>Billing &amp; Pricing over view / Access AWS Services</a:t>
            </a:r>
          </a:p>
          <a:p>
            <a:pPr marL="342900" indent="-342900" algn="l">
              <a:buClr>
                <a:srgbClr val="002060"/>
              </a:buClr>
              <a:buFont typeface="Wingdings" panose="05000000000000000000" pitchFamily="2" charset="2"/>
              <a:buChar char="Ø"/>
            </a:pPr>
            <a:r>
              <a:rPr lang="en-IN" sz="2400" dirty="0">
                <a:solidFill>
                  <a:srgbClr val="292929"/>
                </a:solidFill>
                <a:latin typeface="Times New Roman" panose="02020603050405020304" pitchFamily="18" charset="0"/>
                <a:cs typeface="Times New Roman" panose="02020603050405020304" pitchFamily="18" charset="0"/>
              </a:rPr>
              <a:t>IAM Services / IAM Authorization types / Root user V/S IAM user</a:t>
            </a:r>
          </a:p>
          <a:p>
            <a:pPr marL="342900" indent="-342900" algn="l">
              <a:buClr>
                <a:srgbClr val="002060"/>
              </a:buClr>
              <a:buFont typeface="Wingdings" panose="05000000000000000000" pitchFamily="2" charset="2"/>
              <a:buChar char="Ø"/>
            </a:pPr>
            <a:r>
              <a:rPr lang="en-IN" sz="2400" dirty="0">
                <a:solidFill>
                  <a:srgbClr val="292929"/>
                </a:solidFill>
                <a:latin typeface="Times New Roman" panose="02020603050405020304" pitchFamily="18" charset="0"/>
                <a:cs typeface="Times New Roman" panose="02020603050405020304" pitchFamily="18" charset="0"/>
              </a:rPr>
              <a:t>Principle / Authentication / Authorization / MFA</a:t>
            </a:r>
          </a:p>
          <a:p>
            <a:pPr marL="342900" indent="-342900" algn="l">
              <a:buClr>
                <a:srgbClr val="002060"/>
              </a:buClr>
              <a:buFont typeface="Wingdings" panose="05000000000000000000" pitchFamily="2" charset="2"/>
              <a:buChar char="Ø"/>
            </a:pPr>
            <a:r>
              <a:rPr lang="en-IN" sz="2400" dirty="0">
                <a:solidFill>
                  <a:srgbClr val="292929"/>
                </a:solidFill>
                <a:latin typeface="Times New Roman" panose="02020603050405020304" pitchFamily="18" charset="0"/>
                <a:cs typeface="Times New Roman" panose="02020603050405020304" pitchFamily="18" charset="0"/>
              </a:rPr>
              <a:t>Add users / Group users / Roles - in IAM  / Policies</a:t>
            </a:r>
          </a:p>
          <a:p>
            <a:pPr marL="342900" indent="-342900" algn="l">
              <a:buClr>
                <a:srgbClr val="002060"/>
              </a:buClr>
              <a:buFont typeface="Wingdings" panose="05000000000000000000" pitchFamily="2" charset="2"/>
              <a:buChar char="Ø"/>
            </a:pPr>
            <a:r>
              <a:rPr lang="en-IN" sz="2400" dirty="0">
                <a:solidFill>
                  <a:srgbClr val="292929"/>
                </a:solidFill>
                <a:latin typeface="Times New Roman" panose="02020603050405020304" pitchFamily="18" charset="0"/>
                <a:cs typeface="Times New Roman" panose="02020603050405020304" pitchFamily="18" charset="0"/>
              </a:rPr>
              <a:t>EC2</a:t>
            </a:r>
          </a:p>
          <a:p>
            <a:pPr algn="l">
              <a:buClr>
                <a:srgbClr val="002060"/>
              </a:buClr>
            </a:pPr>
            <a:endParaRPr lang="en-IN" sz="2000" dirty="0">
              <a:solidFill>
                <a:srgbClr val="292929"/>
              </a:solidFill>
              <a:latin typeface="Times New Roman" panose="02020603050405020304" pitchFamily="18" charset="0"/>
              <a:cs typeface="Times New Roman" panose="02020603050405020304" pitchFamily="18" charset="0"/>
            </a:endParaRPr>
          </a:p>
          <a:p>
            <a:pPr marL="342900" indent="-342900" algn="l">
              <a:buClr>
                <a:srgbClr val="002060"/>
              </a:buClr>
              <a:buFont typeface="Wingdings" panose="05000000000000000000" pitchFamily="2" charset="2"/>
              <a:buChar char="Ø"/>
            </a:pP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l">
              <a:buClr>
                <a:srgbClr val="002060"/>
              </a:buClr>
            </a:pP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775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F3C47-5D15-44EF-A4BE-B2AC5580FE9F}"/>
              </a:ext>
            </a:extLst>
          </p:cNvPr>
          <p:cNvSpPr>
            <a:spLocks noGrp="1"/>
          </p:cNvSpPr>
          <p:nvPr>
            <p:ph type="title"/>
          </p:nvPr>
        </p:nvSpPr>
        <p:spPr>
          <a:xfrm>
            <a:off x="92765" y="92765"/>
            <a:ext cx="11979965" cy="530088"/>
          </a:xfrm>
        </p:spPr>
        <p:txBody>
          <a:bodyPr>
            <a:normAutofit fontScale="90000"/>
          </a:bodyPr>
          <a:lstStyle/>
          <a:p>
            <a:pPr algn="ctr"/>
            <a:r>
              <a:rPr lang="en-IN" sz="3200" cap="none" dirty="0">
                <a:solidFill>
                  <a:srgbClr val="002060"/>
                </a:solidFill>
                <a:latin typeface="Times New Roman" panose="02020603050405020304" pitchFamily="18" charset="0"/>
                <a:cs typeface="Times New Roman" panose="02020603050405020304" pitchFamily="18" charset="0"/>
              </a:rPr>
              <a:t>Instead Of Creating Own Data Centre Why We Use VM Or Cloud</a:t>
            </a:r>
            <a:endParaRPr lang="en-IN" sz="3200" cap="none" dirty="0">
              <a:solidFill>
                <a:srgbClr val="002060"/>
              </a:solidFill>
            </a:endParaRPr>
          </a:p>
        </p:txBody>
      </p:sp>
      <p:sp>
        <p:nvSpPr>
          <p:cNvPr id="3" name="Content Placeholder 2">
            <a:extLst>
              <a:ext uri="{FF2B5EF4-FFF2-40B4-BE49-F238E27FC236}">
                <a16:creationId xmlns:a16="http://schemas.microsoft.com/office/drawing/2014/main" id="{64E7F804-DC75-4BAD-9502-EEF1F4327CB1}"/>
              </a:ext>
            </a:extLst>
          </p:cNvPr>
          <p:cNvSpPr>
            <a:spLocks noGrp="1"/>
          </p:cNvSpPr>
          <p:nvPr>
            <p:ph idx="1"/>
          </p:nvPr>
        </p:nvSpPr>
        <p:spPr>
          <a:xfrm>
            <a:off x="0" y="848139"/>
            <a:ext cx="12191999" cy="6009861"/>
          </a:xfrm>
        </p:spPr>
        <p:txBody>
          <a:bodyPr>
            <a:normAutofit fontScale="62500" lnSpcReduction="20000"/>
          </a:bodyPr>
          <a:lstStyle/>
          <a:p>
            <a:pPr marL="0" indent="0">
              <a:buNone/>
            </a:pPr>
            <a:r>
              <a:rPr lang="en-IN" sz="2900" b="1" dirty="0">
                <a:solidFill>
                  <a:schemeClr val="tx1">
                    <a:lumMod val="95000"/>
                    <a:lumOff val="5000"/>
                  </a:schemeClr>
                </a:solidFill>
                <a:effectLst/>
                <a:latin typeface="Times New Roman" panose="02020603050405020304" pitchFamily="18" charset="0"/>
                <a:cs typeface="Times New Roman" panose="02020603050405020304" pitchFamily="18" charset="0"/>
              </a:rPr>
              <a:t>Data Centre  :-</a:t>
            </a:r>
          </a:p>
          <a:p>
            <a:pPr>
              <a:buClr>
                <a:srgbClr val="002060"/>
              </a:buClr>
              <a:buSzPct val="85000"/>
              <a:buFont typeface="Wingdings" panose="05000000000000000000" pitchFamily="2" charset="2"/>
              <a:buChar char="v"/>
            </a:pPr>
            <a:r>
              <a:rPr lang="en-IN" sz="2900" b="1" dirty="0">
                <a:effectLst/>
                <a:latin typeface="Times New Roman" panose="02020603050405020304" pitchFamily="18" charset="0"/>
                <a:cs typeface="Times New Roman" panose="02020603050405020304" pitchFamily="18" charset="0"/>
              </a:rPr>
              <a:t> </a:t>
            </a:r>
            <a:r>
              <a:rPr lang="en-IN" sz="2900" dirty="0">
                <a:effectLst/>
                <a:latin typeface="Times New Roman" panose="02020603050405020304" pitchFamily="18" charset="0"/>
                <a:cs typeface="Times New Roman" panose="02020603050405020304" pitchFamily="18" charset="0"/>
              </a:rPr>
              <a:t>It</a:t>
            </a:r>
            <a:r>
              <a:rPr lang="en-IN" sz="2900" dirty="0">
                <a:latin typeface="Times New Roman" panose="02020603050405020304" pitchFamily="18" charset="0"/>
                <a:cs typeface="Times New Roman" panose="02020603050405020304" pitchFamily="18" charset="0"/>
              </a:rPr>
              <a:t>s</a:t>
            </a:r>
            <a:r>
              <a:rPr lang="en-IN" sz="2900" dirty="0">
                <a:effectLst/>
                <a:latin typeface="Times New Roman" panose="02020603050405020304" pitchFamily="18" charset="0"/>
                <a:cs typeface="Times New Roman" panose="02020603050405020304" pitchFamily="18" charset="0"/>
              </a:rPr>
              <a:t> a</a:t>
            </a:r>
            <a:r>
              <a:rPr lang="en-IN" sz="2900" b="0" dirty="0">
                <a:effectLst/>
                <a:latin typeface="Times New Roman" panose="02020603050405020304" pitchFamily="18" charset="0"/>
                <a:cs typeface="Times New Roman" panose="02020603050405020304" pitchFamily="18" charset="0"/>
              </a:rPr>
              <a:t> physical resource that helps businesses to store, organize, and operate data efficiently.</a:t>
            </a:r>
          </a:p>
          <a:p>
            <a:pPr>
              <a:buClr>
                <a:srgbClr val="002060"/>
              </a:buClr>
              <a:buSzPct val="85000"/>
              <a:buFont typeface="Wingdings" panose="05000000000000000000" pitchFamily="2" charset="2"/>
              <a:buChar char="v"/>
            </a:pPr>
            <a:r>
              <a:rPr lang="en-IN" sz="2900" b="0" dirty="0">
                <a:effectLst/>
                <a:latin typeface="Times New Roman" panose="02020603050405020304" pitchFamily="18" charset="0"/>
                <a:cs typeface="Times New Roman" panose="02020603050405020304" pitchFamily="18" charset="0"/>
              </a:rPr>
              <a:t>The scalability of Data Centre is huge in investment as compared to the cloud.</a:t>
            </a:r>
          </a:p>
          <a:p>
            <a:pPr>
              <a:buClr>
                <a:srgbClr val="002060"/>
              </a:buClr>
              <a:buSzPct val="85000"/>
              <a:buFont typeface="Wingdings" panose="05000000000000000000" pitchFamily="2" charset="2"/>
              <a:buChar char="v"/>
            </a:pPr>
            <a:r>
              <a:rPr lang="en-IN" sz="2900" b="0" dirty="0">
                <a:effectLst/>
                <a:latin typeface="Times New Roman" panose="02020603050405020304" pitchFamily="18" charset="0"/>
                <a:cs typeface="Times New Roman" panose="02020603050405020304" pitchFamily="18" charset="0"/>
              </a:rPr>
              <a:t>The maintenance cost is high because developers of the organization do maintenance. </a:t>
            </a:r>
          </a:p>
          <a:p>
            <a:pPr>
              <a:buClr>
                <a:srgbClr val="002060"/>
              </a:buClr>
              <a:buSzPct val="85000"/>
              <a:buFont typeface="Wingdings" panose="05000000000000000000" pitchFamily="2" charset="2"/>
              <a:buChar char="v"/>
            </a:pPr>
            <a:r>
              <a:rPr lang="en-IN" sz="2900" b="0" dirty="0">
                <a:effectLst/>
                <a:latin typeface="Times New Roman" panose="02020603050405020304" pitchFamily="18" charset="0"/>
                <a:cs typeface="Times New Roman" panose="02020603050405020304" pitchFamily="18" charset="0"/>
              </a:rPr>
              <a:t>Data Centres require experienced developers to operate and are considered not a viable option.</a:t>
            </a:r>
          </a:p>
          <a:p>
            <a:pPr>
              <a:buClr>
                <a:srgbClr val="002060"/>
              </a:buClr>
              <a:buSzPct val="85000"/>
              <a:buFont typeface="Wingdings" panose="05000000000000000000" pitchFamily="2" charset="2"/>
              <a:buChar char="v"/>
            </a:pPr>
            <a:r>
              <a:rPr lang="en-IN" sz="2900" b="0" dirty="0">
                <a:effectLst/>
                <a:latin typeface="Times New Roman" panose="02020603050405020304" pitchFamily="18" charset="0"/>
                <a:cs typeface="Times New Roman" panose="02020603050405020304" pitchFamily="18" charset="0"/>
              </a:rPr>
              <a:t>Performance is less than compared to investment</a:t>
            </a:r>
          </a:p>
          <a:p>
            <a:pPr marL="0" indent="0">
              <a:buClr>
                <a:srgbClr val="002060"/>
              </a:buClr>
              <a:buSzPct val="85000"/>
              <a:buNone/>
            </a:pPr>
            <a:endParaRPr lang="en-IN" sz="2900" dirty="0">
              <a:latin typeface="Times New Roman" panose="02020603050405020304" pitchFamily="18" charset="0"/>
              <a:cs typeface="Times New Roman" panose="02020603050405020304" pitchFamily="18" charset="0"/>
            </a:endParaRPr>
          </a:p>
          <a:p>
            <a:pPr marL="0" indent="0">
              <a:buClr>
                <a:srgbClr val="002060"/>
              </a:buClr>
              <a:buSzPct val="85000"/>
              <a:buNone/>
            </a:pPr>
            <a:r>
              <a:rPr lang="en-IN" sz="2900" dirty="0">
                <a:latin typeface="Times New Roman" panose="02020603050405020304" pitchFamily="18" charset="0"/>
                <a:cs typeface="Times New Roman" panose="02020603050405020304" pitchFamily="18" charset="0"/>
              </a:rPr>
              <a:t> </a:t>
            </a:r>
            <a:r>
              <a:rPr lang="en-IN" sz="2900" b="1" i="0" dirty="0">
                <a:solidFill>
                  <a:schemeClr val="tx1">
                    <a:lumMod val="95000"/>
                    <a:lumOff val="5000"/>
                  </a:schemeClr>
                </a:solidFill>
                <a:effectLst/>
                <a:latin typeface="Times New Roman" panose="02020603050405020304" pitchFamily="18" charset="0"/>
                <a:cs typeface="Times New Roman" panose="02020603050405020304" pitchFamily="18" charset="0"/>
              </a:rPr>
              <a:t>Virtual Machine :-</a:t>
            </a:r>
          </a:p>
          <a:p>
            <a:pPr>
              <a:buClr>
                <a:srgbClr val="002060"/>
              </a:buClr>
              <a:buSzPct val="85000"/>
              <a:buFont typeface="Wingdings" panose="05000000000000000000" pitchFamily="2" charset="2"/>
              <a:buChar char="v"/>
            </a:pPr>
            <a:r>
              <a:rPr lang="en-IN" sz="2900" i="0" dirty="0">
                <a:solidFill>
                  <a:schemeClr val="tx1">
                    <a:lumMod val="95000"/>
                    <a:lumOff val="5000"/>
                  </a:schemeClr>
                </a:solidFill>
                <a:effectLst/>
                <a:latin typeface="Times New Roman" panose="02020603050405020304" pitchFamily="18" charset="0"/>
                <a:cs typeface="Times New Roman" panose="02020603050405020304" pitchFamily="18" charset="0"/>
              </a:rPr>
              <a:t> we can create more number of  VM /  we can create more number of  OS</a:t>
            </a:r>
          </a:p>
          <a:p>
            <a:pPr>
              <a:buClr>
                <a:srgbClr val="002060"/>
              </a:buClr>
              <a:buFont typeface="Wingdings" panose="05000000000000000000" pitchFamily="2" charset="2"/>
              <a:buChar char="v"/>
            </a:pPr>
            <a:r>
              <a:rPr lang="en-IN" sz="29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2900" i="0" dirty="0">
                <a:solidFill>
                  <a:schemeClr val="tx1">
                    <a:lumMod val="95000"/>
                    <a:lumOff val="5000"/>
                  </a:schemeClr>
                </a:solidFill>
                <a:effectLst/>
                <a:latin typeface="Times New Roman" panose="02020603050405020304" pitchFamily="18" charset="0"/>
                <a:cs typeface="Times New Roman" panose="02020603050405020304" pitchFamily="18" charset="0"/>
              </a:rPr>
              <a:t> can use same port number /  can use same OS  /  it take less time  to create VM than physical </a:t>
            </a:r>
            <a:r>
              <a:rPr lang="en-IN" sz="2900" b="1"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IN" sz="2900"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p>
          <a:p>
            <a:pPr marL="0" indent="0">
              <a:buClr>
                <a:srgbClr val="002060"/>
              </a:buClr>
              <a:buNone/>
            </a:pPr>
            <a:endParaRPr lang="en-IN" sz="2900" b="0" dirty="0">
              <a:effectLst/>
              <a:latin typeface="Times New Roman" panose="02020603050405020304" pitchFamily="18" charset="0"/>
              <a:cs typeface="Times New Roman" panose="02020603050405020304" pitchFamily="18" charset="0"/>
            </a:endParaRPr>
          </a:p>
          <a:p>
            <a:pPr marL="0" indent="0">
              <a:buNone/>
            </a:pPr>
            <a:r>
              <a:rPr lang="en-IN" sz="2900" b="1" dirty="0">
                <a:solidFill>
                  <a:schemeClr val="tx1">
                    <a:lumMod val="95000"/>
                    <a:lumOff val="5000"/>
                  </a:schemeClr>
                </a:solidFill>
                <a:effectLst/>
                <a:latin typeface="Times New Roman" panose="02020603050405020304" pitchFamily="18" charset="0"/>
                <a:cs typeface="Times New Roman" panose="02020603050405020304" pitchFamily="18" charset="0"/>
              </a:rPr>
              <a:t>Cloud :-</a:t>
            </a:r>
          </a:p>
          <a:p>
            <a:pPr>
              <a:buClr>
                <a:srgbClr val="002060"/>
              </a:buClr>
              <a:buSzPct val="85000"/>
              <a:buFont typeface="Wingdings" panose="05000000000000000000" pitchFamily="2" charset="2"/>
              <a:buChar char="v"/>
            </a:pPr>
            <a:r>
              <a:rPr lang="en-IN" sz="2900" b="0" dirty="0">
                <a:effectLst/>
                <a:latin typeface="Times New Roman" panose="02020603050405020304" pitchFamily="18" charset="0"/>
                <a:cs typeface="Times New Roman" panose="02020603050405020304" pitchFamily="18" charset="0"/>
              </a:rPr>
              <a:t>C</a:t>
            </a:r>
            <a:r>
              <a:rPr lang="en-IN" sz="2900" b="0" dirty="0">
                <a:solidFill>
                  <a:schemeClr val="tx1">
                    <a:lumMod val="95000"/>
                    <a:lumOff val="5000"/>
                  </a:schemeClr>
                </a:solidFill>
                <a:effectLst/>
                <a:latin typeface="Times New Roman" panose="02020603050405020304" pitchFamily="18" charset="0"/>
                <a:cs typeface="Times New Roman" panose="02020603050405020304" pitchFamily="18" charset="0"/>
              </a:rPr>
              <a:t>loud is a virtual resource that helps businesses to store, organize, and operate data efficiently.</a:t>
            </a:r>
          </a:p>
          <a:p>
            <a:pPr>
              <a:buClr>
                <a:srgbClr val="002060"/>
              </a:buClr>
              <a:buSzPct val="85000"/>
              <a:buFont typeface="Wingdings" panose="05000000000000000000" pitchFamily="2" charset="2"/>
              <a:buChar char="v"/>
            </a:pPr>
            <a:r>
              <a:rPr lang="en-IN" sz="2900" b="0" dirty="0">
                <a:solidFill>
                  <a:schemeClr val="tx1">
                    <a:lumMod val="95000"/>
                    <a:lumOff val="5000"/>
                  </a:schemeClr>
                </a:solidFill>
                <a:effectLst/>
                <a:latin typeface="Times New Roman" panose="02020603050405020304" pitchFamily="18" charset="0"/>
                <a:cs typeface="Times New Roman" panose="02020603050405020304" pitchFamily="18" charset="0"/>
              </a:rPr>
              <a:t>The scalability of the cloud required less amount of investment. </a:t>
            </a:r>
          </a:p>
          <a:p>
            <a:pPr>
              <a:buClr>
                <a:srgbClr val="002060"/>
              </a:buClr>
              <a:buSzPct val="85000"/>
              <a:buFont typeface="Wingdings" panose="05000000000000000000" pitchFamily="2" charset="2"/>
              <a:buChar char="v"/>
            </a:pPr>
            <a:r>
              <a:rPr lang="en-IN" sz="2900" b="0" dirty="0">
                <a:solidFill>
                  <a:schemeClr val="tx1">
                    <a:lumMod val="95000"/>
                    <a:lumOff val="5000"/>
                  </a:schemeClr>
                </a:solidFill>
                <a:effectLst/>
                <a:latin typeface="Times New Roman" panose="02020603050405020304" pitchFamily="18" charset="0"/>
                <a:cs typeface="Times New Roman" panose="02020603050405020304" pitchFamily="18" charset="0"/>
              </a:rPr>
              <a:t>The maintenance cost is less than service providers maintain it.</a:t>
            </a:r>
          </a:p>
          <a:p>
            <a:pPr>
              <a:buClr>
                <a:srgbClr val="002060"/>
              </a:buClr>
              <a:buSzPct val="85000"/>
              <a:buFont typeface="Wingdings" panose="05000000000000000000" pitchFamily="2" charset="2"/>
              <a:buChar char="v"/>
            </a:pPr>
            <a:r>
              <a:rPr lang="en-IN" sz="2900" b="0" dirty="0">
                <a:solidFill>
                  <a:schemeClr val="tx1">
                    <a:lumMod val="95000"/>
                    <a:lumOff val="5000"/>
                  </a:schemeClr>
                </a:solidFill>
                <a:effectLst/>
                <a:latin typeface="Times New Roman" panose="02020603050405020304" pitchFamily="18" charset="0"/>
                <a:cs typeface="Times New Roman" panose="02020603050405020304" pitchFamily="18" charset="0"/>
              </a:rPr>
              <a:t>Cloud is easy to operate and is considered a viable option.</a:t>
            </a:r>
          </a:p>
          <a:p>
            <a:pPr>
              <a:buClr>
                <a:srgbClr val="002060"/>
              </a:buClr>
              <a:buSzPct val="85000"/>
              <a:buFont typeface="Wingdings" panose="05000000000000000000" pitchFamily="2" charset="2"/>
              <a:buChar char="v"/>
            </a:pPr>
            <a:r>
              <a:rPr lang="en-IN" sz="2900" b="0" dirty="0">
                <a:solidFill>
                  <a:schemeClr val="tx1">
                    <a:lumMod val="95000"/>
                    <a:lumOff val="5000"/>
                  </a:schemeClr>
                </a:solidFill>
                <a:effectLst/>
                <a:latin typeface="Times New Roman" panose="02020603050405020304" pitchFamily="18" charset="0"/>
                <a:cs typeface="Times New Roman" panose="02020603050405020304" pitchFamily="18" charset="0"/>
              </a:rPr>
              <a:t>Performance is huge as compared with investment.</a:t>
            </a:r>
          </a:p>
          <a:p>
            <a:pPr>
              <a:buFont typeface="Courier New" panose="02070309020205020404" pitchFamily="49" charset="0"/>
              <a:buChar char="o"/>
            </a:pPr>
            <a:endParaRPr lang="en-IN" sz="2000" b="1"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0" indent="0">
              <a:buNone/>
            </a:pPr>
            <a:endParaRPr lang="en-IN" sz="2000" b="0" dirty="0">
              <a:effectLst/>
            </a:endParaRPr>
          </a:p>
          <a:p>
            <a:pPr>
              <a:buFont typeface="Wingdings" panose="05000000000000000000" pitchFamily="2" charset="2"/>
              <a:buChar char="v"/>
            </a:pPr>
            <a:endParaRPr lang="en-IN" sz="2000" b="0" dirty="0">
              <a:effectLst/>
            </a:endParaRPr>
          </a:p>
          <a:p>
            <a:pPr>
              <a:buFont typeface="Wingdings" panose="05000000000000000000" pitchFamily="2" charset="2"/>
              <a:buChar char="v"/>
            </a:pPr>
            <a:endParaRPr lang="en-IN" sz="2000" b="0" dirty="0">
              <a:effectLst/>
            </a:endParaRPr>
          </a:p>
          <a:p>
            <a:endParaRPr lang="en-IN" dirty="0"/>
          </a:p>
        </p:txBody>
      </p:sp>
    </p:spTree>
    <p:extLst>
      <p:ext uri="{BB962C8B-B14F-4D97-AF65-F5344CB8AC3E}">
        <p14:creationId xmlns:p14="http://schemas.microsoft.com/office/powerpoint/2010/main" val="186427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68F36-72A4-410D-B479-82DA56D47B96}"/>
              </a:ext>
            </a:extLst>
          </p:cNvPr>
          <p:cNvSpPr>
            <a:spLocks noGrp="1"/>
          </p:cNvSpPr>
          <p:nvPr>
            <p:ph type="title"/>
          </p:nvPr>
        </p:nvSpPr>
        <p:spPr>
          <a:xfrm>
            <a:off x="-1" y="119270"/>
            <a:ext cx="11993217" cy="689112"/>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CLOUD</a:t>
            </a:r>
            <a:endParaRPr lang="en-IN" sz="4000" dirty="0"/>
          </a:p>
        </p:txBody>
      </p:sp>
      <p:sp>
        <p:nvSpPr>
          <p:cNvPr id="4" name="Content Placeholder 3">
            <a:extLst>
              <a:ext uri="{FF2B5EF4-FFF2-40B4-BE49-F238E27FC236}">
                <a16:creationId xmlns:a16="http://schemas.microsoft.com/office/drawing/2014/main" id="{690323D3-0E9C-472F-81E7-79FFDFA7B39C}"/>
              </a:ext>
            </a:extLst>
          </p:cNvPr>
          <p:cNvSpPr>
            <a:spLocks noGrp="1"/>
          </p:cNvSpPr>
          <p:nvPr>
            <p:ph sz="half" idx="2"/>
          </p:nvPr>
        </p:nvSpPr>
        <p:spPr>
          <a:xfrm>
            <a:off x="198782" y="2756452"/>
            <a:ext cx="11794433" cy="3445566"/>
          </a:xfrm>
        </p:spPr>
        <p:txBody>
          <a:bodyPr>
            <a:normAutofit/>
          </a:bodyPr>
          <a:lstStyle/>
          <a:p>
            <a:pPr algn="just">
              <a:buClr>
                <a:schemeClr val="tx2">
                  <a:lumMod val="50000"/>
                </a:schemeClr>
              </a:buClr>
            </a:pPr>
            <a:r>
              <a:rPr lang="en-IN" sz="2000" b="0" i="0" dirty="0">
                <a:solidFill>
                  <a:srgbClr val="610B38"/>
                </a:solidFill>
                <a:effectLst/>
                <a:latin typeface="Times New Roman" panose="02020603050405020304" pitchFamily="18" charset="0"/>
                <a:cs typeface="Times New Roman" panose="02020603050405020304" pitchFamily="18" charset="0"/>
              </a:rPr>
              <a:t>Cloud Service Models                                                                    Cloud Deployment Models                   </a:t>
            </a:r>
          </a:p>
          <a:p>
            <a:pPr algn="just">
              <a:buClr>
                <a:schemeClr val="tx2">
                  <a:lumMod val="50000"/>
                </a:schemeClr>
              </a:buClr>
            </a:pPr>
            <a:endParaRPr lang="en-IN" sz="2000" b="0" i="0" dirty="0">
              <a:solidFill>
                <a:srgbClr val="610B38"/>
              </a:solidFill>
              <a:effectLst/>
              <a:latin typeface="Times New Roman" panose="02020603050405020304" pitchFamily="18" charset="0"/>
              <a:cs typeface="Times New Roman" panose="02020603050405020304" pitchFamily="18" charset="0"/>
            </a:endParaRPr>
          </a:p>
          <a:p>
            <a:pPr algn="just">
              <a:buClr>
                <a:schemeClr val="tx2">
                  <a:lumMod val="50000"/>
                </a:schemeClr>
              </a:buClr>
            </a:pPr>
            <a:r>
              <a:rPr lang="en-IN" sz="2000" b="0" i="0" dirty="0">
                <a:solidFill>
                  <a:srgbClr val="333333"/>
                </a:solidFill>
                <a:effectLst/>
                <a:latin typeface="Times New Roman" panose="02020603050405020304" pitchFamily="18" charset="0"/>
                <a:cs typeface="Times New Roman" panose="02020603050405020304" pitchFamily="18" charset="0"/>
              </a:rPr>
              <a:t> 3 types of cloud service models -                                           </a:t>
            </a:r>
            <a:r>
              <a:rPr lang="en-IN" sz="2000" dirty="0">
                <a:solidFill>
                  <a:srgbClr val="333333"/>
                </a:solidFill>
                <a:latin typeface="Times New Roman" panose="02020603050405020304" pitchFamily="18" charset="0"/>
                <a:cs typeface="Times New Roman" panose="02020603050405020304" pitchFamily="18" charset="0"/>
              </a:rPr>
              <a:t>4 </a:t>
            </a:r>
            <a:r>
              <a:rPr lang="en-IN" sz="2000" b="0" i="0" dirty="0">
                <a:solidFill>
                  <a:srgbClr val="333333"/>
                </a:solidFill>
                <a:effectLst/>
                <a:latin typeface="Times New Roman" panose="02020603050405020304" pitchFamily="18" charset="0"/>
                <a:cs typeface="Times New Roman" panose="02020603050405020304" pitchFamily="18" charset="0"/>
              </a:rPr>
              <a:t>types of cloud deployment models -</a:t>
            </a:r>
          </a:p>
          <a:p>
            <a:pPr algn="just">
              <a:buFont typeface="+mj-lt"/>
              <a:buAutoNum type="arabicPeriod"/>
            </a:pPr>
            <a:endParaRPr lang="en-IN" b="0" i="0" dirty="0">
              <a:solidFill>
                <a:srgbClr val="333333"/>
              </a:solidFill>
              <a:effectLst/>
              <a:latin typeface="Times New Roman" panose="02020603050405020304" pitchFamily="18" charset="0"/>
              <a:cs typeface="Times New Roman" panose="02020603050405020304" pitchFamily="18" charset="0"/>
            </a:endParaRPr>
          </a:p>
          <a:p>
            <a:pPr algn="just">
              <a:buClr>
                <a:schemeClr val="tx1">
                  <a:lumMod val="95000"/>
                  <a:lumOff val="5000"/>
                </a:schemeClr>
              </a:buClr>
              <a:buFont typeface="+mj-lt"/>
              <a:buAutoNum type="arabicPeriod"/>
            </a:pPr>
            <a:r>
              <a:rPr lang="en-IN" b="0" i="0" u="none" strike="noStrike" dirty="0">
                <a:solidFill>
                  <a:schemeClr val="accent6">
                    <a:lumMod val="75000"/>
                  </a:schemeClr>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Infrastructure as a Service (IaaS)</a:t>
            </a:r>
            <a:r>
              <a:rPr lang="en-IN" b="0" i="0" u="none" strike="noStrike" dirty="0">
                <a:solidFill>
                  <a:schemeClr val="accent6">
                    <a:lumMod val="75000"/>
                  </a:schemeClr>
                </a:solidFill>
                <a:effectLst/>
                <a:latin typeface="Times New Roman" panose="02020603050405020304" pitchFamily="18" charset="0"/>
                <a:cs typeface="Times New Roman" panose="02020603050405020304" pitchFamily="18" charset="0"/>
              </a:rPr>
              <a:t>                                                                      1.  Private cloud         </a:t>
            </a:r>
            <a:endParaRPr lang="en-IN" b="0" i="0" dirty="0">
              <a:solidFill>
                <a:schemeClr val="accent6">
                  <a:lumMod val="75000"/>
                </a:schemeClr>
              </a:solidFill>
              <a:effectLst/>
              <a:latin typeface="Times New Roman" panose="02020603050405020304" pitchFamily="18" charset="0"/>
              <a:cs typeface="Times New Roman" panose="02020603050405020304" pitchFamily="18" charset="0"/>
            </a:endParaRPr>
          </a:p>
          <a:p>
            <a:pPr algn="just">
              <a:buClr>
                <a:schemeClr val="tx1">
                  <a:lumMod val="95000"/>
                  <a:lumOff val="5000"/>
                </a:schemeClr>
              </a:buClr>
              <a:buFont typeface="+mj-lt"/>
              <a:buAutoNum type="arabicPeriod"/>
            </a:pPr>
            <a:r>
              <a:rPr lang="en-IN" b="0" i="0" u="none" strike="noStrike" dirty="0">
                <a:solidFill>
                  <a:schemeClr val="accent6">
                    <a:lumMod val="75000"/>
                  </a:schemeClr>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Platform as a Service (PaaS)</a:t>
            </a:r>
            <a:r>
              <a:rPr lang="en-IN" b="0" i="0" u="none" strike="noStrike" dirty="0">
                <a:solidFill>
                  <a:schemeClr val="accent6">
                    <a:lumMod val="75000"/>
                  </a:schemeClr>
                </a:solidFill>
                <a:effectLst/>
                <a:latin typeface="Times New Roman" panose="02020603050405020304" pitchFamily="18" charset="0"/>
                <a:cs typeface="Times New Roman" panose="02020603050405020304" pitchFamily="18" charset="0"/>
              </a:rPr>
              <a:t>                                                                             2.  Public cloud</a:t>
            </a:r>
            <a:endParaRPr lang="en-IN" b="0" i="0" dirty="0">
              <a:solidFill>
                <a:schemeClr val="accent6">
                  <a:lumMod val="75000"/>
                </a:schemeClr>
              </a:solidFill>
              <a:effectLst/>
              <a:latin typeface="Times New Roman" panose="02020603050405020304" pitchFamily="18" charset="0"/>
              <a:cs typeface="Times New Roman" panose="02020603050405020304" pitchFamily="18" charset="0"/>
            </a:endParaRPr>
          </a:p>
          <a:p>
            <a:pPr algn="just">
              <a:buClr>
                <a:schemeClr val="tx1">
                  <a:lumMod val="95000"/>
                  <a:lumOff val="5000"/>
                </a:schemeClr>
              </a:buClr>
              <a:buFont typeface="+mj-lt"/>
              <a:buAutoNum type="arabicPeriod"/>
            </a:pPr>
            <a:r>
              <a:rPr lang="en-IN" b="0" i="0" u="none" strike="noStrike" dirty="0">
                <a:solidFill>
                  <a:schemeClr val="accent6">
                    <a:lumMod val="75000"/>
                  </a:schemeClr>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Software as a Service (SaaS)</a:t>
            </a:r>
            <a:r>
              <a:rPr lang="en-IN" b="0" i="0" u="none" strike="noStrike" dirty="0">
                <a:solidFill>
                  <a:schemeClr val="accent6">
                    <a:lumMod val="75000"/>
                  </a:schemeClr>
                </a:solidFill>
                <a:effectLst/>
                <a:latin typeface="Times New Roman" panose="02020603050405020304" pitchFamily="18" charset="0"/>
                <a:cs typeface="Times New Roman" panose="02020603050405020304" pitchFamily="18" charset="0"/>
              </a:rPr>
              <a:t>                                                                            3.  Hybrid cloud </a:t>
            </a:r>
            <a:r>
              <a:rPr lang="en-IN" dirty="0">
                <a:solidFill>
                  <a:schemeClr val="accent6">
                    <a:lumMod val="75000"/>
                  </a:schemeClr>
                </a:solidFill>
                <a:latin typeface="Times New Roman" panose="02020603050405020304" pitchFamily="18" charset="0"/>
                <a:cs typeface="Times New Roman" panose="02020603050405020304" pitchFamily="18" charset="0"/>
              </a:rPr>
              <a:t>                                                                                                                                   </a:t>
            </a:r>
          </a:p>
          <a:p>
            <a:pPr marL="0" indent="0" algn="just">
              <a:buNone/>
            </a:pPr>
            <a:r>
              <a:rPr lang="en-IN" dirty="0">
                <a:solidFill>
                  <a:schemeClr val="accent6">
                    <a:lumMod val="75000"/>
                  </a:schemeClr>
                </a:solidFill>
                <a:latin typeface="Times New Roman" panose="02020603050405020304" pitchFamily="18" charset="0"/>
                <a:cs typeface="Times New Roman" panose="02020603050405020304" pitchFamily="18" charset="0"/>
              </a:rPr>
              <a:t>                                                                                                                                4.  community could</a:t>
            </a:r>
            <a:endParaRPr lang="en-IN" dirty="0">
              <a:solidFill>
                <a:schemeClr val="accent6">
                  <a:lumMod val="75000"/>
                </a:schemeClr>
              </a:solidFill>
            </a:endParaRPr>
          </a:p>
        </p:txBody>
      </p:sp>
      <p:sp>
        <p:nvSpPr>
          <p:cNvPr id="5" name="Text Placeholder 4">
            <a:extLst>
              <a:ext uri="{FF2B5EF4-FFF2-40B4-BE49-F238E27FC236}">
                <a16:creationId xmlns:a16="http://schemas.microsoft.com/office/drawing/2014/main" id="{BD98EC8C-D2DF-4B30-9AE0-16E82D69E622}"/>
              </a:ext>
            </a:extLst>
          </p:cNvPr>
          <p:cNvSpPr>
            <a:spLocks noGrp="1"/>
          </p:cNvSpPr>
          <p:nvPr>
            <p:ph type="body" sz="quarter" idx="3"/>
          </p:nvPr>
        </p:nvSpPr>
        <p:spPr>
          <a:xfrm>
            <a:off x="198782" y="808382"/>
            <a:ext cx="11794433" cy="1669775"/>
          </a:xfrm>
        </p:spPr>
        <p:txBody>
          <a:bodyPr/>
          <a:lstStyle/>
          <a:p>
            <a:pPr>
              <a:tabLst>
                <a:tab pos="2865755" algn="ctr"/>
                <a:tab pos="5731510" algn="r"/>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"The cloud" refers to servers that are accessed over the Internet, and the software and databases that run on those servers. Cloud servers are located in data centres all over the world. By using cloud computing, users and companies do not have to manage physical servers themselves or run software. applications on their own machines.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03028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61568-8941-46B5-ADC2-A20606D44463}"/>
              </a:ext>
            </a:extLst>
          </p:cNvPr>
          <p:cNvSpPr>
            <a:spLocks noGrp="1"/>
          </p:cNvSpPr>
          <p:nvPr>
            <p:ph type="title"/>
          </p:nvPr>
        </p:nvSpPr>
        <p:spPr>
          <a:xfrm>
            <a:off x="92765" y="139148"/>
            <a:ext cx="11979965" cy="669235"/>
          </a:xfrm>
        </p:spPr>
        <p:txBody>
          <a:bodyPr/>
          <a:lstStyle/>
          <a:p>
            <a:pPr algn="ctr"/>
            <a:r>
              <a:rPr lang="en-IN" sz="3600" b="1" dirty="0">
                <a:solidFill>
                  <a:schemeClr val="tx1">
                    <a:lumMod val="95000"/>
                    <a:lumOff val="5000"/>
                  </a:schemeClr>
                </a:solidFill>
                <a:latin typeface="Times New Roman" panose="02020603050405020304" pitchFamily="18" charset="0"/>
                <a:cs typeface="Times New Roman" panose="02020603050405020304" pitchFamily="18" charset="0"/>
              </a:rPr>
              <a:t>SCALING</a:t>
            </a:r>
            <a:endParaRPr lang="en-IN" b="1"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1FF02615-87C6-4A6C-A16A-3D4DE21510AE}"/>
              </a:ext>
            </a:extLst>
          </p:cNvPr>
          <p:cNvSpPr>
            <a:spLocks noGrp="1"/>
          </p:cNvSpPr>
          <p:nvPr>
            <p:ph idx="1"/>
          </p:nvPr>
        </p:nvSpPr>
        <p:spPr>
          <a:xfrm>
            <a:off x="92765" y="967409"/>
            <a:ext cx="11979965" cy="5751443"/>
          </a:xfrm>
        </p:spPr>
        <p:txBody>
          <a:bodyPr>
            <a:normAutofit/>
          </a:bodyPr>
          <a:lstStyle/>
          <a:p>
            <a:pPr marL="0" indent="0">
              <a:buNone/>
              <a:tabLst>
                <a:tab pos="2865755" algn="ctr"/>
                <a:tab pos="5731510" algn="r"/>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 cloud computing, scaling is the process of adding or removing compute, storage, and network services to meet the demands a workload makes for resources in order to maintain availability and performance as utilization increases.  </a:t>
            </a:r>
          </a:p>
          <a:p>
            <a:pPr marL="0" indent="0">
              <a:buNone/>
              <a:tabLst>
                <a:tab pos="2865755" algn="ctr"/>
                <a:tab pos="5731510" algn="r"/>
              </a:tabLst>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cloud has dramatically simplified these scaling problems by making it easier to scale up or down and out or in.</a:t>
            </a:r>
          </a:p>
          <a:p>
            <a:pPr marL="0" indent="0">
              <a:buNone/>
              <a:tabLst>
                <a:tab pos="2865755" algn="ctr"/>
                <a:tab pos="5731510" algn="r"/>
              </a:tabLst>
            </a:pP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buClr>
                <a:schemeClr val="tx2">
                  <a:lumMod val="75000"/>
                </a:schemeClr>
              </a:buClr>
              <a:buFont typeface="Wingdings" panose="05000000000000000000" pitchFamily="2" charset="2"/>
              <a:buChar char="Ø"/>
              <a:tabLst>
                <a:tab pos="2865755" algn="ctr"/>
                <a:tab pos="5731510" algn="r"/>
              </a:tabLst>
            </a:pPr>
            <a:r>
              <a:rPr lang="en-IN" sz="2000" dirty="0">
                <a:latin typeface="Times New Roman" panose="02020603050405020304" pitchFamily="18" charset="0"/>
                <a:cs typeface="Times New Roman" panose="02020603050405020304" pitchFamily="18" charset="0"/>
              </a:rPr>
              <a:t>Horizontal Scaling :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Instead of resizing an application to a bigger server, scaling out splits the workload across multiple </a:t>
            </a:r>
          </a:p>
          <a:p>
            <a:pPr marL="0" indent="0">
              <a:buClr>
                <a:schemeClr val="tx2">
                  <a:lumMod val="75000"/>
                </a:schemeClr>
              </a:buClr>
              <a:buNone/>
              <a:tabLst>
                <a:tab pos="2865755" algn="ctr"/>
                <a:tab pos="5731510" algn="r"/>
              </a:tabLst>
            </a:pP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servers that work in parallel.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buClr>
                <a:schemeClr val="tx2">
                  <a:lumMod val="75000"/>
                </a:schemeClr>
              </a:buClr>
              <a:buFont typeface="Wingdings" panose="05000000000000000000" pitchFamily="2" charset="2"/>
              <a:buChar char="Ø"/>
              <a:tabLst>
                <a:tab pos="2865755" algn="ctr"/>
                <a:tab pos="5731510" algn="r"/>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buClr>
                <a:schemeClr val="tx2">
                  <a:lumMod val="75000"/>
                </a:schemeClr>
              </a:buClr>
              <a:buFont typeface="Wingdings" panose="05000000000000000000" pitchFamily="2" charset="2"/>
              <a:buChar char="Ø"/>
              <a:tabLst>
                <a:tab pos="2865755" algn="ctr"/>
                <a:tab pos="5731510" algn="r"/>
              </a:tabLst>
            </a:pPr>
            <a:r>
              <a:rPr lang="en-IN" sz="2000" dirty="0">
                <a:latin typeface="Times New Roman" panose="02020603050405020304" pitchFamily="18" charset="0"/>
                <a:cs typeface="Times New Roman" panose="02020603050405020304" pitchFamily="18" charset="0"/>
              </a:rPr>
              <a:t>Vertical Scaling :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Scaling up is the process of resizing a server (or replacing it with another server) to give it supplemental </a:t>
            </a:r>
          </a:p>
          <a:p>
            <a:pPr marL="0" indent="0">
              <a:buClr>
                <a:schemeClr val="tx2">
                  <a:lumMod val="75000"/>
                </a:schemeClr>
              </a:buClr>
              <a:buNone/>
              <a:tabLst>
                <a:tab pos="2865755" algn="ctr"/>
                <a:tab pos="5731510" algn="r"/>
              </a:tabLst>
            </a:pP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or fewer CPUs, memory, or network capacity.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056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E1378-A2F2-47C7-A6A6-CD3D09D897E5}"/>
              </a:ext>
            </a:extLst>
          </p:cNvPr>
          <p:cNvSpPr>
            <a:spLocks noGrp="1"/>
          </p:cNvSpPr>
          <p:nvPr>
            <p:ph type="title"/>
          </p:nvPr>
        </p:nvSpPr>
        <p:spPr>
          <a:xfrm>
            <a:off x="145774" y="139148"/>
            <a:ext cx="11900452" cy="715617"/>
          </a:xfrm>
        </p:spPr>
        <p:txBody>
          <a:bodyPr>
            <a:normAutofit/>
          </a:bodyPr>
          <a:lstStyle/>
          <a:p>
            <a:pPr algn="ctr"/>
            <a:r>
              <a:rPr lang="en-IN" sz="3600" b="1" dirty="0">
                <a:solidFill>
                  <a:schemeClr val="tx1">
                    <a:lumMod val="95000"/>
                    <a:lumOff val="5000"/>
                  </a:schemeClr>
                </a:solidFill>
                <a:latin typeface="Times New Roman" panose="02020603050405020304" pitchFamily="18" charset="0"/>
                <a:cs typeface="Times New Roman" panose="02020603050405020304" pitchFamily="18" charset="0"/>
              </a:rPr>
              <a:t>Cloud </a:t>
            </a:r>
            <a:r>
              <a:rPr lang="en-IN" b="1" dirty="0">
                <a:solidFill>
                  <a:schemeClr val="tx1">
                    <a:lumMod val="95000"/>
                    <a:lumOff val="5000"/>
                  </a:schemeClr>
                </a:solidFill>
                <a:latin typeface="Times New Roman" panose="02020603050405020304" pitchFamily="18" charset="0"/>
                <a:cs typeface="Times New Roman" panose="02020603050405020304" pitchFamily="18" charset="0"/>
              </a:rPr>
              <a:t>Terminology</a:t>
            </a:r>
            <a:endParaRPr lang="en-IN" dirty="0"/>
          </a:p>
        </p:txBody>
      </p:sp>
      <p:pic>
        <p:nvPicPr>
          <p:cNvPr id="7" name="Content Placeholder 6">
            <a:extLst>
              <a:ext uri="{FF2B5EF4-FFF2-40B4-BE49-F238E27FC236}">
                <a16:creationId xmlns:a16="http://schemas.microsoft.com/office/drawing/2014/main" id="{38DFEE9C-8395-4A1A-A737-79C28CFAD7CE}"/>
              </a:ext>
            </a:extLst>
          </p:cNvPr>
          <p:cNvPicPr>
            <a:picLocks noGrp="1" noChangeAspect="1"/>
          </p:cNvPicPr>
          <p:nvPr>
            <p:ph idx="1"/>
          </p:nvPr>
        </p:nvPicPr>
        <p:blipFill>
          <a:blip r:embed="rId2"/>
          <a:stretch>
            <a:fillRect/>
          </a:stretch>
        </p:blipFill>
        <p:spPr>
          <a:xfrm>
            <a:off x="238539" y="1086678"/>
            <a:ext cx="11688418" cy="5632174"/>
          </a:xfrm>
          <a:prstGeom prst="rect">
            <a:avLst/>
          </a:prstGeom>
        </p:spPr>
      </p:pic>
    </p:spTree>
    <p:extLst>
      <p:ext uri="{BB962C8B-B14F-4D97-AF65-F5344CB8AC3E}">
        <p14:creationId xmlns:p14="http://schemas.microsoft.com/office/powerpoint/2010/main" val="1581416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60550-6203-460B-8D37-FB46D16CDBDF}"/>
              </a:ext>
            </a:extLst>
          </p:cNvPr>
          <p:cNvSpPr>
            <a:spLocks noGrp="1"/>
          </p:cNvSpPr>
          <p:nvPr>
            <p:ph type="title"/>
          </p:nvPr>
        </p:nvSpPr>
        <p:spPr>
          <a:xfrm>
            <a:off x="145775" y="145774"/>
            <a:ext cx="11847442" cy="861391"/>
          </a:xfrm>
        </p:spPr>
        <p:txBody>
          <a:bodyPr>
            <a:normAutofit/>
          </a:bodyPr>
          <a:lstStyle/>
          <a:p>
            <a:pPr algn="ctr"/>
            <a:r>
              <a:rPr lang="en-IN" sz="4000" b="1" dirty="0">
                <a:solidFill>
                  <a:schemeClr val="tx1">
                    <a:lumMod val="95000"/>
                    <a:lumOff val="5000"/>
                  </a:schemeClr>
                </a:solidFill>
                <a:latin typeface="Times New Roman" panose="02020603050405020304" pitchFamily="18" charset="0"/>
                <a:cs typeface="Times New Roman" panose="02020603050405020304" pitchFamily="18" charset="0"/>
              </a:rPr>
              <a:t>Cloud Characteristics</a:t>
            </a:r>
          </a:p>
        </p:txBody>
      </p:sp>
      <p:pic>
        <p:nvPicPr>
          <p:cNvPr id="4" name="Content Placeholder 3">
            <a:extLst>
              <a:ext uri="{FF2B5EF4-FFF2-40B4-BE49-F238E27FC236}">
                <a16:creationId xmlns:a16="http://schemas.microsoft.com/office/drawing/2014/main" id="{A3BAD058-71CD-486B-A44E-B64B21BF15C6}"/>
              </a:ext>
            </a:extLst>
          </p:cNvPr>
          <p:cNvPicPr>
            <a:picLocks noGrp="1" noChangeAspect="1"/>
          </p:cNvPicPr>
          <p:nvPr>
            <p:ph idx="1"/>
          </p:nvPr>
        </p:nvPicPr>
        <p:blipFill>
          <a:blip r:embed="rId2"/>
          <a:stretch>
            <a:fillRect/>
          </a:stretch>
        </p:blipFill>
        <p:spPr>
          <a:xfrm>
            <a:off x="304800" y="1007164"/>
            <a:ext cx="11555896" cy="5705061"/>
          </a:xfrm>
          <a:prstGeom prst="rect">
            <a:avLst/>
          </a:prstGeom>
        </p:spPr>
      </p:pic>
    </p:spTree>
    <p:extLst>
      <p:ext uri="{BB962C8B-B14F-4D97-AF65-F5344CB8AC3E}">
        <p14:creationId xmlns:p14="http://schemas.microsoft.com/office/powerpoint/2010/main" val="3558624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BF665-949D-4C19-8028-53BBB6C1024D}"/>
              </a:ext>
            </a:extLst>
          </p:cNvPr>
          <p:cNvSpPr>
            <a:spLocks noGrp="1"/>
          </p:cNvSpPr>
          <p:nvPr>
            <p:ph type="title"/>
          </p:nvPr>
        </p:nvSpPr>
        <p:spPr>
          <a:xfrm>
            <a:off x="106017" y="1"/>
            <a:ext cx="11767931" cy="609600"/>
          </a:xfrm>
        </p:spPr>
        <p:txBody>
          <a:bodyPr>
            <a:normAutofit fontScale="90000"/>
          </a:bodyPr>
          <a:lstStyle/>
          <a:p>
            <a:pPr algn="ctr"/>
            <a:r>
              <a:rPr lang="en-IN" sz="4400" b="1" dirty="0">
                <a:solidFill>
                  <a:schemeClr val="tx1">
                    <a:lumMod val="95000"/>
                    <a:lumOff val="5000"/>
                  </a:schemeClr>
                </a:solidFill>
                <a:latin typeface="Times New Roman" panose="02020603050405020304" pitchFamily="18" charset="0"/>
                <a:cs typeface="Times New Roman" panose="02020603050405020304" pitchFamily="18" charset="0"/>
              </a:rPr>
              <a:t>AWS Region / Availability Zone /  Instances / AMI</a:t>
            </a:r>
            <a:br>
              <a:rPr lang="en-IN" sz="3600"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428D8E6-0134-41C6-AB32-1A81EE1B1CBD}"/>
              </a:ext>
            </a:extLst>
          </p:cNvPr>
          <p:cNvSpPr>
            <a:spLocks noGrp="1"/>
          </p:cNvSpPr>
          <p:nvPr>
            <p:ph idx="1"/>
          </p:nvPr>
        </p:nvSpPr>
        <p:spPr>
          <a:xfrm>
            <a:off x="0" y="1126434"/>
            <a:ext cx="12192000" cy="5731565"/>
          </a:xfrm>
        </p:spPr>
        <p:txBody>
          <a:bodyPr>
            <a:normAutofit fontScale="70000" lnSpcReduction="20000"/>
          </a:bodyPr>
          <a:lstStyle/>
          <a:p>
            <a:pPr>
              <a:buClr>
                <a:srgbClr val="002060"/>
              </a:buClr>
              <a:buFont typeface="Wingdings" panose="05000000000000000000" pitchFamily="2" charset="2"/>
              <a:buChar char="ü"/>
              <a:tabLst>
                <a:tab pos="2865755" algn="ctr"/>
                <a:tab pos="5731510" algn="r"/>
              </a:tabLst>
            </a:pPr>
            <a:r>
              <a:rPr lang="en-IN" sz="2900" b="1" dirty="0">
                <a:effectLst/>
                <a:latin typeface="Times New Roman" panose="02020603050405020304" pitchFamily="18" charset="0"/>
                <a:ea typeface="Calibri" panose="020F0502020204030204" pitchFamily="34" charset="0"/>
                <a:cs typeface="Times New Roman" panose="02020603050405020304" pitchFamily="18" charset="0"/>
              </a:rPr>
              <a:t>AWS Region </a:t>
            </a:r>
            <a:r>
              <a:rPr lang="en-IN" sz="3300" b="1"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2600" i="0" dirty="0">
                <a:solidFill>
                  <a:schemeClr val="tx1">
                    <a:lumMod val="95000"/>
                    <a:lumOff val="5000"/>
                  </a:schemeClr>
                </a:solidFill>
                <a:effectLst/>
                <a:latin typeface="Times New Roman" panose="02020603050405020304" pitchFamily="18" charset="0"/>
                <a:cs typeface="Times New Roman" panose="02020603050405020304" pitchFamily="18" charset="0"/>
              </a:rPr>
              <a:t>AWS maintains multiple geographic Regions, including Regions in North America, South America, Europe, China, Asia Pacific, South Africa, and the Middle East. AWS has the concept of a Region, which is a physical location around the world where we cluster data centres. We call each group of logical data centres an Availability Zone.</a:t>
            </a:r>
          </a:p>
          <a:p>
            <a:pPr marL="0" indent="0">
              <a:buClr>
                <a:srgbClr val="002060"/>
              </a:buClr>
              <a:buNone/>
              <a:tabLst>
                <a:tab pos="2865755" algn="ctr"/>
                <a:tab pos="5731510" algn="r"/>
              </a:tabLst>
            </a:pPr>
            <a:r>
              <a:rPr lang="en-IN" sz="2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2600" i="0" dirty="0">
                <a:solidFill>
                  <a:schemeClr val="tx1">
                    <a:lumMod val="95000"/>
                    <a:lumOff val="5000"/>
                  </a:schemeClr>
                </a:solidFill>
                <a:effectLst/>
                <a:latin typeface="Times New Roman" panose="02020603050405020304" pitchFamily="18" charset="0"/>
                <a:cs typeface="Times New Roman" panose="02020603050405020304" pitchFamily="18" charset="0"/>
              </a:rPr>
              <a:t> Each AWS Region consists of multiple, isolated, and physically separate AZs within a geographic area</a:t>
            </a:r>
            <a:r>
              <a:rPr lang="en-IN" sz="2600" i="0" dirty="0">
                <a:solidFill>
                  <a:srgbClr val="BDC1C6"/>
                </a:solidFill>
                <a:effectLst/>
                <a:latin typeface="Times New Roman" panose="02020603050405020304" pitchFamily="18" charset="0"/>
                <a:cs typeface="Times New Roman" panose="02020603050405020304" pitchFamily="18" charset="0"/>
              </a:rPr>
              <a:t>. </a:t>
            </a:r>
            <a:r>
              <a:rPr lang="en-IN" sz="2600" dirty="0">
                <a:effectLst/>
                <a:latin typeface="Times New Roman" panose="02020603050405020304" pitchFamily="18" charset="0"/>
                <a:ea typeface="Calibri" panose="020F0502020204030204" pitchFamily="34" charset="0"/>
                <a:cs typeface="Times New Roman" panose="02020603050405020304" pitchFamily="18" charset="0"/>
              </a:rPr>
              <a:t> </a:t>
            </a:r>
          </a:p>
          <a:p>
            <a:pPr>
              <a:buClr>
                <a:srgbClr val="002060"/>
              </a:buClr>
              <a:buFont typeface="Wingdings" panose="05000000000000000000" pitchFamily="2" charset="2"/>
              <a:buChar char="ü"/>
              <a:tabLst>
                <a:tab pos="2865755" algn="ctr"/>
                <a:tab pos="5731510" algn="r"/>
              </a:tabLst>
            </a:pP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a:buClr>
                <a:srgbClr val="002060"/>
              </a:buClr>
              <a:buFont typeface="Wingdings" panose="05000000000000000000" pitchFamily="2" charset="2"/>
              <a:buChar char="ü"/>
              <a:tabLst>
                <a:tab pos="2865755" algn="ctr"/>
                <a:tab pos="5731510" algn="r"/>
              </a:tabLst>
            </a:pPr>
            <a:r>
              <a:rPr lang="en-IN" sz="2900" b="1" dirty="0">
                <a:effectLst/>
                <a:latin typeface="Times New Roman" panose="02020603050405020304" pitchFamily="18" charset="0"/>
                <a:ea typeface="Calibri" panose="020F0502020204030204" pitchFamily="34" charset="0"/>
                <a:cs typeface="Times New Roman" panose="02020603050405020304" pitchFamily="18" charset="0"/>
              </a:rPr>
              <a:t>Availability Zone :-</a:t>
            </a:r>
            <a:r>
              <a:rPr lang="en-IN" sz="2600" i="0" dirty="0">
                <a:solidFill>
                  <a:schemeClr val="tx1">
                    <a:lumMod val="95000"/>
                    <a:lumOff val="5000"/>
                  </a:schemeClr>
                </a:solidFill>
                <a:effectLst/>
                <a:latin typeface="Times New Roman" panose="02020603050405020304" pitchFamily="18" charset="0"/>
                <a:cs typeface="Times New Roman" panose="02020603050405020304" pitchFamily="18" charset="0"/>
              </a:rPr>
              <a:t>An availability zone is a logical data centre in a region available for use by any AWS customer. Each zone in a region has redundant and separate power, networking and connectivity to reduce the likelihood of two zones failing simultaneously. A common misconception is that a single zone equals a single data centre.</a:t>
            </a:r>
          </a:p>
          <a:p>
            <a:pPr marL="0" indent="0">
              <a:buClr>
                <a:srgbClr val="002060"/>
              </a:buClr>
              <a:buNone/>
              <a:tabLst>
                <a:tab pos="2865755" algn="ctr"/>
                <a:tab pos="5731510" algn="r"/>
              </a:tabLst>
            </a:pPr>
            <a:r>
              <a:rPr lang="en-IN" sz="2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2600" i="0" dirty="0">
                <a:solidFill>
                  <a:schemeClr val="tx1">
                    <a:lumMod val="95000"/>
                    <a:lumOff val="5000"/>
                  </a:schemeClr>
                </a:solidFill>
                <a:effectLst/>
                <a:latin typeface="Times New Roman" panose="02020603050405020304" pitchFamily="18" charset="0"/>
                <a:cs typeface="Times New Roman" panose="02020603050405020304" pitchFamily="18" charset="0"/>
              </a:rPr>
              <a:t> Each zone is composed of one or more datacentres equipped with independent power, cooling, and networking infrastructure.    Availability zones are designed so that if one zone is affected, regional services, capacity, and high availability are supported by the remaining two zones</a:t>
            </a:r>
            <a:r>
              <a:rPr lang="en-IN" sz="2600" i="0" dirty="0">
                <a:solidFill>
                  <a:srgbClr val="BDC1C6"/>
                </a:solidFill>
                <a:effectLst/>
                <a:latin typeface="Times New Roman" panose="02020603050405020304" pitchFamily="18" charset="0"/>
                <a:cs typeface="Times New Roman" panose="02020603050405020304" pitchFamily="18" charset="0"/>
              </a:rPr>
              <a:t>.</a:t>
            </a:r>
            <a:endParaRPr lang="en-IN" sz="2600" i="0" dirty="0">
              <a:solidFill>
                <a:srgbClr val="BDC1C6"/>
              </a:solidFill>
              <a:latin typeface="Times New Roman" panose="02020603050405020304" pitchFamily="18" charset="0"/>
              <a:cs typeface="Times New Roman" panose="02020603050405020304" pitchFamily="18" charset="0"/>
            </a:endParaRPr>
          </a:p>
          <a:p>
            <a:pPr marL="0" indent="0">
              <a:buClr>
                <a:srgbClr val="002060"/>
              </a:buClr>
              <a:buNone/>
              <a:tabLst>
                <a:tab pos="2865755" algn="ctr"/>
                <a:tab pos="5731510" algn="r"/>
              </a:tabLst>
            </a:pPr>
            <a:endParaRPr lang="en-IN" sz="2600" dirty="0">
              <a:latin typeface="Times New Roman" panose="02020603050405020304" pitchFamily="18" charset="0"/>
              <a:ea typeface="Calibri" panose="020F0502020204030204" pitchFamily="34" charset="0"/>
              <a:cs typeface="Times New Roman" panose="02020603050405020304" pitchFamily="18" charset="0"/>
            </a:endParaRPr>
          </a:p>
          <a:p>
            <a:pPr>
              <a:buClr>
                <a:srgbClr val="002060"/>
              </a:buClr>
              <a:buFont typeface="Wingdings" panose="05000000000000000000" pitchFamily="2" charset="2"/>
              <a:buChar char="ü"/>
              <a:tabLst>
                <a:tab pos="2865755" algn="ctr"/>
                <a:tab pos="5731510" algn="r"/>
              </a:tabLst>
            </a:pPr>
            <a:r>
              <a:rPr lang="en-IN" sz="2900" b="1" dirty="0">
                <a:effectLst/>
                <a:latin typeface="Times New Roman" panose="02020603050405020304" pitchFamily="18" charset="0"/>
                <a:ea typeface="Calibri" panose="020F0502020204030204" pitchFamily="34" charset="0"/>
                <a:cs typeface="Times New Roman" panose="02020603050405020304" pitchFamily="18" charset="0"/>
              </a:rPr>
              <a:t>Instances :- </a:t>
            </a:r>
            <a:r>
              <a:rPr lang="en-IN" sz="2600" i="0" dirty="0">
                <a:solidFill>
                  <a:schemeClr val="tx1">
                    <a:lumMod val="95000"/>
                    <a:lumOff val="5000"/>
                  </a:schemeClr>
                </a:solidFill>
                <a:effectLst/>
                <a:latin typeface="Times New Roman" panose="02020603050405020304" pitchFamily="18" charset="0"/>
                <a:cs typeface="Times New Roman" panose="02020603050405020304" pitchFamily="18" charset="0"/>
              </a:rPr>
              <a:t>A “cloud instance” refers to a virtual server instance from a public or private cloud network. In cloud instance computing, single hardware is implemented into software and run on top of multiple computers. By using AWS EC2 helps users to avoid the investment in hardware up front, so the user can deploy and develop applications easier. It is used to launch many virtual servers, configure networking and security, and managing storage.</a:t>
            </a:r>
            <a:endParaRPr lang="en-IN" sz="2600" i="0" dirty="0">
              <a:solidFill>
                <a:schemeClr val="tx1">
                  <a:lumMod val="95000"/>
                  <a:lumOff val="5000"/>
                </a:schemeClr>
              </a:solidFill>
              <a:latin typeface="Times New Roman" panose="02020603050405020304" pitchFamily="18" charset="0"/>
              <a:cs typeface="Times New Roman" panose="02020603050405020304" pitchFamily="18" charset="0"/>
            </a:endParaRPr>
          </a:p>
          <a:p>
            <a:pPr>
              <a:buClr>
                <a:srgbClr val="002060"/>
              </a:buClr>
              <a:buFont typeface="Wingdings" panose="05000000000000000000" pitchFamily="2" charset="2"/>
              <a:buChar char="ü"/>
              <a:tabLst>
                <a:tab pos="2865755" algn="ctr"/>
                <a:tab pos="5731510" algn="r"/>
              </a:tabLst>
            </a:pPr>
            <a:endParaRPr lang="en-IN" sz="2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endParaRPr>
          </a:p>
          <a:p>
            <a:pPr>
              <a:buClr>
                <a:srgbClr val="002060"/>
              </a:buClr>
              <a:buFont typeface="Wingdings" panose="05000000000000000000" pitchFamily="2" charset="2"/>
              <a:buChar char="ü"/>
              <a:tabLst>
                <a:tab pos="2865755" algn="ctr"/>
                <a:tab pos="5731510" algn="r"/>
              </a:tabLst>
            </a:pPr>
            <a:r>
              <a:rPr lang="en-IN" sz="2900" b="1"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AMI :-</a:t>
            </a:r>
            <a:r>
              <a:rPr lang="en-IN" sz="2900" b="1"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IN" sz="2600" i="0" dirty="0">
                <a:solidFill>
                  <a:schemeClr val="tx1">
                    <a:lumMod val="95000"/>
                    <a:lumOff val="5000"/>
                  </a:schemeClr>
                </a:solidFill>
                <a:effectLst/>
                <a:latin typeface="Times New Roman" panose="02020603050405020304" pitchFamily="18" charset="0"/>
                <a:cs typeface="Times New Roman" panose="02020603050405020304" pitchFamily="18" charset="0"/>
              </a:rPr>
              <a:t>An Amazon Machine Image (AMI) is a supported and maintained image provided by AWS that provides the information required to launch an instance. You must specify an AMI when you launch an instance. You can launch multiple instances from a single AMI when you require multiple instances with the same configuration.</a:t>
            </a:r>
            <a:endParaRPr lang="en-IN" sz="2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26277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91F3E2-9055-498F-B185-54A7811FE193}"/>
              </a:ext>
            </a:extLst>
          </p:cNvPr>
          <p:cNvPicPr>
            <a:picLocks noChangeAspect="1"/>
          </p:cNvPicPr>
          <p:nvPr/>
        </p:nvPicPr>
        <p:blipFill>
          <a:blip r:embed="rId2"/>
          <a:stretch>
            <a:fillRect/>
          </a:stretch>
        </p:blipFill>
        <p:spPr>
          <a:xfrm>
            <a:off x="-1" y="0"/>
            <a:ext cx="8454887" cy="4152899"/>
          </a:xfrm>
          <a:prstGeom prst="rect">
            <a:avLst/>
          </a:prstGeom>
        </p:spPr>
      </p:pic>
      <p:pic>
        <p:nvPicPr>
          <p:cNvPr id="3" name="Picture 2">
            <a:extLst>
              <a:ext uri="{FF2B5EF4-FFF2-40B4-BE49-F238E27FC236}">
                <a16:creationId xmlns:a16="http://schemas.microsoft.com/office/drawing/2014/main" id="{7E7F7722-2BED-4ED7-A862-4896151DE2B2}"/>
              </a:ext>
            </a:extLst>
          </p:cNvPr>
          <p:cNvPicPr>
            <a:picLocks noChangeAspect="1"/>
          </p:cNvPicPr>
          <p:nvPr/>
        </p:nvPicPr>
        <p:blipFill>
          <a:blip r:embed="rId3"/>
          <a:stretch>
            <a:fillRect/>
          </a:stretch>
        </p:blipFill>
        <p:spPr>
          <a:xfrm>
            <a:off x="5367130" y="2705100"/>
            <a:ext cx="6824870" cy="4152900"/>
          </a:xfrm>
          <a:prstGeom prst="rect">
            <a:avLst/>
          </a:prstGeom>
        </p:spPr>
      </p:pic>
    </p:spTree>
    <p:extLst>
      <p:ext uri="{BB962C8B-B14F-4D97-AF65-F5344CB8AC3E}">
        <p14:creationId xmlns:p14="http://schemas.microsoft.com/office/powerpoint/2010/main" val="3119763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03D6BF4-B775-4EFE-98FB-C2F24CF10429}"/>
              </a:ext>
            </a:extLst>
          </p:cNvPr>
          <p:cNvPicPr>
            <a:picLocks noGrp="1" noChangeAspect="1"/>
          </p:cNvPicPr>
          <p:nvPr>
            <p:ph sz="half" idx="1"/>
          </p:nvPr>
        </p:nvPicPr>
        <p:blipFill>
          <a:blip r:embed="rId2"/>
          <a:stretch>
            <a:fillRect/>
          </a:stretch>
        </p:blipFill>
        <p:spPr>
          <a:xfrm>
            <a:off x="795130" y="3656772"/>
            <a:ext cx="5300870" cy="3260033"/>
          </a:xfrm>
          <a:prstGeom prst="rect">
            <a:avLst/>
          </a:prstGeom>
        </p:spPr>
      </p:pic>
      <p:pic>
        <p:nvPicPr>
          <p:cNvPr id="5" name="Content Placeholder 4">
            <a:extLst>
              <a:ext uri="{FF2B5EF4-FFF2-40B4-BE49-F238E27FC236}">
                <a16:creationId xmlns:a16="http://schemas.microsoft.com/office/drawing/2014/main" id="{1BE96658-AD4E-47A8-BD4F-C0827C7FB881}"/>
              </a:ext>
            </a:extLst>
          </p:cNvPr>
          <p:cNvPicPr>
            <a:picLocks noGrp="1" noChangeAspect="1"/>
          </p:cNvPicPr>
          <p:nvPr>
            <p:ph sz="half" idx="2"/>
          </p:nvPr>
        </p:nvPicPr>
        <p:blipFill>
          <a:blip r:embed="rId3"/>
          <a:stretch>
            <a:fillRect/>
          </a:stretch>
        </p:blipFill>
        <p:spPr>
          <a:xfrm>
            <a:off x="7235686" y="92765"/>
            <a:ext cx="4956313" cy="3564007"/>
          </a:xfrm>
          <a:prstGeom prst="rect">
            <a:avLst/>
          </a:prstGeom>
        </p:spPr>
      </p:pic>
      <p:pic>
        <p:nvPicPr>
          <p:cNvPr id="8" name="Picture 7">
            <a:extLst>
              <a:ext uri="{FF2B5EF4-FFF2-40B4-BE49-F238E27FC236}">
                <a16:creationId xmlns:a16="http://schemas.microsoft.com/office/drawing/2014/main" id="{FC663B66-7A23-42FA-B05B-309D9B80EE6C}"/>
              </a:ext>
            </a:extLst>
          </p:cNvPr>
          <p:cNvPicPr>
            <a:picLocks noChangeAspect="1"/>
          </p:cNvPicPr>
          <p:nvPr/>
        </p:nvPicPr>
        <p:blipFill>
          <a:blip r:embed="rId4"/>
          <a:stretch>
            <a:fillRect/>
          </a:stretch>
        </p:blipFill>
        <p:spPr>
          <a:xfrm>
            <a:off x="106017" y="199197"/>
            <a:ext cx="6202018" cy="3060838"/>
          </a:xfrm>
          <a:prstGeom prst="rect">
            <a:avLst/>
          </a:prstGeom>
        </p:spPr>
      </p:pic>
      <p:pic>
        <p:nvPicPr>
          <p:cNvPr id="9" name="Picture 8">
            <a:extLst>
              <a:ext uri="{FF2B5EF4-FFF2-40B4-BE49-F238E27FC236}">
                <a16:creationId xmlns:a16="http://schemas.microsoft.com/office/drawing/2014/main" id="{154EF33B-7BD9-4CDA-8783-BAF6FFED2969}"/>
              </a:ext>
            </a:extLst>
          </p:cNvPr>
          <p:cNvPicPr>
            <a:picLocks noChangeAspect="1"/>
          </p:cNvPicPr>
          <p:nvPr/>
        </p:nvPicPr>
        <p:blipFill>
          <a:blip r:embed="rId5"/>
          <a:stretch>
            <a:fillRect/>
          </a:stretch>
        </p:blipFill>
        <p:spPr>
          <a:xfrm>
            <a:off x="7103164" y="3949148"/>
            <a:ext cx="4956313" cy="2816087"/>
          </a:xfrm>
          <a:prstGeom prst="rect">
            <a:avLst/>
          </a:prstGeom>
        </p:spPr>
      </p:pic>
    </p:spTree>
    <p:extLst>
      <p:ext uri="{BB962C8B-B14F-4D97-AF65-F5344CB8AC3E}">
        <p14:creationId xmlns:p14="http://schemas.microsoft.com/office/powerpoint/2010/main" val="759425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5A3C-49EB-48D1-9B25-C2F14E207F64}"/>
              </a:ext>
            </a:extLst>
          </p:cNvPr>
          <p:cNvSpPr>
            <a:spLocks noGrp="1"/>
          </p:cNvSpPr>
          <p:nvPr>
            <p:ph type="title"/>
          </p:nvPr>
        </p:nvSpPr>
        <p:spPr>
          <a:xfrm>
            <a:off x="0" y="0"/>
            <a:ext cx="12191999" cy="622852"/>
          </a:xfrm>
        </p:spPr>
        <p:txBody>
          <a:bodyPr>
            <a:normAutofit fontScale="90000"/>
          </a:bodyPr>
          <a:lstStyle/>
          <a:p>
            <a:pPr algn="ctr"/>
            <a:r>
              <a:rPr lang="en-IN" b="1" dirty="0">
                <a:solidFill>
                  <a:schemeClr val="tx1">
                    <a:lumMod val="95000"/>
                    <a:lumOff val="5000"/>
                  </a:schemeClr>
                </a:solidFill>
                <a:latin typeface="Times New Roman" panose="02020603050405020304" pitchFamily="18" charset="0"/>
                <a:cs typeface="Times New Roman" panose="02020603050405020304" pitchFamily="18" charset="0"/>
              </a:rPr>
              <a:t>Low latency /  High Throughput / High Availability</a:t>
            </a:r>
            <a:br>
              <a:rPr lang="en-IN" sz="3600"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E7827B8-97A1-4B47-8857-E02B212E79C2}"/>
              </a:ext>
            </a:extLst>
          </p:cNvPr>
          <p:cNvSpPr>
            <a:spLocks noGrp="1"/>
          </p:cNvSpPr>
          <p:nvPr>
            <p:ph idx="1"/>
          </p:nvPr>
        </p:nvSpPr>
        <p:spPr>
          <a:xfrm>
            <a:off x="1" y="821634"/>
            <a:ext cx="12191998" cy="6036365"/>
          </a:xfrm>
        </p:spPr>
        <p:txBody>
          <a:bodyPr>
            <a:normAutofit lnSpcReduction="10000"/>
          </a:bodyPr>
          <a:lstStyle/>
          <a:p>
            <a:pPr marL="0" indent="0">
              <a:buNone/>
            </a:pPr>
            <a:r>
              <a:rPr lang="en-IN" b="0" i="0" dirty="0">
                <a:solidFill>
                  <a:srgbClr val="373737"/>
                </a:solidFill>
                <a:effectLst/>
                <a:latin typeface="Roboto" panose="020B0604020202020204" pitchFamily="2" charset="0"/>
              </a:rPr>
              <a:t> </a:t>
            </a:r>
            <a:r>
              <a:rPr lang="en-IN" sz="2400" b="1" dirty="0">
                <a:solidFill>
                  <a:srgbClr val="373737"/>
                </a:solidFill>
                <a:latin typeface="Times New Roman" panose="02020603050405020304" pitchFamily="18" charset="0"/>
                <a:cs typeface="Times New Roman" panose="02020603050405020304" pitchFamily="18" charset="0"/>
              </a:rPr>
              <a:t>L</a:t>
            </a:r>
            <a:r>
              <a:rPr lang="en-IN" sz="2400" b="1" i="0" dirty="0">
                <a:solidFill>
                  <a:srgbClr val="373737"/>
                </a:solidFill>
                <a:effectLst/>
                <a:latin typeface="Times New Roman" panose="02020603050405020304" pitchFamily="18" charset="0"/>
                <a:cs typeface="Times New Roman" panose="02020603050405020304" pitchFamily="18" charset="0"/>
              </a:rPr>
              <a:t>ower </a:t>
            </a:r>
            <a:r>
              <a:rPr lang="en-IN" sz="2400" b="1" dirty="0">
                <a:solidFill>
                  <a:srgbClr val="373737"/>
                </a:solidFill>
                <a:latin typeface="Times New Roman" panose="02020603050405020304" pitchFamily="18" charset="0"/>
                <a:cs typeface="Times New Roman" panose="02020603050405020304" pitchFamily="18" charset="0"/>
              </a:rPr>
              <a:t>L</a:t>
            </a:r>
            <a:r>
              <a:rPr lang="en-IN" sz="2400" b="1" i="0" dirty="0">
                <a:solidFill>
                  <a:srgbClr val="373737"/>
                </a:solidFill>
                <a:effectLst/>
                <a:latin typeface="Times New Roman" panose="02020603050405020304" pitchFamily="18" charset="0"/>
                <a:cs typeface="Times New Roman" panose="02020603050405020304" pitchFamily="18" charset="0"/>
              </a:rPr>
              <a:t>atency </a:t>
            </a:r>
          </a:p>
          <a:p>
            <a:pPr>
              <a:buClr>
                <a:schemeClr val="tx2">
                  <a:lumMod val="75000"/>
                </a:schemeClr>
              </a:buClr>
              <a:buFont typeface="Wingdings" panose="05000000000000000000" pitchFamily="2" charset="2"/>
              <a:buChar char="q"/>
            </a:pPr>
            <a:r>
              <a:rPr lang="en-IN" sz="2000" b="1" i="0" dirty="0">
                <a:solidFill>
                  <a:srgbClr val="373737"/>
                </a:solidFill>
                <a:effectLst/>
                <a:latin typeface="Times New Roman" panose="02020603050405020304" pitchFamily="18" charset="0"/>
                <a:cs typeface="Times New Roman" panose="02020603050405020304" pitchFamily="18" charset="0"/>
              </a:rPr>
              <a:t> </a:t>
            </a:r>
            <a:r>
              <a:rPr lang="en-IN" sz="2000" b="0" i="0" dirty="0">
                <a:solidFill>
                  <a:srgbClr val="373737"/>
                </a:solidFill>
                <a:effectLst/>
                <a:latin typeface="Times New Roman" panose="02020603050405020304" pitchFamily="18" charset="0"/>
                <a:cs typeface="Times New Roman" panose="02020603050405020304" pitchFamily="18" charset="0"/>
              </a:rPr>
              <a:t>is nearly always an improvement over slower packet transport. Low latency is desirable in online gaming as it contributes to a more realistic gaming environment. </a:t>
            </a:r>
          </a:p>
          <a:p>
            <a:pPr>
              <a:buClr>
                <a:schemeClr val="tx2">
                  <a:lumMod val="75000"/>
                </a:schemeClr>
              </a:buClr>
              <a:buFont typeface="Wingdings" panose="05000000000000000000" pitchFamily="2" charset="2"/>
              <a:buChar char="q"/>
            </a:pPr>
            <a:r>
              <a:rPr lang="en-IN" sz="2000" b="0" i="0" dirty="0">
                <a:solidFill>
                  <a:srgbClr val="373737"/>
                </a:solidFill>
                <a:effectLst/>
                <a:latin typeface="Times New Roman" panose="02020603050405020304" pitchFamily="18" charset="0"/>
                <a:cs typeface="Times New Roman" panose="02020603050405020304" pitchFamily="18" charset="0"/>
              </a:rPr>
              <a:t>However, the term low latency is most often used to describe specific business use cases, in particular high-frequency trading in capital markets.</a:t>
            </a:r>
          </a:p>
          <a:p>
            <a:pPr marL="0" indent="0">
              <a:buNone/>
            </a:pPr>
            <a:endParaRPr lang="en-IN" b="0" i="0" dirty="0">
              <a:solidFill>
                <a:srgbClr val="373737"/>
              </a:solidFill>
              <a:effectLst/>
              <a:latin typeface="Times New Roman" panose="02020603050405020304" pitchFamily="18" charset="0"/>
              <a:cs typeface="Times New Roman" panose="02020603050405020304" pitchFamily="18" charset="0"/>
            </a:endParaRPr>
          </a:p>
          <a:p>
            <a:pPr marL="0" indent="0">
              <a:buNone/>
            </a:pPr>
            <a:r>
              <a:rPr lang="en-IN"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High throughput</a:t>
            </a:r>
          </a:p>
          <a:p>
            <a:pPr>
              <a:buClr>
                <a:schemeClr val="tx2">
                  <a:lumMod val="75000"/>
                </a:schemeClr>
              </a:buClr>
              <a:buFont typeface="Wingdings" panose="05000000000000000000" pitchFamily="2" charset="2"/>
              <a:buChar char="q"/>
            </a:pP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it</a:t>
            </a:r>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’s a</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FIFO queues supports a higher number of requests per API, per second. </a:t>
            </a:r>
          </a:p>
          <a:p>
            <a:pPr>
              <a:buClr>
                <a:schemeClr val="tx2">
                  <a:lumMod val="75000"/>
                </a:schemeClr>
              </a:buClr>
              <a:buFont typeface="Wingdings" panose="05000000000000000000" pitchFamily="2" charset="2"/>
              <a:buChar char="q"/>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To increase the number of requests in high throughput for FIFO queues, you can increase the number of message groups you use. Each message group supports 300 requests per second.</a:t>
            </a:r>
          </a:p>
          <a:p>
            <a:pPr marL="0" indent="0">
              <a:buNone/>
            </a:pPr>
            <a:endPar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0" indent="0">
              <a:buNone/>
            </a:pPr>
            <a:r>
              <a:rPr lang="en-IN"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High availability </a:t>
            </a:r>
          </a:p>
          <a:p>
            <a:pPr>
              <a:buClr>
                <a:schemeClr val="tx2">
                  <a:lumMod val="75000"/>
                </a:schemeClr>
              </a:buClr>
              <a:buFont typeface="Wingdings" panose="05000000000000000000" pitchFamily="2" charset="2"/>
              <a:buChar char="q"/>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is a quality of computing infrastructure that allows it to continue functioning, even when some of its components fail. </a:t>
            </a:r>
          </a:p>
          <a:p>
            <a:pPr>
              <a:buClr>
                <a:schemeClr val="tx2">
                  <a:lumMod val="75000"/>
                </a:schemeClr>
              </a:buClr>
              <a:buFont typeface="Wingdings" panose="05000000000000000000" pitchFamily="2" charset="2"/>
              <a:buChar char="q"/>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This is important for mission-critical systems that cannot tolerate interruption in service, and any downtime can cause damage or result in financial loss</a:t>
            </a:r>
            <a:r>
              <a:rPr lang="en-IN" sz="2000" b="0" i="0" dirty="0">
                <a:solidFill>
                  <a:srgbClr val="BDC1C6"/>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2887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2E1BB6-EA2F-4D8C-986B-27FA8D83C826}"/>
              </a:ext>
            </a:extLst>
          </p:cNvPr>
          <p:cNvPicPr>
            <a:picLocks noChangeAspect="1"/>
          </p:cNvPicPr>
          <p:nvPr/>
        </p:nvPicPr>
        <p:blipFill>
          <a:blip r:embed="rId2"/>
          <a:stretch>
            <a:fillRect/>
          </a:stretch>
        </p:blipFill>
        <p:spPr>
          <a:xfrm>
            <a:off x="114300" y="66675"/>
            <a:ext cx="5981700" cy="3362325"/>
          </a:xfrm>
          <a:prstGeom prst="rect">
            <a:avLst/>
          </a:prstGeom>
        </p:spPr>
      </p:pic>
      <p:pic>
        <p:nvPicPr>
          <p:cNvPr id="3" name="Picture 2">
            <a:extLst>
              <a:ext uri="{FF2B5EF4-FFF2-40B4-BE49-F238E27FC236}">
                <a16:creationId xmlns:a16="http://schemas.microsoft.com/office/drawing/2014/main" id="{628ACEE0-A3FE-4B19-8FCE-A86000749333}"/>
              </a:ext>
            </a:extLst>
          </p:cNvPr>
          <p:cNvPicPr>
            <a:picLocks noChangeAspect="1"/>
          </p:cNvPicPr>
          <p:nvPr/>
        </p:nvPicPr>
        <p:blipFill>
          <a:blip r:embed="rId3"/>
          <a:stretch>
            <a:fillRect/>
          </a:stretch>
        </p:blipFill>
        <p:spPr>
          <a:xfrm>
            <a:off x="114300" y="3955360"/>
            <a:ext cx="5658678" cy="2835965"/>
          </a:xfrm>
          <a:prstGeom prst="rect">
            <a:avLst/>
          </a:prstGeom>
        </p:spPr>
      </p:pic>
      <p:pic>
        <p:nvPicPr>
          <p:cNvPr id="4" name="Picture 3">
            <a:extLst>
              <a:ext uri="{FF2B5EF4-FFF2-40B4-BE49-F238E27FC236}">
                <a16:creationId xmlns:a16="http://schemas.microsoft.com/office/drawing/2014/main" id="{4078D069-C0E5-40C2-A418-F49F7857E3A2}"/>
              </a:ext>
            </a:extLst>
          </p:cNvPr>
          <p:cNvPicPr>
            <a:picLocks noChangeAspect="1"/>
          </p:cNvPicPr>
          <p:nvPr/>
        </p:nvPicPr>
        <p:blipFill>
          <a:blip r:embed="rId4"/>
          <a:stretch>
            <a:fillRect/>
          </a:stretch>
        </p:blipFill>
        <p:spPr>
          <a:xfrm>
            <a:off x="6516757" y="66675"/>
            <a:ext cx="5334000" cy="3458403"/>
          </a:xfrm>
          <a:prstGeom prst="rect">
            <a:avLst/>
          </a:prstGeom>
        </p:spPr>
      </p:pic>
      <p:pic>
        <p:nvPicPr>
          <p:cNvPr id="6" name="Picture 5">
            <a:extLst>
              <a:ext uri="{FF2B5EF4-FFF2-40B4-BE49-F238E27FC236}">
                <a16:creationId xmlns:a16="http://schemas.microsoft.com/office/drawing/2014/main" id="{92C6DEF9-6C87-46AB-86BE-730612C5245B}"/>
              </a:ext>
            </a:extLst>
          </p:cNvPr>
          <p:cNvPicPr>
            <a:picLocks noChangeAspect="1"/>
          </p:cNvPicPr>
          <p:nvPr/>
        </p:nvPicPr>
        <p:blipFill>
          <a:blip r:embed="rId5"/>
          <a:stretch>
            <a:fillRect/>
          </a:stretch>
        </p:blipFill>
        <p:spPr>
          <a:xfrm>
            <a:off x="5456997" y="3829877"/>
            <a:ext cx="6191664" cy="2961447"/>
          </a:xfrm>
          <a:prstGeom prst="rect">
            <a:avLst/>
          </a:prstGeom>
        </p:spPr>
      </p:pic>
    </p:spTree>
    <p:extLst>
      <p:ext uri="{BB962C8B-B14F-4D97-AF65-F5344CB8AC3E}">
        <p14:creationId xmlns:p14="http://schemas.microsoft.com/office/powerpoint/2010/main" val="316827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3484D-8089-48A6-87F7-4A3CC290103C}"/>
              </a:ext>
            </a:extLst>
          </p:cNvPr>
          <p:cNvSpPr>
            <a:spLocks noGrp="1"/>
          </p:cNvSpPr>
          <p:nvPr>
            <p:ph type="title"/>
          </p:nvPr>
        </p:nvSpPr>
        <p:spPr>
          <a:xfrm>
            <a:off x="159026" y="92766"/>
            <a:ext cx="11847444" cy="887896"/>
          </a:xfrm>
        </p:spPr>
        <p:txBody>
          <a:bodyPr>
            <a:normAutofit fontScale="90000"/>
          </a:bodyPr>
          <a:lstStyle/>
          <a:p>
            <a:pPr algn="ctr"/>
            <a:r>
              <a:rPr lang="en-IN" sz="3600" b="1" i="0" dirty="0">
                <a:solidFill>
                  <a:schemeClr val="tx1">
                    <a:lumMod val="95000"/>
                    <a:lumOff val="5000"/>
                  </a:schemeClr>
                </a:solidFill>
                <a:effectLst/>
                <a:latin typeface="Times New Roman" panose="02020603050405020304" pitchFamily="18" charset="0"/>
                <a:cs typeface="Times New Roman" panose="02020603050405020304" pitchFamily="18" charset="0"/>
              </a:rPr>
              <a:t>Fault-tolerance / </a:t>
            </a:r>
            <a:r>
              <a:rPr lang="en-IN" sz="3600" b="1" dirty="0">
                <a:solidFill>
                  <a:schemeClr val="tx1">
                    <a:lumMod val="95000"/>
                    <a:lumOff val="5000"/>
                  </a:schemeClr>
                </a:solidFill>
                <a:latin typeface="Times New Roman" panose="02020603050405020304" pitchFamily="18" charset="0"/>
                <a:cs typeface="Times New Roman" panose="02020603050405020304" pitchFamily="18" charset="0"/>
              </a:rPr>
              <a:t>E</a:t>
            </a:r>
            <a:r>
              <a:rPr lang="en-IN" sz="3600" b="1" i="0" dirty="0">
                <a:solidFill>
                  <a:schemeClr val="tx1">
                    <a:lumMod val="95000"/>
                    <a:lumOff val="5000"/>
                  </a:schemeClr>
                </a:solidFill>
                <a:effectLst/>
                <a:latin typeface="Times New Roman" panose="02020603050405020304" pitchFamily="18" charset="0"/>
                <a:cs typeface="Times New Roman" panose="02020603050405020304" pitchFamily="18" charset="0"/>
              </a:rPr>
              <a:t>dge location</a:t>
            </a:r>
            <a:br>
              <a:rPr lang="en-IN" sz="3600" b="1" i="0" dirty="0">
                <a:solidFill>
                  <a:schemeClr val="tx1">
                    <a:lumMod val="95000"/>
                    <a:lumOff val="5000"/>
                  </a:schemeClr>
                </a:solidFill>
                <a:effectLst/>
                <a:latin typeface="Times New Roman" panose="02020603050405020304" pitchFamily="18" charset="0"/>
                <a:cs typeface="Times New Roman" panose="02020603050405020304" pitchFamily="18" charset="0"/>
              </a:rPr>
            </a:br>
            <a:br>
              <a:rPr lang="en-IN" sz="3600" b="1" i="0" dirty="0">
                <a:solidFill>
                  <a:schemeClr val="tx1">
                    <a:lumMod val="95000"/>
                    <a:lumOff val="5000"/>
                  </a:schemeClr>
                </a:solidFill>
                <a:effectLst/>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5D7E7E9-1171-44BA-A2E7-C2FA20724121}"/>
              </a:ext>
            </a:extLst>
          </p:cNvPr>
          <p:cNvSpPr>
            <a:spLocks noGrp="1"/>
          </p:cNvSpPr>
          <p:nvPr>
            <p:ph idx="1"/>
          </p:nvPr>
        </p:nvSpPr>
        <p:spPr>
          <a:xfrm>
            <a:off x="159026" y="980662"/>
            <a:ext cx="11873948" cy="5784571"/>
          </a:xfrm>
        </p:spPr>
        <p:txBody>
          <a:bodyPr>
            <a:normAutofit/>
          </a:bodyPr>
          <a:lstStyle/>
          <a:p>
            <a:pPr marL="0" indent="0">
              <a:buNone/>
            </a:pPr>
            <a:r>
              <a:rPr lang="en-IN"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Fault-tolerance</a:t>
            </a:r>
          </a:p>
          <a:p>
            <a:pPr>
              <a:buClr>
                <a:schemeClr val="tx2">
                  <a:lumMod val="60000"/>
                  <a:lumOff val="40000"/>
                </a:schemeClr>
              </a:buClr>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is the ability for a system to remain in operation even if some of the components used to build the system fail.</a:t>
            </a:r>
          </a:p>
          <a:p>
            <a:pPr>
              <a:buClr>
                <a:schemeClr val="tx2">
                  <a:lumMod val="60000"/>
                  <a:lumOff val="40000"/>
                </a:schemeClr>
              </a:buClr>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Even with very conservative assumptions, a busy e-commerce site may lose thousands of dollars for every minute it is unavailable.</a:t>
            </a:r>
          </a:p>
          <a:p>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IN" sz="2400" b="1" dirty="0">
                <a:solidFill>
                  <a:schemeClr val="tx1">
                    <a:lumMod val="95000"/>
                    <a:lumOff val="5000"/>
                  </a:schemeClr>
                </a:solidFill>
                <a:latin typeface="Times New Roman" panose="02020603050405020304" pitchFamily="18" charset="0"/>
                <a:cs typeface="Times New Roman" panose="02020603050405020304" pitchFamily="18" charset="0"/>
              </a:rPr>
              <a:t>E</a:t>
            </a:r>
            <a:r>
              <a:rPr lang="en-IN"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dge location</a:t>
            </a:r>
          </a:p>
          <a:p>
            <a:pPr>
              <a:buClr>
                <a:schemeClr val="tx2">
                  <a:lumMod val="60000"/>
                  <a:lumOff val="40000"/>
                </a:schemeClr>
              </a:buClr>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is the nearest point to the consumer(user) who is consuming the AWS service.</a:t>
            </a:r>
          </a:p>
          <a:p>
            <a:pPr>
              <a:buClr>
                <a:schemeClr val="tx2">
                  <a:lumMod val="60000"/>
                  <a:lumOff val="40000"/>
                </a:schemeClr>
              </a:buClr>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In these locations, the server is not present but a small setup is there.</a:t>
            </a:r>
          </a:p>
          <a:p>
            <a:pPr>
              <a:buClr>
                <a:schemeClr val="tx2">
                  <a:lumMod val="60000"/>
                  <a:lumOff val="40000"/>
                </a:schemeClr>
              </a:buClr>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They are located in major cities around the world.</a:t>
            </a:r>
          </a:p>
          <a:p>
            <a:pPr marL="0" indent="0">
              <a:buClr>
                <a:schemeClr val="tx2">
                  <a:lumMod val="60000"/>
                  <a:lumOff val="40000"/>
                </a:schemeClr>
              </a:buClr>
              <a:buNone/>
            </a:pP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ADDB01B-AC87-4313-8221-1A360EA8DFED}"/>
              </a:ext>
            </a:extLst>
          </p:cNvPr>
          <p:cNvPicPr>
            <a:picLocks noChangeAspect="1"/>
          </p:cNvPicPr>
          <p:nvPr/>
        </p:nvPicPr>
        <p:blipFill>
          <a:blip r:embed="rId2"/>
          <a:stretch>
            <a:fillRect/>
          </a:stretch>
        </p:blipFill>
        <p:spPr>
          <a:xfrm>
            <a:off x="8653669" y="2809462"/>
            <a:ext cx="3538331" cy="4048538"/>
          </a:xfrm>
          <a:prstGeom prst="rect">
            <a:avLst/>
          </a:prstGeom>
        </p:spPr>
      </p:pic>
    </p:spTree>
    <p:extLst>
      <p:ext uri="{BB962C8B-B14F-4D97-AF65-F5344CB8AC3E}">
        <p14:creationId xmlns:p14="http://schemas.microsoft.com/office/powerpoint/2010/main" val="3341206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EC3E-E113-4CAD-9DCE-DFF5259F9BA5}"/>
              </a:ext>
            </a:extLst>
          </p:cNvPr>
          <p:cNvSpPr>
            <a:spLocks noGrp="1"/>
          </p:cNvSpPr>
          <p:nvPr>
            <p:ph type="title"/>
          </p:nvPr>
        </p:nvSpPr>
        <p:spPr>
          <a:xfrm>
            <a:off x="185531" y="0"/>
            <a:ext cx="11741426" cy="556591"/>
          </a:xfrm>
        </p:spPr>
        <p:txBody>
          <a:bodyPr>
            <a:normAutofit fontScale="90000"/>
          </a:bodyPr>
          <a:lstStyle/>
          <a:p>
            <a:pPr algn="ctr"/>
            <a:r>
              <a:rPr lang="en-IN" b="1" i="0" dirty="0">
                <a:solidFill>
                  <a:srgbClr val="292929"/>
                </a:solidFill>
                <a:effectLst/>
                <a:latin typeface="Times New Roman" panose="02020603050405020304" pitchFamily="18" charset="0"/>
                <a:cs typeface="Times New Roman" panose="02020603050405020304" pitchFamily="18" charset="0"/>
              </a:rPr>
              <a:t>Factors To Consider When Choosing Your Region and AZ</a:t>
            </a:r>
            <a:br>
              <a:rPr lang="en-IN" b="1" i="0" dirty="0">
                <a:solidFill>
                  <a:srgbClr val="292929"/>
                </a:solidFill>
                <a:effectLst/>
                <a:latin typeface="sohne"/>
              </a:rPr>
            </a:br>
            <a:endParaRPr lang="en-IN" dirty="0"/>
          </a:p>
        </p:txBody>
      </p:sp>
      <p:sp>
        <p:nvSpPr>
          <p:cNvPr id="3" name="Content Placeholder 2">
            <a:extLst>
              <a:ext uri="{FF2B5EF4-FFF2-40B4-BE49-F238E27FC236}">
                <a16:creationId xmlns:a16="http://schemas.microsoft.com/office/drawing/2014/main" id="{D647BA74-E0D5-4F78-9DCA-A4A6567344C1}"/>
              </a:ext>
            </a:extLst>
          </p:cNvPr>
          <p:cNvSpPr>
            <a:spLocks noGrp="1"/>
          </p:cNvSpPr>
          <p:nvPr>
            <p:ph idx="1"/>
          </p:nvPr>
        </p:nvSpPr>
        <p:spPr>
          <a:xfrm>
            <a:off x="185531" y="1166191"/>
            <a:ext cx="11741426" cy="5380383"/>
          </a:xfrm>
        </p:spPr>
        <p:txBody>
          <a:bodyPr>
            <a:noAutofit/>
          </a:bodyPr>
          <a:lstStyle/>
          <a:p>
            <a:pPr marL="0" indent="0">
              <a:buClr>
                <a:schemeClr val="accent5">
                  <a:lumMod val="50000"/>
                </a:schemeClr>
              </a:buClr>
              <a:buNone/>
            </a:pPr>
            <a:r>
              <a:rPr lang="en-IN" sz="2000" b="1" dirty="0">
                <a:solidFill>
                  <a:srgbClr val="292929"/>
                </a:solidFill>
                <a:latin typeface="Times New Roman" panose="02020603050405020304" pitchFamily="18" charset="0"/>
                <a:cs typeface="Times New Roman" panose="02020603050405020304" pitchFamily="18" charset="0"/>
              </a:rPr>
              <a:t>1</a:t>
            </a:r>
            <a:r>
              <a:rPr lang="en-IN" sz="2000" b="1" i="0" dirty="0">
                <a:solidFill>
                  <a:srgbClr val="292929"/>
                </a:solidFill>
                <a:effectLst/>
                <a:latin typeface="Times New Roman" panose="02020603050405020304" pitchFamily="18" charset="0"/>
                <a:cs typeface="Times New Roman" panose="02020603050405020304" pitchFamily="18" charset="0"/>
              </a:rPr>
              <a:t>. Compliance </a:t>
            </a:r>
          </a:p>
          <a:p>
            <a:pPr>
              <a:buClr>
                <a:schemeClr val="accent5">
                  <a:lumMod val="50000"/>
                </a:schemeClr>
              </a:buClr>
              <a:buFont typeface="Wingdings" panose="05000000000000000000" pitchFamily="2" charset="2"/>
              <a:buChar char="Ø"/>
            </a:pPr>
            <a:r>
              <a:rPr lang="en-IN" sz="2000" b="0" i="0" dirty="0">
                <a:solidFill>
                  <a:srgbClr val="292929"/>
                </a:solidFill>
                <a:effectLst/>
                <a:latin typeface="Times New Roman" panose="02020603050405020304" pitchFamily="18" charset="0"/>
                <a:cs typeface="Times New Roman" panose="02020603050405020304" pitchFamily="18" charset="0"/>
              </a:rPr>
              <a:t>Usually, companies have to meet certain legal requirements.</a:t>
            </a:r>
          </a:p>
          <a:p>
            <a:pPr>
              <a:buClr>
                <a:schemeClr val="accent5">
                  <a:lumMod val="50000"/>
                </a:schemeClr>
              </a:buClr>
              <a:buFont typeface="Wingdings" panose="05000000000000000000" pitchFamily="2" charset="2"/>
              <a:buChar char="Ø"/>
            </a:pPr>
            <a:r>
              <a:rPr lang="en-IN" sz="2000" b="0" i="0" dirty="0">
                <a:solidFill>
                  <a:srgbClr val="292929"/>
                </a:solidFill>
                <a:effectLst/>
                <a:latin typeface="Times New Roman" panose="02020603050405020304" pitchFamily="18" charset="0"/>
                <a:cs typeface="Times New Roman" panose="02020603050405020304" pitchFamily="18" charset="0"/>
              </a:rPr>
              <a:t> For instance, you may wish to keep the data in the country the application is deployed in. Sometimes this is essentially the only factor considered when choosing AWS regions. </a:t>
            </a:r>
          </a:p>
          <a:p>
            <a:pPr>
              <a:buClr>
                <a:schemeClr val="accent5">
                  <a:lumMod val="50000"/>
                </a:schemeClr>
              </a:buClr>
              <a:buFont typeface="Wingdings" panose="05000000000000000000" pitchFamily="2" charset="2"/>
              <a:buChar char="Ø"/>
            </a:pPr>
            <a:r>
              <a:rPr lang="en-IN" sz="2000" b="0" i="0" dirty="0">
                <a:solidFill>
                  <a:srgbClr val="292929"/>
                </a:solidFill>
                <a:effectLst/>
                <a:latin typeface="Times New Roman" panose="02020603050405020304" pitchFamily="18" charset="0"/>
                <a:cs typeface="Times New Roman" panose="02020603050405020304" pitchFamily="18" charset="0"/>
              </a:rPr>
              <a:t>If you are obligated by law to host your data or application in a specific country or continent, then no other factor can outweigh this one.</a:t>
            </a:r>
          </a:p>
          <a:p>
            <a:pPr marL="0" indent="0" algn="l">
              <a:buNone/>
            </a:pPr>
            <a:endParaRPr lang="en-IN" sz="2000" dirty="0">
              <a:latin typeface="Times New Roman" panose="02020603050405020304" pitchFamily="18" charset="0"/>
              <a:cs typeface="Times New Roman" panose="02020603050405020304" pitchFamily="18" charset="0"/>
            </a:endParaRPr>
          </a:p>
          <a:p>
            <a:pPr marL="0" indent="0" algn="l">
              <a:buClr>
                <a:schemeClr val="accent5">
                  <a:lumMod val="50000"/>
                </a:schemeClr>
              </a:buClr>
              <a:buNone/>
            </a:pPr>
            <a:r>
              <a:rPr lang="en-IN" sz="2000" b="1" i="0" dirty="0">
                <a:solidFill>
                  <a:srgbClr val="333333"/>
                </a:solidFill>
                <a:effectLst/>
                <a:latin typeface="Times New Roman" panose="02020603050405020304" pitchFamily="18" charset="0"/>
                <a:cs typeface="Times New Roman" panose="02020603050405020304" pitchFamily="18" charset="0"/>
              </a:rPr>
              <a:t>2. Latency</a:t>
            </a:r>
          </a:p>
          <a:p>
            <a:pPr algn="l">
              <a:buClr>
                <a:schemeClr val="accent5">
                  <a:lumMod val="50000"/>
                </a:schemeClr>
              </a:buClr>
              <a:buFont typeface="Wingdings" panose="05000000000000000000" pitchFamily="2" charset="2"/>
              <a:buChar char="Ø"/>
            </a:pPr>
            <a:r>
              <a:rPr lang="en-IN" sz="2000" b="0" i="0" dirty="0">
                <a:solidFill>
                  <a:srgbClr val="333333"/>
                </a:solidFill>
                <a:effectLst/>
                <a:latin typeface="Times New Roman" panose="02020603050405020304" pitchFamily="18" charset="0"/>
                <a:cs typeface="Times New Roman" panose="02020603050405020304" pitchFamily="18" charset="0"/>
              </a:rPr>
              <a:t>A major factor to consider for user experience is latency. Reduced network latency can make substantial impact on enhancing the user experience.</a:t>
            </a:r>
          </a:p>
          <a:p>
            <a:pPr algn="l">
              <a:buClr>
                <a:schemeClr val="accent5">
                  <a:lumMod val="50000"/>
                </a:schemeClr>
              </a:buClr>
              <a:buFont typeface="Wingdings" panose="05000000000000000000" pitchFamily="2" charset="2"/>
              <a:buChar char="Ø"/>
            </a:pPr>
            <a:r>
              <a:rPr lang="en-IN" sz="2000" b="0" i="0" dirty="0">
                <a:solidFill>
                  <a:srgbClr val="333333"/>
                </a:solidFill>
                <a:effectLst/>
                <a:latin typeface="Times New Roman" panose="02020603050405020304" pitchFamily="18" charset="0"/>
                <a:cs typeface="Times New Roman" panose="02020603050405020304" pitchFamily="18" charset="0"/>
              </a:rPr>
              <a:t> Choosing an AWS Region with close proximity to your user base location can achieve lower network latency.</a:t>
            </a:r>
          </a:p>
          <a:p>
            <a:pPr algn="l">
              <a:buClr>
                <a:schemeClr val="accent5">
                  <a:lumMod val="50000"/>
                </a:schemeClr>
              </a:buClr>
              <a:buFont typeface="Wingdings" panose="05000000000000000000" pitchFamily="2" charset="2"/>
              <a:buChar char="Ø"/>
            </a:pPr>
            <a:r>
              <a:rPr lang="en-IN" sz="2000" b="0" i="0" dirty="0">
                <a:solidFill>
                  <a:srgbClr val="333333"/>
                </a:solidFill>
                <a:effectLst/>
                <a:latin typeface="Times New Roman" panose="02020603050405020304" pitchFamily="18" charset="0"/>
                <a:cs typeface="Times New Roman" panose="02020603050405020304" pitchFamily="18" charset="0"/>
              </a:rPr>
              <a:t> It can also increase communication quality, given that network packets have fewer exchange points to travel through.</a:t>
            </a:r>
          </a:p>
          <a:p>
            <a:pPr algn="l">
              <a:buClr>
                <a:schemeClr val="accent5">
                  <a:lumMod val="50000"/>
                </a:schemeClr>
              </a:buClr>
              <a:buFont typeface="Wingdings" panose="05000000000000000000" pitchFamily="2" charset="2"/>
              <a:buChar char="Ø"/>
            </a:pPr>
            <a:endParaRPr lang="en-IN" b="0" i="0" dirty="0">
              <a:solidFill>
                <a:srgbClr val="333333"/>
              </a:solidFill>
              <a:effectLst/>
              <a:latin typeface="Times New Roman" panose="02020603050405020304" pitchFamily="18" charset="0"/>
              <a:cs typeface="Times New Roman" panose="02020603050405020304" pitchFamily="18" charset="0"/>
            </a:endParaRPr>
          </a:p>
          <a:p>
            <a:pPr marL="0" indent="0">
              <a:buNone/>
            </a:pPr>
            <a:br>
              <a:rPr lang="en-IN"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733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DFD093-D20C-4CA4-BB36-44F59B3E4550}"/>
              </a:ext>
            </a:extLst>
          </p:cNvPr>
          <p:cNvSpPr>
            <a:spLocks noGrp="1"/>
          </p:cNvSpPr>
          <p:nvPr>
            <p:ph idx="1"/>
          </p:nvPr>
        </p:nvSpPr>
        <p:spPr>
          <a:xfrm>
            <a:off x="238539" y="357809"/>
            <a:ext cx="11648661" cy="6294782"/>
          </a:xfrm>
        </p:spPr>
        <p:txBody>
          <a:bodyPr>
            <a:normAutofit/>
          </a:bodyPr>
          <a:lstStyle/>
          <a:p>
            <a:pPr marL="0" indent="0" algn="l">
              <a:buClr>
                <a:schemeClr val="accent5">
                  <a:lumMod val="50000"/>
                </a:schemeClr>
              </a:buClr>
              <a:buNone/>
            </a:pPr>
            <a:r>
              <a:rPr lang="en-IN" sz="2000" b="1" i="0" dirty="0">
                <a:solidFill>
                  <a:srgbClr val="333333"/>
                </a:solidFill>
                <a:effectLst/>
                <a:latin typeface="Times New Roman" panose="02020603050405020304" pitchFamily="18" charset="0"/>
                <a:cs typeface="Times New Roman" panose="02020603050405020304" pitchFamily="18" charset="0"/>
              </a:rPr>
              <a:t>3. Cost</a:t>
            </a:r>
            <a:endParaRPr lang="en-IN" sz="2000" b="1" dirty="0">
              <a:solidFill>
                <a:srgbClr val="333333"/>
              </a:solidFill>
              <a:latin typeface="Times New Roman" panose="02020603050405020304" pitchFamily="18" charset="0"/>
              <a:cs typeface="Times New Roman" panose="02020603050405020304" pitchFamily="18" charset="0"/>
            </a:endParaRPr>
          </a:p>
          <a:p>
            <a:pPr algn="l">
              <a:buClr>
                <a:schemeClr val="accent5">
                  <a:lumMod val="50000"/>
                </a:schemeClr>
              </a:buClr>
              <a:buFont typeface="Wingdings" panose="05000000000000000000" pitchFamily="2" charset="2"/>
              <a:buChar char="Ø"/>
            </a:pPr>
            <a:r>
              <a:rPr lang="en-IN" sz="2000" b="0" i="0" dirty="0">
                <a:solidFill>
                  <a:srgbClr val="333333"/>
                </a:solidFill>
                <a:effectLst/>
                <a:latin typeface="Times New Roman" panose="02020603050405020304" pitchFamily="18" charset="0"/>
                <a:cs typeface="Times New Roman" panose="02020603050405020304" pitchFamily="18" charset="0"/>
              </a:rPr>
              <a:t> AWS services are priced differently from one Region to another. Some Regions have lower cost than others, which can result in a cost reduction for the same deployment.</a:t>
            </a:r>
          </a:p>
          <a:p>
            <a:pPr marL="0" indent="0" algn="l">
              <a:buClr>
                <a:schemeClr val="accent5">
                  <a:lumMod val="50000"/>
                </a:schemeClr>
              </a:buClr>
              <a:buNone/>
            </a:pPr>
            <a:endParaRPr lang="en-IN" sz="2000" b="0" i="0" dirty="0">
              <a:solidFill>
                <a:srgbClr val="333333"/>
              </a:solidFill>
              <a:effectLst/>
              <a:latin typeface="Times New Roman" panose="02020603050405020304" pitchFamily="18" charset="0"/>
              <a:cs typeface="Times New Roman" panose="02020603050405020304" pitchFamily="18" charset="0"/>
            </a:endParaRPr>
          </a:p>
          <a:p>
            <a:pPr marL="0" indent="0" algn="l">
              <a:buNone/>
            </a:pPr>
            <a:r>
              <a:rPr lang="en-IN" sz="2000" b="1" i="0" dirty="0">
                <a:solidFill>
                  <a:srgbClr val="333333"/>
                </a:solidFill>
                <a:effectLst/>
                <a:latin typeface="Times New Roman" panose="02020603050405020304" pitchFamily="18" charset="0"/>
                <a:cs typeface="Times New Roman" panose="02020603050405020304" pitchFamily="18" charset="0"/>
              </a:rPr>
              <a:t>4. Services and features.</a:t>
            </a:r>
          </a:p>
          <a:p>
            <a:pPr algn="l">
              <a:buClr>
                <a:schemeClr val="accent5">
                  <a:lumMod val="50000"/>
                </a:schemeClr>
              </a:buClr>
              <a:buFont typeface="Wingdings" panose="05000000000000000000" pitchFamily="2" charset="2"/>
              <a:buChar char="Ø"/>
            </a:pPr>
            <a:r>
              <a:rPr lang="en-IN" sz="2000" b="0" i="0" dirty="0">
                <a:solidFill>
                  <a:srgbClr val="333333"/>
                </a:solidFill>
                <a:effectLst/>
                <a:latin typeface="Times New Roman" panose="02020603050405020304" pitchFamily="18" charset="0"/>
                <a:cs typeface="Times New Roman" panose="02020603050405020304" pitchFamily="18" charset="0"/>
              </a:rPr>
              <a:t> Newer services and features are deployed to Regions gradually.</a:t>
            </a:r>
          </a:p>
          <a:p>
            <a:pPr algn="l">
              <a:buClr>
                <a:schemeClr val="accent5">
                  <a:lumMod val="50000"/>
                </a:schemeClr>
              </a:buClr>
              <a:buFont typeface="Wingdings" panose="05000000000000000000" pitchFamily="2" charset="2"/>
              <a:buChar char="Ø"/>
            </a:pPr>
            <a:r>
              <a:rPr lang="en-IN" sz="2000" b="0" i="0" dirty="0">
                <a:solidFill>
                  <a:srgbClr val="333333"/>
                </a:solidFill>
                <a:effectLst/>
                <a:latin typeface="Times New Roman" panose="02020603050405020304" pitchFamily="18" charset="0"/>
                <a:cs typeface="Times New Roman" panose="02020603050405020304" pitchFamily="18" charset="0"/>
              </a:rPr>
              <a:t> Although all AWS Regions have the same service level agreement (SLA), some larger Regions are usually first to offer newer services, features, and software releases.</a:t>
            </a:r>
          </a:p>
          <a:p>
            <a:pPr algn="l">
              <a:buClr>
                <a:schemeClr val="accent5">
                  <a:lumMod val="50000"/>
                </a:schemeClr>
              </a:buClr>
              <a:buFont typeface="Wingdings" panose="05000000000000000000" pitchFamily="2" charset="2"/>
              <a:buChar char="Ø"/>
            </a:pPr>
            <a:r>
              <a:rPr lang="en-IN" sz="2000" b="0" i="0" dirty="0">
                <a:solidFill>
                  <a:srgbClr val="333333"/>
                </a:solidFill>
                <a:effectLst/>
                <a:latin typeface="Times New Roman" panose="02020603050405020304" pitchFamily="18" charset="0"/>
                <a:cs typeface="Times New Roman" panose="02020603050405020304" pitchFamily="18" charset="0"/>
              </a:rPr>
              <a:t> Smaller Regions may not get these services or features in time for you to use them to support your workload.</a:t>
            </a:r>
          </a:p>
          <a:p>
            <a:pPr marL="0" indent="0">
              <a:buNone/>
            </a:pPr>
            <a:br>
              <a:rPr lang="en-IN" dirty="0">
                <a:effectLst/>
              </a:rPr>
            </a:br>
            <a:endParaRPr lang="en-IN" dirty="0"/>
          </a:p>
          <a:p>
            <a:pPr marL="0" indent="0">
              <a:buNone/>
            </a:pPr>
            <a:endParaRPr lang="en-IN" dirty="0"/>
          </a:p>
        </p:txBody>
      </p:sp>
    </p:spTree>
    <p:extLst>
      <p:ext uri="{BB962C8B-B14F-4D97-AF65-F5344CB8AC3E}">
        <p14:creationId xmlns:p14="http://schemas.microsoft.com/office/powerpoint/2010/main" val="1637443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CB02D-7FA9-4FE9-ACEB-A80B4E4EE1F1}"/>
              </a:ext>
            </a:extLst>
          </p:cNvPr>
          <p:cNvSpPr>
            <a:spLocks noGrp="1"/>
          </p:cNvSpPr>
          <p:nvPr>
            <p:ph type="title"/>
          </p:nvPr>
        </p:nvSpPr>
        <p:spPr>
          <a:xfrm>
            <a:off x="265043" y="172278"/>
            <a:ext cx="11608905" cy="644359"/>
          </a:xfrm>
        </p:spPr>
        <p:txBody>
          <a:bodyPr>
            <a:normAutofit fontScale="90000"/>
          </a:bodyPr>
          <a:lstStyle/>
          <a:p>
            <a:pPr algn="ctr"/>
            <a:r>
              <a:rPr lang="en-IN" sz="3600" dirty="0">
                <a:solidFill>
                  <a:srgbClr val="292929"/>
                </a:solidFill>
                <a:latin typeface="Times New Roman" panose="02020603050405020304" pitchFamily="18" charset="0"/>
                <a:cs typeface="Times New Roman" panose="02020603050405020304" pitchFamily="18" charset="0"/>
              </a:rPr>
              <a:t>Global Services &amp;Regional Services </a:t>
            </a:r>
            <a:br>
              <a:rPr lang="en-IN" sz="3600" dirty="0">
                <a:solidFill>
                  <a:srgbClr val="292929"/>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0BADF60-0A89-4EED-84A8-2F478ACC07C9}"/>
              </a:ext>
            </a:extLst>
          </p:cNvPr>
          <p:cNvSpPr>
            <a:spLocks noGrp="1"/>
          </p:cNvSpPr>
          <p:nvPr>
            <p:ph idx="1"/>
          </p:nvPr>
        </p:nvSpPr>
        <p:spPr>
          <a:xfrm>
            <a:off x="543339" y="914400"/>
            <a:ext cx="11171583" cy="5287617"/>
          </a:xfrm>
        </p:spPr>
        <p:txBody>
          <a:bodyPr>
            <a:normAutofit/>
          </a:bodyPr>
          <a:lstStyle/>
          <a:p>
            <a:pPr marL="0" indent="0">
              <a:lnSpc>
                <a:spcPct val="107000"/>
              </a:lnSpc>
              <a:spcAft>
                <a:spcPts val="800"/>
              </a:spcAft>
              <a:buNone/>
            </a:pPr>
            <a:r>
              <a:rPr lang="en-IN" sz="2000" b="1" u="sng" dirty="0">
                <a:effectLst/>
                <a:latin typeface="Times New Roman" panose="02020603050405020304" pitchFamily="18" charset="0"/>
                <a:ea typeface="Calibri" panose="020F0502020204030204" pitchFamily="34" charset="0"/>
                <a:cs typeface="Times New Roman" panose="02020603050405020304" pitchFamily="18" charset="0"/>
              </a:rPr>
              <a:t>Region service: </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Clr>
                <a:schemeClr val="tx2">
                  <a:lumMod val="75000"/>
                </a:schemeClr>
              </a:buClr>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It’s a transport services whose principal purpose is to meet the transport needs of region.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Clr>
                <a:schemeClr val="tx2">
                  <a:lumMod val="75000"/>
                </a:schemeClr>
              </a:buClr>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Most of the AWS services are Region service.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Clr>
                <a:schemeClr val="tx2">
                  <a:lumMod val="75000"/>
                </a:schemeClr>
              </a:buClr>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Its specific for region only.</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Clr>
                <a:schemeClr val="tx2">
                  <a:lumMod val="75000"/>
                </a:schemeClr>
              </a:buClr>
              <a:buNone/>
            </a:pPr>
            <a:r>
              <a:rPr lang="en-IN" sz="2000" b="1" u="sng" dirty="0">
                <a:effectLst/>
                <a:latin typeface="Times New Roman" panose="02020603050405020304" pitchFamily="18" charset="0"/>
                <a:ea typeface="Calibri" panose="020F0502020204030204" pitchFamily="34" charset="0"/>
                <a:cs typeface="Times New Roman" panose="02020603050405020304" pitchFamily="18" charset="0"/>
              </a:rPr>
              <a:t>Global service:</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Clr>
                <a:schemeClr val="tx2">
                  <a:lumMod val="75000"/>
                </a:schemeClr>
              </a:buClr>
              <a:buNone/>
            </a:pPr>
            <a:r>
              <a:rPr lang="en-IN" sz="2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                           AWS offers a broad set of global cloud-based products including </a:t>
            </a:r>
          </a:p>
          <a:p>
            <a:pPr marL="0" indent="0">
              <a:lnSpc>
                <a:spcPct val="107000"/>
              </a:lnSpc>
              <a:spcAft>
                <a:spcPts val="800"/>
              </a:spcAft>
              <a:buClr>
                <a:schemeClr val="tx2">
                  <a:lumMod val="75000"/>
                </a:schemeClr>
              </a:buClr>
              <a:buNone/>
            </a:pPr>
            <a:r>
              <a:rPr lang="en-IN" sz="20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storage, compute, data base ML &amp; AI, IOT, N/W &amp; much more.</a:t>
            </a:r>
          </a:p>
          <a:p>
            <a:pPr marL="0" indent="0">
              <a:lnSpc>
                <a:spcPct val="107000"/>
              </a:lnSpc>
              <a:spcAft>
                <a:spcPts val="800"/>
              </a:spcAft>
              <a:buClr>
                <a:schemeClr val="tx2">
                  <a:lumMod val="75000"/>
                </a:schemeClr>
              </a:buClr>
              <a:buNone/>
            </a:pPr>
            <a:r>
              <a:rPr lang="en-IN" sz="2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                           Its specific for Global only.</a:t>
            </a:r>
          </a:p>
        </p:txBody>
      </p:sp>
    </p:spTree>
    <p:extLst>
      <p:ext uri="{BB962C8B-B14F-4D97-AF65-F5344CB8AC3E}">
        <p14:creationId xmlns:p14="http://schemas.microsoft.com/office/powerpoint/2010/main" val="4158225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06C43-F428-466D-B376-F57C01138E33}"/>
              </a:ext>
            </a:extLst>
          </p:cNvPr>
          <p:cNvSpPr>
            <a:spLocks noGrp="1"/>
          </p:cNvSpPr>
          <p:nvPr>
            <p:ph type="title"/>
          </p:nvPr>
        </p:nvSpPr>
        <p:spPr>
          <a:xfrm>
            <a:off x="92764" y="106017"/>
            <a:ext cx="11966713" cy="490332"/>
          </a:xfrm>
        </p:spPr>
        <p:txBody>
          <a:bodyPr>
            <a:normAutofit fontScale="90000"/>
          </a:bodyPr>
          <a:lstStyle/>
          <a:p>
            <a:pPr algn="ctr"/>
            <a:r>
              <a:rPr lang="en-IN" sz="3600" dirty="0">
                <a:solidFill>
                  <a:srgbClr val="292929"/>
                </a:solidFill>
                <a:latin typeface="Times New Roman" panose="02020603050405020304" pitchFamily="18" charset="0"/>
                <a:cs typeface="Times New Roman" panose="02020603050405020304" pitchFamily="18" charset="0"/>
              </a:rPr>
              <a:t>Billing &amp; Pricing overview</a:t>
            </a:r>
            <a:br>
              <a:rPr lang="en-IN" sz="3600" dirty="0">
                <a:solidFill>
                  <a:srgbClr val="292929"/>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10DC639-FC67-4210-8915-E4D2D2D3B483}"/>
              </a:ext>
            </a:extLst>
          </p:cNvPr>
          <p:cNvSpPr>
            <a:spLocks noGrp="1"/>
          </p:cNvSpPr>
          <p:nvPr>
            <p:ph idx="1"/>
          </p:nvPr>
        </p:nvSpPr>
        <p:spPr>
          <a:xfrm>
            <a:off x="198783" y="755374"/>
            <a:ext cx="11860693" cy="5996609"/>
          </a:xfrm>
        </p:spPr>
        <p:txBody>
          <a:bodyPr>
            <a:normAutofit/>
          </a:bodyPr>
          <a:lstStyle/>
          <a:p>
            <a:pPr marL="0" indent="0">
              <a:buNone/>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There are 4 fundamental drivers of cost with AWS:</a:t>
            </a:r>
          </a:p>
          <a:p>
            <a:pPr marL="0" indent="0">
              <a:buNone/>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IN" sz="2000" b="1" dirty="0">
                <a:solidFill>
                  <a:schemeClr val="tx1">
                    <a:lumMod val="95000"/>
                    <a:lumOff val="5000"/>
                  </a:schemeClr>
                </a:solidFill>
                <a:latin typeface="Times New Roman" panose="02020603050405020304" pitchFamily="18" charset="0"/>
                <a:cs typeface="Times New Roman" panose="02020603050405020304" pitchFamily="18" charset="0"/>
              </a:rPr>
              <a:t>C</a:t>
            </a: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ompute – </a:t>
            </a: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you pay only for the instance or resource you need, for as long as you use it, without requiring long-       </a:t>
            </a:r>
          </a:p>
          <a:p>
            <a:pPr marL="0" indent="0">
              <a:buNone/>
            </a:pPr>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term contracts or complex licensing.</a:t>
            </a:r>
            <a:endParaRPr lang="en-IN"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 Storage –  </a:t>
            </a: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you pay only for the instance or resource you need to store the data’</a:t>
            </a:r>
            <a:endPar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0" indent="0">
              <a:buNone/>
            </a:pPr>
            <a:r>
              <a:rPr lang="en-IN" sz="2000" b="1" dirty="0">
                <a:solidFill>
                  <a:schemeClr val="tx1">
                    <a:lumMod val="95000"/>
                    <a:lumOff val="5000"/>
                  </a:schemeClr>
                </a:solidFill>
                <a:latin typeface="Times New Roman" panose="02020603050405020304" pitchFamily="18" charset="0"/>
                <a:cs typeface="Times New Roman" panose="02020603050405020304" pitchFamily="18" charset="0"/>
              </a:rPr>
              <a:t>In</a:t>
            </a: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bound data transfer – </a:t>
            </a: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(that is, packet data that is destined for the Amazon cloud servers</a:t>
            </a:r>
          </a:p>
          <a:p>
            <a:pPr marL="0" indent="0">
              <a:buNone/>
            </a:pP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example, uploads and client requests) are free.</a:t>
            </a:r>
          </a:p>
          <a:p>
            <a:pPr marL="0" indent="0">
              <a:buNone/>
            </a:pPr>
            <a:r>
              <a:rPr lang="en-IN" sz="2000" b="1" dirty="0">
                <a:solidFill>
                  <a:schemeClr val="tx1">
                    <a:lumMod val="95000"/>
                    <a:lumOff val="5000"/>
                  </a:schemeClr>
                </a:solidFill>
                <a:latin typeface="Times New Roman" panose="02020603050405020304" pitchFamily="18" charset="0"/>
                <a:cs typeface="Times New Roman" panose="02020603050405020304" pitchFamily="18" charset="0"/>
              </a:rPr>
              <a:t>O</a:t>
            </a: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utbound data transfer – </a:t>
            </a: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is billed (that is, downloads from the cloud and responses to client requests).</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B7C203A-1EA7-423E-A720-73B9A762F95B}"/>
              </a:ext>
            </a:extLst>
          </p:cNvPr>
          <p:cNvPicPr>
            <a:picLocks noChangeAspect="1"/>
          </p:cNvPicPr>
          <p:nvPr/>
        </p:nvPicPr>
        <p:blipFill>
          <a:blip r:embed="rId2"/>
          <a:stretch>
            <a:fillRect/>
          </a:stretch>
        </p:blipFill>
        <p:spPr>
          <a:xfrm>
            <a:off x="198783" y="3763616"/>
            <a:ext cx="11489634" cy="2888975"/>
          </a:xfrm>
          <a:prstGeom prst="rect">
            <a:avLst/>
          </a:prstGeom>
        </p:spPr>
      </p:pic>
    </p:spTree>
    <p:extLst>
      <p:ext uri="{BB962C8B-B14F-4D97-AF65-F5344CB8AC3E}">
        <p14:creationId xmlns:p14="http://schemas.microsoft.com/office/powerpoint/2010/main" val="1292074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C3D4A-9072-44AE-A558-E75E0DB9A657}"/>
              </a:ext>
            </a:extLst>
          </p:cNvPr>
          <p:cNvSpPr>
            <a:spLocks noGrp="1"/>
          </p:cNvSpPr>
          <p:nvPr>
            <p:ph type="title"/>
          </p:nvPr>
        </p:nvSpPr>
        <p:spPr>
          <a:xfrm>
            <a:off x="172279" y="119270"/>
            <a:ext cx="11648660" cy="697368"/>
          </a:xfrm>
        </p:spPr>
        <p:txBody>
          <a:bodyPr/>
          <a:lstStyle/>
          <a:p>
            <a:pPr algn="ctr"/>
            <a:r>
              <a:rPr lang="en-IN" sz="3600" dirty="0">
                <a:solidFill>
                  <a:srgbClr val="292929"/>
                </a:solidFill>
                <a:latin typeface="Times New Roman" panose="02020603050405020304" pitchFamily="18" charset="0"/>
                <a:cs typeface="Times New Roman" panose="02020603050405020304" pitchFamily="18" charset="0"/>
              </a:rPr>
              <a:t>Access AWS Services</a:t>
            </a:r>
            <a:endParaRPr lang="en-IN" dirty="0"/>
          </a:p>
        </p:txBody>
      </p:sp>
      <p:sp>
        <p:nvSpPr>
          <p:cNvPr id="3" name="Content Placeholder 2">
            <a:extLst>
              <a:ext uri="{FF2B5EF4-FFF2-40B4-BE49-F238E27FC236}">
                <a16:creationId xmlns:a16="http://schemas.microsoft.com/office/drawing/2014/main" id="{4F249BB2-F009-441F-A121-55932A0FE814}"/>
              </a:ext>
            </a:extLst>
          </p:cNvPr>
          <p:cNvSpPr>
            <a:spLocks noGrp="1"/>
          </p:cNvSpPr>
          <p:nvPr>
            <p:ph idx="1"/>
          </p:nvPr>
        </p:nvSpPr>
        <p:spPr>
          <a:xfrm>
            <a:off x="172279" y="1046922"/>
            <a:ext cx="11860695" cy="5691807"/>
          </a:xfrm>
        </p:spPr>
        <p:txBody>
          <a:bodyPr/>
          <a:lstStyle/>
          <a:p>
            <a:pPr marL="0" indent="0">
              <a:lnSpc>
                <a:spcPct val="107000"/>
              </a:lnSpc>
              <a:spcAft>
                <a:spcPts val="800"/>
              </a:spcAft>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To access the AWS services:</a:t>
            </a:r>
          </a:p>
          <a:p>
            <a:pPr marL="0" indent="0">
              <a:lnSpc>
                <a:spcPct val="107000"/>
              </a:lnSpc>
              <a:spcAft>
                <a:spcPts val="800"/>
              </a:spcAft>
              <a:buNone/>
            </a:pP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AWS Management Console (AMC).</a:t>
            </a:r>
          </a:p>
          <a:p>
            <a:pPr marL="0" indent="0">
              <a:lnSpc>
                <a:spcPct val="107000"/>
              </a:lnSpc>
              <a:spcAft>
                <a:spcPts val="800"/>
              </a:spcAft>
              <a:buNone/>
            </a:pP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 access by using console.</a:t>
            </a:r>
          </a:p>
          <a:p>
            <a:pPr marL="0" indent="0">
              <a:lnSpc>
                <a:spcPct val="107000"/>
              </a:lnSpc>
              <a:spcAft>
                <a:spcPts val="800"/>
              </a:spcAft>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Command Line Interface (CLI). </a:t>
            </a:r>
          </a:p>
          <a:p>
            <a:pPr marL="0" indent="0">
              <a:lnSpc>
                <a:spcPct val="107000"/>
              </a:lnSpc>
              <a:spcAft>
                <a:spcPts val="800"/>
              </a:spcAft>
              <a:buNone/>
            </a:pPr>
            <a:r>
              <a:rPr lang="en-IN" sz="2400" dirty="0">
                <a:latin typeface="Times New Roman" panose="02020603050405020304" pitchFamily="18" charset="0"/>
                <a:ea typeface="Calibri" panose="020F0502020204030204" pitchFamily="34" charset="0"/>
                <a:cs typeface="Times New Roman" panose="02020603050405020304" pitchFamily="18" charset="0"/>
              </a:rPr>
              <a:t>                                                                                                        – access by using commands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Application Program Interface (API).</a:t>
            </a:r>
          </a:p>
          <a:p>
            <a:pPr marL="0" indent="0">
              <a:lnSpc>
                <a:spcPct val="107000"/>
              </a:lnSpc>
              <a:spcAft>
                <a:spcPts val="800"/>
              </a:spcAft>
              <a:buNone/>
            </a:pP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 access by using programs</a:t>
            </a:r>
          </a:p>
          <a:p>
            <a:endParaRPr lang="en-IN" dirty="0"/>
          </a:p>
        </p:txBody>
      </p:sp>
    </p:spTree>
    <p:extLst>
      <p:ext uri="{BB962C8B-B14F-4D97-AF65-F5344CB8AC3E}">
        <p14:creationId xmlns:p14="http://schemas.microsoft.com/office/powerpoint/2010/main" val="3742103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1C1D60-9792-4C5D-8A50-D041A8ECA4FC}"/>
              </a:ext>
            </a:extLst>
          </p:cNvPr>
          <p:cNvPicPr>
            <a:picLocks noChangeAspect="1"/>
          </p:cNvPicPr>
          <p:nvPr/>
        </p:nvPicPr>
        <p:blipFill>
          <a:blip r:embed="rId2"/>
          <a:stretch>
            <a:fillRect/>
          </a:stretch>
        </p:blipFill>
        <p:spPr>
          <a:xfrm>
            <a:off x="106020" y="3429000"/>
            <a:ext cx="7315196" cy="3366051"/>
          </a:xfrm>
          <a:prstGeom prst="rect">
            <a:avLst/>
          </a:prstGeom>
        </p:spPr>
      </p:pic>
      <p:pic>
        <p:nvPicPr>
          <p:cNvPr id="3" name="Picture 2">
            <a:extLst>
              <a:ext uri="{FF2B5EF4-FFF2-40B4-BE49-F238E27FC236}">
                <a16:creationId xmlns:a16="http://schemas.microsoft.com/office/drawing/2014/main" id="{589BCD18-F3C9-46A0-849C-266D7F5D83D6}"/>
              </a:ext>
            </a:extLst>
          </p:cNvPr>
          <p:cNvPicPr>
            <a:picLocks noChangeAspect="1"/>
          </p:cNvPicPr>
          <p:nvPr/>
        </p:nvPicPr>
        <p:blipFill>
          <a:blip r:embed="rId3"/>
          <a:stretch>
            <a:fillRect/>
          </a:stretch>
        </p:blipFill>
        <p:spPr>
          <a:xfrm>
            <a:off x="7421216" y="0"/>
            <a:ext cx="4664765" cy="4770782"/>
          </a:xfrm>
          <a:prstGeom prst="rect">
            <a:avLst/>
          </a:prstGeom>
        </p:spPr>
      </p:pic>
      <p:pic>
        <p:nvPicPr>
          <p:cNvPr id="4" name="Picture 3">
            <a:extLst>
              <a:ext uri="{FF2B5EF4-FFF2-40B4-BE49-F238E27FC236}">
                <a16:creationId xmlns:a16="http://schemas.microsoft.com/office/drawing/2014/main" id="{B765F7A3-4412-433E-9A0B-39AF6D607F3B}"/>
              </a:ext>
            </a:extLst>
          </p:cNvPr>
          <p:cNvPicPr>
            <a:picLocks noChangeAspect="1"/>
          </p:cNvPicPr>
          <p:nvPr/>
        </p:nvPicPr>
        <p:blipFill>
          <a:blip r:embed="rId4"/>
          <a:stretch>
            <a:fillRect/>
          </a:stretch>
        </p:blipFill>
        <p:spPr>
          <a:xfrm>
            <a:off x="254898" y="117922"/>
            <a:ext cx="7017440" cy="3311077"/>
          </a:xfrm>
          <a:prstGeom prst="rect">
            <a:avLst/>
          </a:prstGeom>
        </p:spPr>
      </p:pic>
    </p:spTree>
    <p:extLst>
      <p:ext uri="{BB962C8B-B14F-4D97-AF65-F5344CB8AC3E}">
        <p14:creationId xmlns:p14="http://schemas.microsoft.com/office/powerpoint/2010/main" val="2767283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DDBDB-934E-41BC-BFDF-EEE48E1692AA}"/>
              </a:ext>
            </a:extLst>
          </p:cNvPr>
          <p:cNvSpPr>
            <a:spLocks noGrp="1"/>
          </p:cNvSpPr>
          <p:nvPr>
            <p:ph type="title"/>
          </p:nvPr>
        </p:nvSpPr>
        <p:spPr>
          <a:xfrm>
            <a:off x="0" y="99391"/>
            <a:ext cx="12192000" cy="622852"/>
          </a:xfrm>
        </p:spPr>
        <p:txBody>
          <a:bodyPr>
            <a:normAutofit fontScale="90000"/>
          </a:bodyPr>
          <a:lstStyle/>
          <a:p>
            <a:pPr algn="ctr"/>
            <a:r>
              <a:rPr lang="en-IN" sz="3600" dirty="0">
                <a:solidFill>
                  <a:srgbClr val="292929"/>
                </a:solidFill>
                <a:latin typeface="Times New Roman" panose="02020603050405020304" pitchFamily="18" charset="0"/>
                <a:cs typeface="Times New Roman" panose="02020603050405020304" pitchFamily="18" charset="0"/>
              </a:rPr>
              <a:t>IAM Services / IAM Authorization types / Root user V/S IAM user</a:t>
            </a:r>
            <a:br>
              <a:rPr lang="en-IN" sz="3600" dirty="0">
                <a:solidFill>
                  <a:srgbClr val="292929"/>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A613463-BA11-469B-AFEE-A8368A1999A1}"/>
              </a:ext>
            </a:extLst>
          </p:cNvPr>
          <p:cNvSpPr>
            <a:spLocks noGrp="1"/>
          </p:cNvSpPr>
          <p:nvPr>
            <p:ph idx="1"/>
          </p:nvPr>
        </p:nvSpPr>
        <p:spPr>
          <a:xfrm>
            <a:off x="-1" y="816638"/>
            <a:ext cx="12191999" cy="5941971"/>
          </a:xfrm>
        </p:spPr>
        <p:txBody>
          <a:bodyPr>
            <a:normAutofit fontScale="92500"/>
          </a:bodyPr>
          <a:lstStyle/>
          <a:p>
            <a:pPr marL="0" indent="0">
              <a:lnSpc>
                <a:spcPct val="107000"/>
              </a:lnSpc>
              <a:spcAft>
                <a:spcPts val="800"/>
              </a:spcAft>
              <a:buNone/>
            </a:pPr>
            <a:r>
              <a:rPr lang="en-IN" sz="14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Identity and Access Management (IAM) </a:t>
            </a:r>
            <a:r>
              <a:rPr lang="en-IN"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is a web service that helps you securely control access to AWS resource. You use IAM to control who is authenticated (signed in) and authorized (has permissions) to use resources.</a:t>
            </a:r>
          </a:p>
          <a:p>
            <a:pPr marL="0" indent="0">
              <a:buNone/>
            </a:pPr>
            <a:r>
              <a:rPr lang="en-IN" sz="2400" b="1" dirty="0">
                <a:solidFill>
                  <a:srgbClr val="292929"/>
                </a:solidFill>
                <a:latin typeface="Times New Roman" panose="02020603050405020304" pitchFamily="18" charset="0"/>
                <a:cs typeface="Times New Roman" panose="02020603050405020304" pitchFamily="18" charset="0"/>
              </a:rPr>
              <a:t>IAM Authorization types</a:t>
            </a:r>
          </a:p>
          <a:p>
            <a:pPr marL="0" indent="0">
              <a:buNone/>
            </a:pPr>
            <a:r>
              <a:rPr lang="en-IN" sz="2400" dirty="0">
                <a:solidFill>
                  <a:srgbClr val="292929"/>
                </a:solidFill>
                <a:latin typeface="Times New Roman" panose="02020603050405020304" pitchFamily="18" charset="0"/>
                <a:cs typeface="Times New Roman" panose="02020603050405020304" pitchFamily="18" charset="0"/>
              </a:rPr>
              <a:t>                                           Identity based policy </a:t>
            </a:r>
          </a:p>
          <a:p>
            <a:pPr marL="0" indent="0">
              <a:buNone/>
            </a:pPr>
            <a:r>
              <a:rPr lang="en-IN" sz="2400" dirty="0">
                <a:solidFill>
                  <a:srgbClr val="292929"/>
                </a:solidFill>
                <a:latin typeface="Times New Roman" panose="02020603050405020304" pitchFamily="18" charset="0"/>
                <a:cs typeface="Times New Roman" panose="02020603050405020304" pitchFamily="18" charset="0"/>
              </a:rPr>
              <a:t>                                           Resource based policy </a:t>
            </a:r>
          </a:p>
          <a:p>
            <a:pPr marL="0" indent="0">
              <a:buNone/>
            </a:pPr>
            <a:r>
              <a:rPr lang="en-IN" sz="2400" b="1" dirty="0">
                <a:solidFill>
                  <a:srgbClr val="292929"/>
                </a:solidFill>
                <a:latin typeface="Times New Roman" panose="02020603050405020304" pitchFamily="18" charset="0"/>
                <a:cs typeface="Times New Roman" panose="02020603050405020304" pitchFamily="18" charset="0"/>
              </a:rPr>
              <a:t>Root user </a:t>
            </a:r>
          </a:p>
          <a:p>
            <a:pPr marL="0" indent="0">
              <a:buNone/>
            </a:pPr>
            <a:r>
              <a:rPr lang="en-IN" sz="2400" i="0" dirty="0">
                <a:solidFill>
                  <a:schemeClr val="tx1">
                    <a:lumMod val="95000"/>
                    <a:lumOff val="5000"/>
                  </a:schemeClr>
                </a:solidFill>
                <a:effectLst/>
                <a:latin typeface="Times New Roman" panose="02020603050405020304" pitchFamily="18" charset="0"/>
                <a:cs typeface="Times New Roman" panose="02020603050405020304" pitchFamily="18" charset="0"/>
              </a:rPr>
              <a:t>When you first create an Amazon Web Services (AWS) account, you begin with one identity that has complete access to all AWS services and resources in the account. This identity is called the AWS account root user. You can sign in as the root user using the email address and password that you used to create the account.</a:t>
            </a:r>
          </a:p>
          <a:p>
            <a:pPr marL="0" indent="0">
              <a:buNone/>
            </a:pPr>
            <a:r>
              <a:rPr lang="en-IN" sz="2600" b="1" dirty="0">
                <a:solidFill>
                  <a:srgbClr val="292929"/>
                </a:solidFill>
                <a:latin typeface="Times New Roman" panose="02020603050405020304" pitchFamily="18" charset="0"/>
                <a:cs typeface="Times New Roman" panose="02020603050405020304" pitchFamily="18" charset="0"/>
              </a:rPr>
              <a:t>IAM user</a:t>
            </a:r>
          </a:p>
          <a:p>
            <a:pPr marL="0" indent="0">
              <a:buNone/>
            </a:pPr>
            <a:r>
              <a:rPr lang="en-IN" sz="2400" i="0" dirty="0">
                <a:solidFill>
                  <a:schemeClr val="tx1">
                    <a:lumMod val="95000"/>
                    <a:lumOff val="5000"/>
                  </a:schemeClr>
                </a:solidFill>
                <a:effectLst/>
                <a:latin typeface="Times New Roman" panose="02020603050405020304" pitchFamily="18" charset="0"/>
                <a:cs typeface="Times New Roman" panose="02020603050405020304" pitchFamily="18" charset="0"/>
              </a:rPr>
              <a:t>An AWS Identity and Access Management (IAM) user is an entity that you create in AWS to represent the person or application that uses it to interact with AWS. A user in AWS consists of a name and credentials. An IAM user with administrator permissions is not the same thing as the AWS account root user.</a:t>
            </a:r>
            <a:endParaRPr lang="en-IN" sz="2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5" name="Picture 2" descr="Set IAM Policies Unit | Salesforce Trailhead">
            <a:extLst>
              <a:ext uri="{FF2B5EF4-FFF2-40B4-BE49-F238E27FC236}">
                <a16:creationId xmlns:a16="http://schemas.microsoft.com/office/drawing/2014/main" id="{252B8944-64B8-4A1B-9241-EBD8E3F474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1841" y="1510748"/>
            <a:ext cx="4754626" cy="2089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859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96BC-78E3-495A-AB49-15FD5831DA09}"/>
              </a:ext>
            </a:extLst>
          </p:cNvPr>
          <p:cNvSpPr>
            <a:spLocks noGrp="1"/>
          </p:cNvSpPr>
          <p:nvPr>
            <p:ph type="title"/>
          </p:nvPr>
        </p:nvSpPr>
        <p:spPr>
          <a:xfrm>
            <a:off x="132522" y="119270"/>
            <a:ext cx="11940208" cy="583095"/>
          </a:xfrm>
        </p:spPr>
        <p:txBody>
          <a:bodyPr>
            <a:normAutofit fontScale="90000"/>
          </a:bodyPr>
          <a:lstStyle/>
          <a:p>
            <a:pPr algn="ctr"/>
            <a:r>
              <a:rPr lang="en-IN" sz="3600" dirty="0">
                <a:solidFill>
                  <a:srgbClr val="292929"/>
                </a:solidFill>
                <a:latin typeface="Times New Roman" panose="02020603050405020304" pitchFamily="18" charset="0"/>
                <a:cs typeface="Times New Roman" panose="02020603050405020304" pitchFamily="18" charset="0"/>
              </a:rPr>
              <a:t>Principle / Authentication / Authorization / MFA</a:t>
            </a:r>
            <a:br>
              <a:rPr lang="en-IN" sz="3600" dirty="0">
                <a:solidFill>
                  <a:srgbClr val="292929"/>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2D7BEFE-6868-47B5-9C43-5E13C4210EC2}"/>
              </a:ext>
            </a:extLst>
          </p:cNvPr>
          <p:cNvSpPr>
            <a:spLocks noGrp="1"/>
          </p:cNvSpPr>
          <p:nvPr>
            <p:ph idx="1"/>
          </p:nvPr>
        </p:nvSpPr>
        <p:spPr>
          <a:xfrm>
            <a:off x="119270" y="702365"/>
            <a:ext cx="11953460" cy="6155635"/>
          </a:xfrm>
        </p:spPr>
        <p:txBody>
          <a:bodyPr>
            <a:normAutofit lnSpcReduction="10000"/>
          </a:bodyPr>
          <a:lstStyle/>
          <a:p>
            <a:pPr marL="0" indent="0">
              <a:lnSpc>
                <a:spcPct val="107000"/>
              </a:lnSpc>
              <a:spcAft>
                <a:spcPts val="800"/>
              </a:spcAft>
              <a:buNone/>
            </a:pPr>
            <a:r>
              <a:rPr lang="en-IN" sz="2400" b="1" dirty="0">
                <a:solidFill>
                  <a:srgbClr val="292929"/>
                </a:solidFill>
                <a:latin typeface="Times New Roman" panose="02020603050405020304" pitchFamily="18" charset="0"/>
                <a:cs typeface="Times New Roman" panose="02020603050405020304" pitchFamily="18" charset="0"/>
              </a:rPr>
              <a:t>Principle</a:t>
            </a:r>
            <a:r>
              <a:rPr lang="en-IN" sz="2400" dirty="0">
                <a:solidFill>
                  <a:srgbClr val="292929"/>
                </a:solidFill>
                <a:latin typeface="Times New Roman" panose="02020603050405020304" pitchFamily="18" charset="0"/>
                <a:cs typeface="Times New Roman" panose="02020603050405020304" pitchFamily="18" charset="0"/>
              </a:rPr>
              <a:t> </a:t>
            </a:r>
          </a:p>
          <a:p>
            <a:pPr>
              <a:lnSpc>
                <a:spcPct val="107000"/>
              </a:lnSpc>
              <a:spcAft>
                <a:spcPts val="800"/>
              </a:spcAft>
              <a:buClr>
                <a:schemeClr val="tx2">
                  <a:lumMod val="75000"/>
                </a:schemeClr>
              </a:buClr>
              <a:buFont typeface="Wingdings" panose="05000000000000000000" pitchFamily="2" charset="2"/>
              <a:buChar char="Ø"/>
            </a:pPr>
            <a:r>
              <a:rPr lang="en-IN" sz="2400" b="0" i="0" dirty="0">
                <a:solidFill>
                  <a:srgbClr val="BDC1C6"/>
                </a:solidFill>
                <a:effectLst/>
                <a:latin typeface="arial" panose="020B0604020202020204" pitchFamily="34" charset="0"/>
              </a:rPr>
              <a:t> </a:t>
            </a:r>
            <a:r>
              <a:rPr lang="en-IN" sz="2400" i="0" dirty="0">
                <a:solidFill>
                  <a:schemeClr val="tx1">
                    <a:lumMod val="95000"/>
                    <a:lumOff val="5000"/>
                  </a:schemeClr>
                </a:solidFill>
                <a:effectLst/>
                <a:latin typeface="Times New Roman" panose="02020603050405020304" pitchFamily="18" charset="0"/>
                <a:cs typeface="Times New Roman" panose="02020603050405020304" pitchFamily="18" charset="0"/>
              </a:rPr>
              <a:t>is a person or application that can make a request for an action or operation on an AWS resource</a:t>
            </a:r>
            <a:r>
              <a:rPr lang="en-IN" sz="2400" b="0" i="0" dirty="0">
                <a:solidFill>
                  <a:srgbClr val="BDC1C6"/>
                </a:solidFill>
                <a:effectLst/>
                <a:latin typeface="arial" panose="020B0604020202020204" pitchFamily="34" charset="0"/>
              </a:rPr>
              <a:t>.</a:t>
            </a:r>
            <a:endParaRPr lang="en-IN" sz="2400" b="1" dirty="0">
              <a:solidFill>
                <a:srgbClr val="292929"/>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Authentication</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buClr>
                <a:schemeClr val="tx2">
                  <a:lumMod val="75000"/>
                </a:schemeClr>
              </a:buClr>
              <a:buFont typeface="Wingdings" panose="05000000000000000000" pitchFamily="2" charset="2"/>
              <a:buChar char="Ø"/>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is how you sign in to AWS using your credentials. </a:t>
            </a:r>
          </a:p>
          <a:p>
            <a:pPr>
              <a:lnSpc>
                <a:spcPct val="107000"/>
              </a:lnSpc>
              <a:spcAft>
                <a:spcPts val="800"/>
              </a:spcAft>
              <a:buClr>
                <a:schemeClr val="tx2">
                  <a:lumMod val="75000"/>
                </a:schemeClr>
              </a:buClr>
              <a:buFont typeface="Wingdings" panose="05000000000000000000" pitchFamily="2" charset="2"/>
              <a:buChar char="Ø"/>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You must be authenticated (signed in to AWS) as the AWS account root user, an IAM user, or by assuming an IAM role.</a:t>
            </a:r>
          </a:p>
          <a:p>
            <a:pPr marL="0" indent="0">
              <a:lnSpc>
                <a:spcPct val="107000"/>
              </a:lnSpc>
              <a:spcAft>
                <a:spcPts val="800"/>
              </a:spcAft>
              <a:buNone/>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Authorization</a:t>
            </a:r>
          </a:p>
          <a:p>
            <a:pPr>
              <a:lnSpc>
                <a:spcPct val="107000"/>
              </a:lnSpc>
              <a:spcAft>
                <a:spcPts val="800"/>
              </a:spcAft>
              <a:buClr>
                <a:schemeClr val="tx2">
                  <a:lumMod val="75000"/>
                </a:schemeClr>
              </a:buClr>
              <a:buFont typeface="Wingdings" panose="05000000000000000000" pitchFamily="2" charset="2"/>
              <a:buChar char="Ø"/>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that determines what an identity can access within a system once it's been authenticated. </a:t>
            </a:r>
          </a:p>
          <a:p>
            <a:pPr>
              <a:lnSpc>
                <a:spcPct val="107000"/>
              </a:lnSpc>
              <a:spcAft>
                <a:spcPts val="800"/>
              </a:spcAft>
              <a:buClr>
                <a:schemeClr val="tx2">
                  <a:lumMod val="75000"/>
                </a:schemeClr>
              </a:buClr>
              <a:buFont typeface="Wingdings" panose="05000000000000000000" pitchFamily="2" charset="2"/>
              <a:buChar char="Ø"/>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An example of this would be an identity's permissions to access specific AWS resources.</a:t>
            </a:r>
          </a:p>
          <a:p>
            <a:pPr marL="0" indent="0">
              <a:buNone/>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Multi-factor authentication (MFA) </a:t>
            </a:r>
          </a:p>
          <a:p>
            <a:pPr>
              <a:buClr>
                <a:schemeClr val="tx2">
                  <a:lumMod val="75000"/>
                </a:schemeClr>
              </a:buClr>
              <a:buFont typeface="Wingdings" panose="05000000000000000000" pitchFamily="2" charset="2"/>
              <a:buChar char="Ø"/>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 AWS is a simple best practice that adds an extra layer of protection on top of your user’s name and password.</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0E77B24-64F5-47C8-B6DF-1CF640C88389}"/>
              </a:ext>
            </a:extLst>
          </p:cNvPr>
          <p:cNvPicPr>
            <a:picLocks noChangeAspect="1"/>
          </p:cNvPicPr>
          <p:nvPr/>
        </p:nvPicPr>
        <p:blipFill>
          <a:blip r:embed="rId2"/>
          <a:stretch>
            <a:fillRect/>
          </a:stretch>
        </p:blipFill>
        <p:spPr>
          <a:xfrm>
            <a:off x="9691963" y="3916018"/>
            <a:ext cx="2500037" cy="2239617"/>
          </a:xfrm>
          <a:prstGeom prst="rect">
            <a:avLst/>
          </a:prstGeom>
        </p:spPr>
      </p:pic>
      <p:pic>
        <p:nvPicPr>
          <p:cNvPr id="5" name="Picture 4">
            <a:extLst>
              <a:ext uri="{FF2B5EF4-FFF2-40B4-BE49-F238E27FC236}">
                <a16:creationId xmlns:a16="http://schemas.microsoft.com/office/drawing/2014/main" id="{C7494682-5FDB-40E3-B979-E151F501AEE4}"/>
              </a:ext>
            </a:extLst>
          </p:cNvPr>
          <p:cNvPicPr>
            <a:picLocks noChangeAspect="1"/>
          </p:cNvPicPr>
          <p:nvPr/>
        </p:nvPicPr>
        <p:blipFill>
          <a:blip r:embed="rId3"/>
          <a:stretch>
            <a:fillRect/>
          </a:stretch>
        </p:blipFill>
        <p:spPr>
          <a:xfrm>
            <a:off x="5844209" y="1721579"/>
            <a:ext cx="3975652" cy="1660733"/>
          </a:xfrm>
          <a:prstGeom prst="rect">
            <a:avLst/>
          </a:prstGeom>
        </p:spPr>
      </p:pic>
    </p:spTree>
    <p:extLst>
      <p:ext uri="{BB962C8B-B14F-4D97-AF65-F5344CB8AC3E}">
        <p14:creationId xmlns:p14="http://schemas.microsoft.com/office/powerpoint/2010/main" val="14931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8A4FD-6CB3-4C6D-846D-DAB0BFD4ED69}"/>
              </a:ext>
            </a:extLst>
          </p:cNvPr>
          <p:cNvSpPr>
            <a:spLocks noGrp="1"/>
          </p:cNvSpPr>
          <p:nvPr>
            <p:ph type="title"/>
          </p:nvPr>
        </p:nvSpPr>
        <p:spPr>
          <a:xfrm>
            <a:off x="185530" y="92766"/>
            <a:ext cx="11887200" cy="569844"/>
          </a:xfrm>
        </p:spPr>
        <p:txBody>
          <a:bodyPr>
            <a:normAutofit fontScale="90000"/>
          </a:bodyPr>
          <a:lstStyle/>
          <a:p>
            <a:pPr algn="ctr"/>
            <a:r>
              <a:rPr lang="en-IN" sz="3600" dirty="0">
                <a:solidFill>
                  <a:srgbClr val="292929"/>
                </a:solidFill>
                <a:latin typeface="Times New Roman" panose="02020603050405020304" pitchFamily="18" charset="0"/>
                <a:cs typeface="Times New Roman" panose="02020603050405020304" pitchFamily="18" charset="0"/>
              </a:rPr>
              <a:t>Add users / Group users / Roles - in IAM</a:t>
            </a:r>
            <a:br>
              <a:rPr lang="en-IN" sz="3600" dirty="0">
                <a:solidFill>
                  <a:srgbClr val="292929"/>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C48D2EA-B5E3-4043-8766-1156269B5219}"/>
              </a:ext>
            </a:extLst>
          </p:cNvPr>
          <p:cNvSpPr>
            <a:spLocks noGrp="1"/>
          </p:cNvSpPr>
          <p:nvPr>
            <p:ph idx="1"/>
          </p:nvPr>
        </p:nvSpPr>
        <p:spPr>
          <a:xfrm>
            <a:off x="0" y="662609"/>
            <a:ext cx="12192000" cy="6195391"/>
          </a:xfrm>
        </p:spPr>
        <p:txBody>
          <a:bodyPr>
            <a:normAutofit lnSpcReduction="10000"/>
          </a:bodyPr>
          <a:lstStyle/>
          <a:p>
            <a:pPr marL="0" indent="0" algn="l">
              <a:buNone/>
            </a:pPr>
            <a:r>
              <a:rPr lang="en-IN" sz="2400" b="1" i="0" dirty="0">
                <a:solidFill>
                  <a:schemeClr val="tx1"/>
                </a:solidFill>
                <a:effectLst/>
                <a:latin typeface="Times New Roman" panose="02020603050405020304" pitchFamily="18" charset="0"/>
                <a:cs typeface="Times New Roman" panose="02020603050405020304" pitchFamily="18" charset="0"/>
              </a:rPr>
              <a:t>IAM users </a:t>
            </a:r>
          </a:p>
          <a:p>
            <a:pPr algn="l">
              <a:buClr>
                <a:schemeClr val="tx2">
                  <a:lumMod val="75000"/>
                </a:schemeClr>
              </a:buClr>
              <a:buFont typeface="Wingdings" panose="05000000000000000000" pitchFamily="2" charset="2"/>
              <a:buChar char="q"/>
            </a:pPr>
            <a:r>
              <a:rPr lang="en-IN" sz="2000" dirty="0">
                <a:solidFill>
                  <a:schemeClr val="tx1"/>
                </a:solidFill>
                <a:latin typeface="Times New Roman" panose="02020603050405020304" pitchFamily="18" charset="0"/>
                <a:cs typeface="Times New Roman" panose="02020603050405020304" pitchFamily="18" charset="0"/>
              </a:rPr>
              <a:t>IT’</a:t>
            </a:r>
            <a:r>
              <a:rPr lang="en-IN" sz="2000" i="0" dirty="0">
                <a:solidFill>
                  <a:schemeClr val="tx1"/>
                </a:solidFill>
                <a:effectLst/>
                <a:latin typeface="Times New Roman" panose="02020603050405020304" pitchFamily="18" charset="0"/>
                <a:cs typeface="Times New Roman" panose="02020603050405020304" pitchFamily="18" charset="0"/>
              </a:rPr>
              <a:t>s a resource in IAM that has associated credentials and permissions.</a:t>
            </a:r>
          </a:p>
          <a:p>
            <a:pPr algn="l">
              <a:buClr>
                <a:schemeClr val="tx2">
                  <a:lumMod val="75000"/>
                </a:schemeClr>
              </a:buClr>
              <a:buFont typeface="Wingdings" panose="05000000000000000000" pitchFamily="2" charset="2"/>
              <a:buChar char="q"/>
            </a:pPr>
            <a:r>
              <a:rPr lang="en-IN" sz="2000" i="0" dirty="0">
                <a:solidFill>
                  <a:schemeClr val="tx1"/>
                </a:solidFill>
                <a:effectLst/>
                <a:latin typeface="Times New Roman" panose="02020603050405020304" pitchFamily="18" charset="0"/>
                <a:cs typeface="Times New Roman" panose="02020603050405020304" pitchFamily="18" charset="0"/>
              </a:rPr>
              <a:t> An IAM user can represent a person or an application that uses its credentials to make AWS requests. </a:t>
            </a:r>
          </a:p>
          <a:p>
            <a:pPr algn="l">
              <a:buClr>
                <a:schemeClr val="tx2">
                  <a:lumMod val="75000"/>
                </a:schemeClr>
              </a:buClr>
              <a:buFont typeface="Wingdings" panose="05000000000000000000" pitchFamily="2" charset="2"/>
              <a:buChar char="q"/>
            </a:pPr>
            <a:r>
              <a:rPr lang="en-IN" sz="2000" i="0" dirty="0">
                <a:solidFill>
                  <a:schemeClr val="tx1"/>
                </a:solidFill>
                <a:effectLst/>
                <a:latin typeface="Times New Roman" panose="02020603050405020304" pitchFamily="18" charset="0"/>
                <a:cs typeface="Times New Roman" panose="02020603050405020304" pitchFamily="18" charset="0"/>
              </a:rPr>
              <a:t>This is typically referred to as a service account.</a:t>
            </a:r>
          </a:p>
          <a:p>
            <a:pPr algn="l"/>
            <a:endParaRPr lang="en-IN" sz="2000" dirty="0">
              <a:solidFill>
                <a:schemeClr val="tx1"/>
              </a:solidFill>
              <a:latin typeface="Times New Roman" panose="02020603050405020304" pitchFamily="18" charset="0"/>
              <a:cs typeface="Times New Roman" panose="02020603050405020304" pitchFamily="18" charset="0"/>
            </a:endParaRPr>
          </a:p>
          <a:p>
            <a:pPr marL="0" indent="0" algn="l">
              <a:buNone/>
            </a:pPr>
            <a:r>
              <a:rPr lang="en-IN" sz="2400" b="1" i="0" dirty="0">
                <a:solidFill>
                  <a:schemeClr val="tx1"/>
                </a:solidFill>
                <a:effectLst/>
                <a:latin typeface="Times New Roman" panose="02020603050405020304" pitchFamily="18" charset="0"/>
                <a:cs typeface="Times New Roman" panose="02020603050405020304" pitchFamily="18" charset="0"/>
              </a:rPr>
              <a:t>IAM Group users</a:t>
            </a:r>
          </a:p>
          <a:p>
            <a:pPr algn="l">
              <a:buClr>
                <a:schemeClr val="tx2">
                  <a:lumMod val="75000"/>
                </a:schemeClr>
              </a:buClr>
              <a:buFont typeface="Wingdings" panose="05000000000000000000" pitchFamily="2" charset="2"/>
              <a:buChar char="q"/>
            </a:pPr>
            <a:r>
              <a:rPr lang="en-IN" sz="2000" i="0" dirty="0">
                <a:solidFill>
                  <a:schemeClr val="tx1"/>
                </a:solidFill>
                <a:effectLst/>
                <a:latin typeface="Times New Roman" panose="02020603050405020304" pitchFamily="18" charset="0"/>
                <a:cs typeface="Times New Roman" panose="02020603050405020304" pitchFamily="18" charset="0"/>
              </a:rPr>
              <a:t> It’s a collection of IAM users.</a:t>
            </a:r>
          </a:p>
          <a:p>
            <a:pPr algn="l">
              <a:buClr>
                <a:schemeClr val="tx2">
                  <a:lumMod val="75000"/>
                </a:schemeClr>
              </a:buClr>
              <a:buFont typeface="Wingdings" panose="05000000000000000000" pitchFamily="2" charset="2"/>
              <a:buChar char="q"/>
            </a:pPr>
            <a:r>
              <a:rPr lang="en-IN" sz="2000" i="0" dirty="0">
                <a:solidFill>
                  <a:schemeClr val="tx1"/>
                </a:solidFill>
                <a:effectLst/>
                <a:latin typeface="Times New Roman" panose="02020603050405020304" pitchFamily="18" charset="0"/>
                <a:cs typeface="Times New Roman" panose="02020603050405020304" pitchFamily="18" charset="0"/>
              </a:rPr>
              <a:t> User groups let you specify permissions for multiple users, which can make it easier to manage the permissions for those users. </a:t>
            </a:r>
          </a:p>
          <a:p>
            <a:pPr algn="l">
              <a:buClr>
                <a:schemeClr val="tx2">
                  <a:lumMod val="75000"/>
                </a:schemeClr>
              </a:buClr>
              <a:buFont typeface="Wingdings" panose="05000000000000000000" pitchFamily="2" charset="2"/>
              <a:buChar char="q"/>
            </a:pPr>
            <a:r>
              <a:rPr lang="en-IN" sz="2000" i="0" dirty="0">
                <a:solidFill>
                  <a:schemeClr val="tx1"/>
                </a:solidFill>
                <a:effectLst/>
                <a:latin typeface="Times New Roman" panose="02020603050405020304" pitchFamily="18" charset="0"/>
                <a:cs typeface="Times New Roman" panose="02020603050405020304" pitchFamily="18" charset="0"/>
              </a:rPr>
              <a:t>For example, you could have a user group called Admins and give that user group typical administrator permissions</a:t>
            </a:r>
            <a:r>
              <a:rPr lang="en-IN" sz="2000" b="0" i="0" dirty="0">
                <a:solidFill>
                  <a:srgbClr val="BDC1C6"/>
                </a:solidFill>
                <a:effectLst/>
                <a:latin typeface="arial" panose="020B0604020202020204" pitchFamily="34" charset="0"/>
              </a:rPr>
              <a:t>.</a:t>
            </a:r>
          </a:p>
          <a:p>
            <a:pPr marL="0" indent="0">
              <a:buClr>
                <a:schemeClr val="tx2">
                  <a:lumMod val="75000"/>
                </a:schemeClr>
              </a:buClr>
              <a:buNone/>
            </a:pPr>
            <a:endParaRPr lang="en-IN" sz="2000" b="0" i="0" dirty="0">
              <a:solidFill>
                <a:srgbClr val="BDC1C6"/>
              </a:solidFill>
              <a:effectLst/>
              <a:latin typeface="arial" panose="020B0604020202020204" pitchFamily="34" charset="0"/>
            </a:endParaRPr>
          </a:p>
          <a:p>
            <a:pPr marL="0" indent="0" algn="l">
              <a:buNone/>
            </a:pPr>
            <a:r>
              <a:rPr lang="en-IN" sz="2400" b="1" i="0" dirty="0">
                <a:solidFill>
                  <a:schemeClr val="tx1"/>
                </a:solidFill>
                <a:effectLst/>
                <a:latin typeface="Times New Roman" panose="02020603050405020304" pitchFamily="18" charset="0"/>
                <a:cs typeface="Times New Roman" panose="02020603050405020304" pitchFamily="18" charset="0"/>
              </a:rPr>
              <a:t>IAM Roles </a:t>
            </a:r>
          </a:p>
          <a:p>
            <a:pPr algn="l">
              <a:buClr>
                <a:schemeClr val="tx2">
                  <a:lumMod val="75000"/>
                </a:schemeClr>
              </a:buClr>
              <a:buFont typeface="Wingdings" panose="05000000000000000000" pitchFamily="2" charset="2"/>
              <a:buChar char="q"/>
            </a:pPr>
            <a:r>
              <a:rPr lang="en-IN" sz="2000" i="0" dirty="0">
                <a:solidFill>
                  <a:schemeClr val="tx1"/>
                </a:solidFill>
                <a:effectLst/>
                <a:latin typeface="Times New Roman" panose="02020603050405020304" pitchFamily="18" charset="0"/>
                <a:cs typeface="Times New Roman" panose="02020603050405020304" pitchFamily="18" charset="0"/>
              </a:rPr>
              <a:t> is an IAM identity that you can create in your account that has specific permissions.</a:t>
            </a:r>
          </a:p>
          <a:p>
            <a:pPr algn="l">
              <a:buClr>
                <a:schemeClr val="tx2">
                  <a:lumMod val="75000"/>
                </a:schemeClr>
              </a:buClr>
              <a:buFont typeface="Wingdings" panose="05000000000000000000" pitchFamily="2" charset="2"/>
              <a:buChar char="q"/>
            </a:pPr>
            <a:r>
              <a:rPr lang="en-IN" sz="2000" i="0" dirty="0">
                <a:solidFill>
                  <a:schemeClr val="tx1"/>
                </a:solidFill>
                <a:effectLst/>
                <a:latin typeface="Times New Roman" panose="02020603050405020304" pitchFamily="18" charset="0"/>
                <a:cs typeface="Times New Roman" panose="02020603050405020304" pitchFamily="18" charset="0"/>
              </a:rPr>
              <a:t> An IAM role is similar to an IAM user, in that it is an AWS identity with permission policies that determine what the identity can and cannot do in AWS.</a:t>
            </a:r>
          </a:p>
          <a:p>
            <a:pPr algn="l">
              <a:buClr>
                <a:schemeClr val="tx2">
                  <a:lumMod val="75000"/>
                </a:schemeClr>
              </a:buClr>
              <a:buFont typeface="Wingdings" panose="05000000000000000000" pitchFamily="2" charset="2"/>
              <a:buChar char="q"/>
            </a:pPr>
            <a:endParaRPr lang="en-IN" sz="2000" i="0" dirty="0">
              <a:solidFill>
                <a:schemeClr val="tx1"/>
              </a:solidFill>
              <a:effectLst/>
              <a:latin typeface="Times New Roman" panose="02020603050405020304" pitchFamily="18" charset="0"/>
              <a:cs typeface="Times New Roman" panose="02020603050405020304" pitchFamily="18" charset="0"/>
            </a:endParaRPr>
          </a:p>
          <a:p>
            <a:pPr marL="0" indent="0">
              <a:buNone/>
            </a:pPr>
            <a:endParaRPr lang="en-IN" dirty="0"/>
          </a:p>
        </p:txBody>
      </p:sp>
      <p:pic>
        <p:nvPicPr>
          <p:cNvPr id="4" name="Picture 3">
            <a:extLst>
              <a:ext uri="{FF2B5EF4-FFF2-40B4-BE49-F238E27FC236}">
                <a16:creationId xmlns:a16="http://schemas.microsoft.com/office/drawing/2014/main" id="{050E2A5E-C42D-4EEA-9373-1A7B6356F75A}"/>
              </a:ext>
            </a:extLst>
          </p:cNvPr>
          <p:cNvPicPr>
            <a:picLocks noChangeAspect="1"/>
          </p:cNvPicPr>
          <p:nvPr/>
        </p:nvPicPr>
        <p:blipFill>
          <a:blip r:embed="rId2"/>
          <a:stretch>
            <a:fillRect/>
          </a:stretch>
        </p:blipFill>
        <p:spPr>
          <a:xfrm>
            <a:off x="7212082" y="1891748"/>
            <a:ext cx="4860648" cy="1676400"/>
          </a:xfrm>
          <a:prstGeom prst="rect">
            <a:avLst/>
          </a:prstGeom>
        </p:spPr>
      </p:pic>
      <p:pic>
        <p:nvPicPr>
          <p:cNvPr id="5" name="Picture 4">
            <a:extLst>
              <a:ext uri="{FF2B5EF4-FFF2-40B4-BE49-F238E27FC236}">
                <a16:creationId xmlns:a16="http://schemas.microsoft.com/office/drawing/2014/main" id="{2C92DBD8-A136-4548-AEA0-FEBA94FA4504}"/>
              </a:ext>
            </a:extLst>
          </p:cNvPr>
          <p:cNvPicPr>
            <a:picLocks noChangeAspect="1"/>
          </p:cNvPicPr>
          <p:nvPr/>
        </p:nvPicPr>
        <p:blipFill>
          <a:blip r:embed="rId3"/>
          <a:stretch>
            <a:fillRect/>
          </a:stretch>
        </p:blipFill>
        <p:spPr>
          <a:xfrm>
            <a:off x="9051234" y="4611757"/>
            <a:ext cx="3140765" cy="1583634"/>
          </a:xfrm>
          <a:prstGeom prst="rect">
            <a:avLst/>
          </a:prstGeom>
        </p:spPr>
      </p:pic>
    </p:spTree>
    <p:extLst>
      <p:ext uri="{BB962C8B-B14F-4D97-AF65-F5344CB8AC3E}">
        <p14:creationId xmlns:p14="http://schemas.microsoft.com/office/powerpoint/2010/main" val="802993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CEFF7-57A8-4126-80D0-99340E2438A0}"/>
              </a:ext>
            </a:extLst>
          </p:cNvPr>
          <p:cNvSpPr>
            <a:spLocks noGrp="1"/>
          </p:cNvSpPr>
          <p:nvPr>
            <p:ph type="title"/>
          </p:nvPr>
        </p:nvSpPr>
        <p:spPr>
          <a:xfrm>
            <a:off x="185531" y="205409"/>
            <a:ext cx="11820937" cy="841513"/>
          </a:xfrm>
        </p:spPr>
        <p:txBody>
          <a:bodyPr/>
          <a:lstStyle/>
          <a:p>
            <a:pPr algn="ctr"/>
            <a:r>
              <a:rPr lang="en-IN" sz="3600" dirty="0">
                <a:solidFill>
                  <a:srgbClr val="292929"/>
                </a:solidFill>
                <a:latin typeface="Times New Roman" panose="02020603050405020304" pitchFamily="18" charset="0"/>
                <a:cs typeface="Times New Roman" panose="02020603050405020304" pitchFamily="18" charset="0"/>
              </a:rPr>
              <a:t>Policies</a:t>
            </a:r>
            <a:endParaRPr lang="en-IN" dirty="0"/>
          </a:p>
        </p:txBody>
      </p:sp>
      <p:sp>
        <p:nvSpPr>
          <p:cNvPr id="3" name="Content Placeholder 2">
            <a:extLst>
              <a:ext uri="{FF2B5EF4-FFF2-40B4-BE49-F238E27FC236}">
                <a16:creationId xmlns:a16="http://schemas.microsoft.com/office/drawing/2014/main" id="{B75B34D4-540F-473A-8A3E-BD71F53B93D9}"/>
              </a:ext>
            </a:extLst>
          </p:cNvPr>
          <p:cNvSpPr>
            <a:spLocks noGrp="1"/>
          </p:cNvSpPr>
          <p:nvPr>
            <p:ph idx="1"/>
          </p:nvPr>
        </p:nvSpPr>
        <p:spPr>
          <a:xfrm>
            <a:off x="185531" y="954157"/>
            <a:ext cx="11754678" cy="5698434"/>
          </a:xfrm>
        </p:spPr>
        <p:txBody>
          <a:bodyPr>
            <a:normAutofit/>
          </a:bodyPr>
          <a:lstStyle/>
          <a:p>
            <a:endParaRPr lang="en-IN" i="0" dirty="0">
              <a:solidFill>
                <a:schemeClr val="tx1"/>
              </a:solidFill>
              <a:effectLst/>
              <a:latin typeface="Times New Roman" panose="02020603050405020304" pitchFamily="18" charset="0"/>
              <a:cs typeface="Times New Roman" panose="02020603050405020304" pitchFamily="18" charset="0"/>
            </a:endParaRPr>
          </a:p>
          <a:p>
            <a:pPr>
              <a:buClr>
                <a:schemeClr val="tx2">
                  <a:lumMod val="75000"/>
                </a:schemeClr>
              </a:buClr>
              <a:buFont typeface="Wingdings" panose="05000000000000000000" pitchFamily="2" charset="2"/>
              <a:buChar char="v"/>
            </a:pPr>
            <a:r>
              <a:rPr lang="en-IN" sz="2000" i="0" dirty="0">
                <a:solidFill>
                  <a:schemeClr val="tx1"/>
                </a:solidFill>
                <a:effectLst/>
                <a:latin typeface="Times New Roman" panose="02020603050405020304" pitchFamily="18" charset="0"/>
                <a:cs typeface="Times New Roman" panose="02020603050405020304" pitchFamily="18" charset="0"/>
              </a:rPr>
              <a:t>AM policies define permissions for an action regardless of the method that you use to perform the operation.</a:t>
            </a:r>
          </a:p>
          <a:p>
            <a:pPr marL="0" indent="0">
              <a:buClr>
                <a:schemeClr val="tx2">
                  <a:lumMod val="75000"/>
                </a:schemeClr>
              </a:buClr>
              <a:buNone/>
            </a:pPr>
            <a:endParaRPr lang="en-IN" sz="2000" i="0" dirty="0">
              <a:solidFill>
                <a:schemeClr val="tx1"/>
              </a:solidFill>
              <a:effectLst/>
              <a:latin typeface="Times New Roman" panose="02020603050405020304" pitchFamily="18" charset="0"/>
              <a:cs typeface="Times New Roman" panose="02020603050405020304" pitchFamily="18" charset="0"/>
            </a:endParaRPr>
          </a:p>
          <a:p>
            <a:pPr>
              <a:buClr>
                <a:schemeClr val="tx2">
                  <a:lumMod val="75000"/>
                </a:schemeClr>
              </a:buClr>
              <a:buFont typeface="Wingdings" panose="05000000000000000000" pitchFamily="2" charset="2"/>
              <a:buChar char="v"/>
            </a:pPr>
            <a:r>
              <a:rPr lang="en-IN" sz="2000" i="0" dirty="0">
                <a:solidFill>
                  <a:schemeClr val="tx1"/>
                </a:solidFill>
                <a:effectLst/>
                <a:latin typeface="Times New Roman" panose="02020603050405020304" pitchFamily="18" charset="0"/>
                <a:cs typeface="Times New Roman" panose="02020603050405020304" pitchFamily="18" charset="0"/>
              </a:rPr>
              <a:t> For example, if a policy allows the Get User action, then a user with that policy can get user information from the AWS Management Console, the AWS CLI, or the AWS API.</a:t>
            </a:r>
            <a:r>
              <a:rPr lang="en-IN" sz="2000" dirty="0">
                <a:solidFill>
                  <a:schemeClr val="tx1"/>
                </a:solidFill>
                <a:effectLst/>
                <a:latin typeface="Times New Roman" panose="02020603050405020304" pitchFamily="18" charset="0"/>
                <a:cs typeface="Times New Roman" panose="02020603050405020304" pitchFamily="18" charset="0"/>
              </a:rPr>
              <a:t> </a:t>
            </a:r>
          </a:p>
          <a:p>
            <a:pPr marL="0" indent="0">
              <a:buNone/>
            </a:pPr>
            <a:endParaRPr lang="en-IN" sz="2000" i="0" dirty="0">
              <a:solidFill>
                <a:schemeClr val="tx1"/>
              </a:solidFill>
              <a:effectLst/>
              <a:latin typeface="Times New Roman" panose="02020603050405020304" pitchFamily="18" charset="0"/>
              <a:cs typeface="Times New Roman" panose="02020603050405020304" pitchFamily="18" charset="0"/>
            </a:endParaRPr>
          </a:p>
          <a:p>
            <a:pPr marL="0" indent="0">
              <a:buClr>
                <a:schemeClr val="tx2">
                  <a:lumMod val="75000"/>
                </a:schemeClr>
              </a:buClr>
              <a:buNone/>
            </a:pPr>
            <a:r>
              <a:rPr lang="en-IN" sz="2000" b="1" i="0" dirty="0">
                <a:solidFill>
                  <a:schemeClr val="tx1"/>
                </a:solidFill>
                <a:effectLst/>
                <a:latin typeface="Times New Roman" panose="02020603050405020304" pitchFamily="18" charset="0"/>
                <a:cs typeface="Times New Roman" panose="02020603050405020304" pitchFamily="18" charset="0"/>
              </a:rPr>
              <a:t>Example policies: Amazon S3</a:t>
            </a:r>
            <a:br>
              <a:rPr lang="en-IN" sz="2000" i="0" dirty="0">
                <a:solidFill>
                  <a:schemeClr val="tx1"/>
                </a:solidFill>
                <a:effectLst/>
                <a:latin typeface="Times New Roman" panose="02020603050405020304" pitchFamily="18" charset="0"/>
                <a:cs typeface="Times New Roman" panose="02020603050405020304" pitchFamily="18" charset="0"/>
              </a:rPr>
            </a:br>
            <a:br>
              <a:rPr lang="en-IN" sz="2000" i="0" dirty="0">
                <a:solidFill>
                  <a:schemeClr val="tx1"/>
                </a:solidFill>
                <a:effectLst/>
                <a:latin typeface="Times New Roman" panose="02020603050405020304" pitchFamily="18" charset="0"/>
                <a:cs typeface="Times New Roman" panose="02020603050405020304" pitchFamily="18" charset="0"/>
              </a:rPr>
            </a:br>
            <a:r>
              <a:rPr lang="en-IN" sz="2000" i="0" dirty="0">
                <a:solidFill>
                  <a:schemeClr val="tx1"/>
                </a:solidFill>
                <a:effectLst/>
                <a:latin typeface="Times New Roman" panose="02020603050405020304" pitchFamily="18" charset="0"/>
                <a:cs typeface="Times New Roman" panose="02020603050405020304" pitchFamily="18" charset="0"/>
              </a:rPr>
              <a:t>Allows IAM users to access their own home directory in Amazon S3, programmatically and in the console (View this policy.)</a:t>
            </a:r>
          </a:p>
          <a:p>
            <a:pPr marL="0" indent="0">
              <a:buClr>
                <a:schemeClr val="tx2">
                  <a:lumMod val="75000"/>
                </a:schemeClr>
              </a:buClr>
              <a:buNone/>
            </a:pPr>
            <a:endParaRPr lang="en-IN" sz="2000" i="0" dirty="0">
              <a:solidFill>
                <a:schemeClr val="tx1"/>
              </a:solidFill>
              <a:effectLst/>
              <a:latin typeface="Times New Roman" panose="02020603050405020304" pitchFamily="18" charset="0"/>
              <a:cs typeface="Times New Roman" panose="02020603050405020304" pitchFamily="18" charset="0"/>
            </a:endParaRPr>
          </a:p>
          <a:p>
            <a:pPr>
              <a:buClr>
                <a:schemeClr val="tx2">
                  <a:lumMod val="75000"/>
                </a:schemeClr>
              </a:buClr>
              <a:buFont typeface="Wingdings" panose="05000000000000000000" pitchFamily="2" charset="2"/>
              <a:buChar char="v"/>
            </a:pPr>
            <a:r>
              <a:rPr lang="en-IN" sz="2000" i="0" dirty="0">
                <a:solidFill>
                  <a:schemeClr val="tx1"/>
                </a:solidFill>
                <a:effectLst/>
                <a:latin typeface="Times New Roman" panose="02020603050405020304" pitchFamily="18" charset="0"/>
                <a:cs typeface="Times New Roman" panose="02020603050405020304" pitchFamily="18" charset="0"/>
              </a:rPr>
              <a:t> Allows a user to manage a single Amazon S3 bucket and denies every other AWS action and resource (View this policy.)</a:t>
            </a:r>
          </a:p>
          <a:p>
            <a:pPr>
              <a:buClr>
                <a:schemeClr val="tx2">
                  <a:lumMod val="75000"/>
                </a:schemeClr>
              </a:buClr>
              <a:buFont typeface="Wingdings" panose="05000000000000000000" pitchFamily="2" charset="2"/>
              <a:buChar char="v"/>
            </a:pPr>
            <a:r>
              <a:rPr lang="en-IN" sz="2000" i="0" dirty="0">
                <a:solidFill>
                  <a:schemeClr val="tx1"/>
                </a:solidFill>
                <a:effectLst/>
                <a:latin typeface="Times New Roman" panose="02020603050405020304" pitchFamily="18" charset="0"/>
                <a:cs typeface="Times New Roman" panose="02020603050405020304" pitchFamily="18" charset="0"/>
              </a:rPr>
              <a:t> WS CLI, or the AWS API.</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5617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9884-ABA7-056A-BE3C-E34FE8538388}"/>
              </a:ext>
            </a:extLst>
          </p:cNvPr>
          <p:cNvSpPr>
            <a:spLocks noGrp="1"/>
          </p:cNvSpPr>
          <p:nvPr>
            <p:ph type="title"/>
          </p:nvPr>
        </p:nvSpPr>
        <p:spPr>
          <a:xfrm>
            <a:off x="132522" y="145774"/>
            <a:ext cx="11820939" cy="715617"/>
          </a:xfrm>
        </p:spPr>
        <p:txBody>
          <a:bodyPr>
            <a:normAutofit fontScale="90000"/>
          </a:bodyPr>
          <a:lstStyle/>
          <a:p>
            <a:pPr algn="ctr"/>
            <a:r>
              <a:rPr lang="en-IN" sz="4000" b="1" dirty="0">
                <a:solidFill>
                  <a:schemeClr val="tx1">
                    <a:lumMod val="95000"/>
                    <a:lumOff val="5000"/>
                  </a:schemeClr>
                </a:solidFill>
                <a:latin typeface="Times New Roman" panose="02020603050405020304" pitchFamily="18" charset="0"/>
                <a:cs typeface="Times New Roman" panose="02020603050405020304" pitchFamily="18" charset="0"/>
              </a:rPr>
              <a:t>EC</a:t>
            </a:r>
            <a:r>
              <a:rPr lang="en-IN" b="1" dirty="0">
                <a:solidFill>
                  <a:schemeClr val="tx1">
                    <a:lumMod val="95000"/>
                    <a:lumOff val="5000"/>
                  </a:schemeClr>
                </a:solidFill>
                <a:latin typeface="Times New Roman" panose="02020603050405020304" pitchFamily="18" charset="0"/>
                <a:cs typeface="Times New Roman" panose="02020603050405020304" pitchFamily="18" charset="0"/>
              </a:rPr>
              <a:t>2</a:t>
            </a:r>
            <a:r>
              <a:rPr lang="en-IN" sz="53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4000" b="1" dirty="0">
                <a:solidFill>
                  <a:schemeClr val="tx1">
                    <a:lumMod val="95000"/>
                    <a:lumOff val="5000"/>
                  </a:schemeClr>
                </a:solidFill>
                <a:latin typeface="Times New Roman" panose="02020603050405020304" pitchFamily="18" charset="0"/>
                <a:cs typeface="Times New Roman" panose="02020603050405020304" pitchFamily="18" charset="0"/>
              </a:rPr>
              <a:t>Instances</a:t>
            </a:r>
            <a:r>
              <a:rPr lang="en-IN" sz="5300" b="1" dirty="0">
                <a:solidFill>
                  <a:schemeClr val="tx1">
                    <a:lumMod val="95000"/>
                    <a:lumOff val="5000"/>
                  </a:schemeClr>
                </a:solidFill>
                <a:latin typeface="Times New Roman" panose="02020603050405020304" pitchFamily="18" charset="0"/>
                <a:cs typeface="Times New Roman" panose="02020603050405020304" pitchFamily="18" charset="0"/>
              </a:rPr>
              <a:t> / </a:t>
            </a:r>
            <a:r>
              <a:rPr lang="en-IN" sz="4000" b="1" dirty="0">
                <a:solidFill>
                  <a:schemeClr val="tx1">
                    <a:lumMod val="95000"/>
                    <a:lumOff val="5000"/>
                  </a:schemeClr>
                </a:solidFill>
                <a:latin typeface="Times New Roman" panose="02020603050405020304" pitchFamily="18" charset="0"/>
                <a:cs typeface="Times New Roman" panose="02020603050405020304" pitchFamily="18" charset="0"/>
              </a:rPr>
              <a:t>It’s Benefits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sz="28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D7CE1D-886E-989C-E7D0-1ADED10FD4CC}"/>
              </a:ext>
            </a:extLst>
          </p:cNvPr>
          <p:cNvSpPr>
            <a:spLocks noGrp="1"/>
          </p:cNvSpPr>
          <p:nvPr>
            <p:ph idx="1"/>
          </p:nvPr>
        </p:nvSpPr>
        <p:spPr>
          <a:xfrm>
            <a:off x="132521" y="993913"/>
            <a:ext cx="11820939" cy="5618922"/>
          </a:xfrm>
        </p:spPr>
        <p:txBody>
          <a:bodyPr>
            <a:normAutofit/>
          </a:bodyPr>
          <a:lstStyle/>
          <a:p>
            <a:pPr marL="0" indent="0">
              <a:buNone/>
            </a:pPr>
            <a:r>
              <a:rPr lang="en-IN" sz="2800" b="1" dirty="0">
                <a:solidFill>
                  <a:schemeClr val="tx1">
                    <a:lumMod val="95000"/>
                    <a:lumOff val="5000"/>
                  </a:schemeClr>
                </a:solidFill>
                <a:latin typeface="Times New Roman" panose="02020603050405020304" pitchFamily="18" charset="0"/>
                <a:cs typeface="Times New Roman" panose="02020603050405020304" pitchFamily="18" charset="0"/>
              </a:rPr>
              <a:t>EC</a:t>
            </a:r>
            <a:r>
              <a:rPr lang="en-IN" sz="2400" b="1" dirty="0">
                <a:solidFill>
                  <a:schemeClr val="tx1">
                    <a:lumMod val="95000"/>
                    <a:lumOff val="5000"/>
                  </a:schemeClr>
                </a:solidFill>
                <a:latin typeface="Times New Roman" panose="02020603050405020304" pitchFamily="18" charset="0"/>
                <a:cs typeface="Times New Roman" panose="02020603050405020304" pitchFamily="18" charset="0"/>
              </a:rPr>
              <a:t>2 Instances</a:t>
            </a:r>
          </a:p>
          <a:p>
            <a:pPr lvl="0">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 instance is a virtual server in the AWS Cloud. </a:t>
            </a:r>
          </a:p>
          <a:p>
            <a:pPr lvl="0">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With Amazon EC2, you can set up and configure the operating system and applications that run on your instance.</a:t>
            </a:r>
          </a:p>
          <a:p>
            <a:pPr lvl="0">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When you sign up for AWS, you can get started with Amazon EC2 using the AWS Free Tier.</a:t>
            </a:r>
          </a:p>
          <a:p>
            <a:pPr marL="342900" lvl="0" indent="-342900">
              <a:buFont typeface="Courier New" panose="02070309020205020404" pitchFamily="49" charset="0"/>
              <a:buChar char="o"/>
              <a:tabLst>
                <a:tab pos="2865755" algn="ctr"/>
                <a:tab pos="5731510" algn="r"/>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2400" b="1" dirty="0">
                <a:solidFill>
                  <a:schemeClr val="tx1">
                    <a:lumMod val="95000"/>
                    <a:lumOff val="5000"/>
                  </a:schemeClr>
                </a:solidFill>
                <a:latin typeface="Times New Roman" panose="02020603050405020304" pitchFamily="18" charset="0"/>
                <a:cs typeface="Times New Roman" panose="02020603050405020304" pitchFamily="18" charset="0"/>
              </a:rPr>
              <a:t>It’s Benefits</a:t>
            </a:r>
          </a:p>
          <a:p>
            <a:pPr lvl="0">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Reliability, Amazon EC2 offers 99.9% availability for each Amazon EC2 region. </a:t>
            </a:r>
          </a:p>
          <a:p>
            <a:pPr lvl="0">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Security, Amazon works with Amazon VPC to provide robust networking and security for the compute resources. </a:t>
            </a:r>
          </a:p>
          <a:p>
            <a:pPr lvl="0">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Flexibility. </a:t>
            </a:r>
          </a:p>
          <a:p>
            <a:pPr lvl="0">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Cost Saving. </a:t>
            </a:r>
          </a:p>
          <a:p>
            <a:pPr lvl="0">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Elastic Computing. </a:t>
            </a:r>
          </a:p>
          <a:p>
            <a:pPr lvl="0">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Completely controlled.</a:t>
            </a:r>
          </a:p>
          <a:p>
            <a:pPr>
              <a:tabLst>
                <a:tab pos="2865755" algn="ctr"/>
                <a:tab pos="5731510" algn="r"/>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05677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E4B75-E4DF-5FCF-7DCB-F34143975D26}"/>
              </a:ext>
            </a:extLst>
          </p:cNvPr>
          <p:cNvSpPr>
            <a:spLocks noGrp="1"/>
          </p:cNvSpPr>
          <p:nvPr>
            <p:ph type="title"/>
          </p:nvPr>
        </p:nvSpPr>
        <p:spPr>
          <a:xfrm>
            <a:off x="112643" y="156238"/>
            <a:ext cx="11966713" cy="660400"/>
          </a:xfrm>
        </p:spPr>
        <p:txBody>
          <a:bodyPr>
            <a:normAutofit fontScale="90000"/>
          </a:bodyPr>
          <a:lstStyle/>
          <a:p>
            <a:pPr algn="ctr"/>
            <a:r>
              <a:rPr lang="en-IN" sz="3200" b="1">
                <a:solidFill>
                  <a:schemeClr val="tx1">
                    <a:lumMod val="95000"/>
                    <a:lumOff val="5000"/>
                  </a:schemeClr>
                </a:solidFill>
                <a:latin typeface="Times New Roman" panose="02020603050405020304" pitchFamily="18" charset="0"/>
                <a:ea typeface="Calibri" panose="020F0502020204030204" pitchFamily="34" charset="0"/>
              </a:rPr>
              <a:t>C</a:t>
            </a:r>
            <a:r>
              <a:rPr lang="en-IN" sz="3200" b="1">
                <a:solidFill>
                  <a:schemeClr val="tx1">
                    <a:lumMod val="95000"/>
                    <a:lumOff val="5000"/>
                  </a:schemeClr>
                </a:solidFill>
                <a:effectLst/>
                <a:latin typeface="Times New Roman" panose="02020603050405020304" pitchFamily="18" charset="0"/>
                <a:ea typeface="Calibri" panose="020F0502020204030204" pitchFamily="34" charset="0"/>
              </a:rPr>
              <a:t>ustomized AMI  /  </a:t>
            </a:r>
            <a:r>
              <a:rPr lang="en-IN" sz="3600" b="1">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Public IP   V/S   </a:t>
            </a:r>
            <a:r>
              <a:rPr lang="en-IN" sz="3600" b="1"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Elastic IP</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548DA4C-B145-2576-3B4A-1CB07A7E9387}"/>
              </a:ext>
            </a:extLst>
          </p:cNvPr>
          <p:cNvSpPr>
            <a:spLocks noGrp="1"/>
          </p:cNvSpPr>
          <p:nvPr>
            <p:ph idx="1"/>
          </p:nvPr>
        </p:nvSpPr>
        <p:spPr>
          <a:xfrm>
            <a:off x="112643" y="1166191"/>
            <a:ext cx="11867321" cy="5535572"/>
          </a:xfrm>
        </p:spPr>
        <p:txBody>
          <a:bodyPr>
            <a:normAutofit/>
          </a:bodyPr>
          <a:lstStyle/>
          <a:p>
            <a:pPr marL="0" lvl="0" indent="0">
              <a:buNone/>
              <a:tabLst>
                <a:tab pos="2865755" algn="ctr"/>
                <a:tab pos="5731510" algn="r"/>
              </a:tabLst>
            </a:pPr>
            <a:r>
              <a:rPr lang="en-IN" sz="2800" b="1"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a:t>
            </a:r>
            <a:r>
              <a:rPr lang="en-IN" sz="2800" b="1"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ustomized AMI</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lvl="0">
              <a:buClr>
                <a:schemeClr val="tx2">
                  <a:lumMod val="75000"/>
                </a:schemeClr>
              </a:buClr>
              <a:buFont typeface="Wingdings" panose="05000000000000000000" pitchFamily="2" charset="2"/>
              <a:buChar char="Ø"/>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 Amazon Machine Image (AMI) defines the programs and settings that will be applied when you launch an EC2 instance.</a:t>
            </a:r>
          </a:p>
          <a:p>
            <a:pPr lvl="0">
              <a:buClr>
                <a:schemeClr val="tx2">
                  <a:lumMod val="75000"/>
                </a:schemeClr>
              </a:buClr>
              <a:buFont typeface="Wingdings" panose="05000000000000000000" pitchFamily="2" charset="2"/>
              <a:buChar char="Ø"/>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Once you have finished configuring the data, services, and applications on your ArcGIS Server instance, you can save your work as a custom AMI stored in Amazon EC2.</a:t>
            </a:r>
          </a:p>
          <a:p>
            <a:pPr marL="0" lvl="0" indent="0">
              <a:buClr>
                <a:schemeClr val="tx2">
                  <a:lumMod val="75000"/>
                </a:schemeClr>
              </a:buClr>
              <a:buNone/>
              <a:tabLst>
                <a:tab pos="2865755" algn="ctr"/>
                <a:tab pos="5731510" algn="r"/>
              </a:tabLst>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tabLst>
                <a:tab pos="2865755" algn="ctr"/>
                <a:tab pos="5731510" algn="r"/>
              </a:tabLst>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Public IP</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when an instance is terminated the public IP attached to it gets released and further when you relaunch the same instance new IP address is assigned.	</a:t>
            </a:r>
          </a:p>
          <a:p>
            <a:pPr marL="0" indent="0">
              <a:buClr>
                <a:schemeClr val="tx2">
                  <a:lumMod val="75000"/>
                </a:schemeClr>
              </a:buClr>
              <a:buNone/>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buNone/>
              <a:tabLst>
                <a:tab pos="2865755" algn="ctr"/>
                <a:tab pos="5731510" algn="r"/>
              </a:tabLst>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Elastic IP</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a:buClr>
                <a:schemeClr val="tx2">
                  <a:lumMod val="75000"/>
                </a:schemeClr>
              </a:buClr>
              <a:buFont typeface="Wingdings" panose="05000000000000000000" pitchFamily="2" charset="2"/>
              <a:buChar char="q"/>
              <a:tabLst>
                <a:tab pos="2865755" algn="ctr"/>
                <a:tab pos="5731510" algn="r"/>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Elastic IP do not change and they remain same even if you terminate the instance and later again restart the same instance.</a:t>
            </a:r>
          </a:p>
          <a:p>
            <a:pPr marL="0" indent="0">
              <a:lnSpc>
                <a:spcPct val="107000"/>
              </a:lnSpc>
              <a:spcAft>
                <a:spcPts val="800"/>
              </a:spcAft>
              <a:buNone/>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19225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4A44-C5B1-910E-D3DD-0F4A95BDCBBE}"/>
              </a:ext>
            </a:extLst>
          </p:cNvPr>
          <p:cNvSpPr>
            <a:spLocks noGrp="1"/>
          </p:cNvSpPr>
          <p:nvPr>
            <p:ph type="title"/>
          </p:nvPr>
        </p:nvSpPr>
        <p:spPr>
          <a:xfrm>
            <a:off x="106017" y="119270"/>
            <a:ext cx="11979966" cy="1113182"/>
          </a:xfrm>
        </p:spPr>
        <p:txBody>
          <a:bodyPr>
            <a:normAutofit fontScale="90000"/>
          </a:bodyPr>
          <a:lstStyle/>
          <a:p>
            <a:pPr algn="ctr"/>
            <a:r>
              <a:rPr lang="en-IN" b="1" dirty="0">
                <a:solidFill>
                  <a:schemeClr val="tx1"/>
                </a:solidFill>
                <a:latin typeface="Times New Roman" panose="02020603050405020304" pitchFamily="18" charset="0"/>
                <a:cs typeface="Times New Roman" panose="02020603050405020304" pitchFamily="18" charset="0"/>
              </a:rPr>
              <a:t>This are the 2 types for accessing service </a:t>
            </a:r>
            <a:br>
              <a:rPr lang="en-IN" b="1" dirty="0">
                <a:solidFill>
                  <a:schemeClr val="tx1"/>
                </a:solidFill>
                <a:latin typeface="Times New Roman" panose="02020603050405020304" pitchFamily="18" charset="0"/>
                <a:cs typeface="Times New Roman" panose="02020603050405020304" pitchFamily="18" charset="0"/>
              </a:rPr>
            </a:br>
            <a:r>
              <a:rPr lang="en-IN" b="1" dirty="0">
                <a:solidFill>
                  <a:schemeClr val="tx1"/>
                </a:solidFill>
                <a:latin typeface="Times New Roman" panose="02020603050405020304" pitchFamily="18" charset="0"/>
                <a:cs typeface="Times New Roman" panose="02020603050405020304" pitchFamily="18" charset="0"/>
              </a:rPr>
              <a:t>with the help of Access key &amp;  with the help of Role</a:t>
            </a:r>
          </a:p>
        </p:txBody>
      </p:sp>
      <p:pic>
        <p:nvPicPr>
          <p:cNvPr id="4" name="Content Placeholder 3">
            <a:extLst>
              <a:ext uri="{FF2B5EF4-FFF2-40B4-BE49-F238E27FC236}">
                <a16:creationId xmlns:a16="http://schemas.microsoft.com/office/drawing/2014/main" id="{E834299C-2954-462D-1A12-5139814196F1}"/>
              </a:ext>
            </a:extLst>
          </p:cNvPr>
          <p:cNvPicPr>
            <a:picLocks noGrp="1" noChangeAspect="1"/>
          </p:cNvPicPr>
          <p:nvPr>
            <p:ph idx="1"/>
          </p:nvPr>
        </p:nvPicPr>
        <p:blipFill>
          <a:blip r:embed="rId2"/>
          <a:stretch>
            <a:fillRect/>
          </a:stretch>
        </p:blipFill>
        <p:spPr>
          <a:xfrm>
            <a:off x="6454918" y="1586905"/>
            <a:ext cx="5631065" cy="5151825"/>
          </a:xfrm>
          <a:prstGeom prst="rect">
            <a:avLst/>
          </a:prstGeom>
        </p:spPr>
      </p:pic>
      <p:pic>
        <p:nvPicPr>
          <p:cNvPr id="5" name="Picture 4">
            <a:extLst>
              <a:ext uri="{FF2B5EF4-FFF2-40B4-BE49-F238E27FC236}">
                <a16:creationId xmlns:a16="http://schemas.microsoft.com/office/drawing/2014/main" id="{122D6B33-9A2C-CAA3-A4AC-61D119C8225A}"/>
              </a:ext>
            </a:extLst>
          </p:cNvPr>
          <p:cNvPicPr>
            <a:picLocks noChangeAspect="1"/>
          </p:cNvPicPr>
          <p:nvPr/>
        </p:nvPicPr>
        <p:blipFill>
          <a:blip r:embed="rId3"/>
          <a:stretch>
            <a:fillRect/>
          </a:stretch>
        </p:blipFill>
        <p:spPr>
          <a:xfrm>
            <a:off x="171987" y="1773953"/>
            <a:ext cx="5924013" cy="4964777"/>
          </a:xfrm>
          <a:prstGeom prst="rect">
            <a:avLst/>
          </a:prstGeom>
        </p:spPr>
      </p:pic>
    </p:spTree>
    <p:extLst>
      <p:ext uri="{BB962C8B-B14F-4D97-AF65-F5344CB8AC3E}">
        <p14:creationId xmlns:p14="http://schemas.microsoft.com/office/powerpoint/2010/main" val="2450383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5C13-86C6-4F0D-A28D-A85AA1C438BB}"/>
              </a:ext>
            </a:extLst>
          </p:cNvPr>
          <p:cNvSpPr>
            <a:spLocks noGrp="1"/>
          </p:cNvSpPr>
          <p:nvPr>
            <p:ph type="title"/>
          </p:nvPr>
        </p:nvSpPr>
        <p:spPr>
          <a:xfrm>
            <a:off x="677334" y="609599"/>
            <a:ext cx="11196614" cy="5817705"/>
          </a:xfrm>
        </p:spPr>
        <p:txBody>
          <a:bodyPr>
            <a:normAutofit/>
          </a:bodyPr>
          <a:lstStyle/>
          <a:p>
            <a:pPr algn="ctr"/>
            <a:br>
              <a:rPr lang="en-IN" sz="6000" dirty="0">
                <a:solidFill>
                  <a:srgbClr val="002060"/>
                </a:solidFill>
                <a:latin typeface="Times New Roman" panose="02020603050405020304" pitchFamily="18" charset="0"/>
                <a:cs typeface="Times New Roman" panose="02020603050405020304" pitchFamily="18" charset="0"/>
              </a:rPr>
            </a:br>
            <a:r>
              <a:rPr lang="en-IN" sz="23900">
                <a:solidFill>
                  <a:srgbClr val="002060"/>
                </a:solidFill>
                <a:latin typeface="French Script MT" panose="03020402040607040605" pitchFamily="66" charset="0"/>
                <a:cs typeface="Times New Roman" panose="02020603050405020304" pitchFamily="18" charset="0"/>
              </a:rPr>
              <a:t>Thank </a:t>
            </a:r>
            <a:r>
              <a:rPr lang="en-IN" sz="23900" dirty="0">
                <a:solidFill>
                  <a:srgbClr val="002060"/>
                </a:solidFill>
                <a:latin typeface="French Script MT" panose="03020402040607040605" pitchFamily="66" charset="0"/>
                <a:cs typeface="Times New Roman" panose="02020603050405020304" pitchFamily="18" charset="0"/>
              </a:rPr>
              <a:t>you</a:t>
            </a:r>
            <a:endParaRPr lang="en-IN" sz="6000" dirty="0">
              <a:solidFill>
                <a:srgbClr val="002060"/>
              </a:solidFill>
              <a:latin typeface="French Script MT" panose="03020402040607040605" pitchFamily="66" charset="0"/>
              <a:cs typeface="Times New Roman" panose="02020603050405020304" pitchFamily="18" charset="0"/>
            </a:endParaRPr>
          </a:p>
        </p:txBody>
      </p:sp>
    </p:spTree>
    <p:extLst>
      <p:ext uri="{BB962C8B-B14F-4D97-AF65-F5344CB8AC3E}">
        <p14:creationId xmlns:p14="http://schemas.microsoft.com/office/powerpoint/2010/main" val="137998289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1169</TotalTime>
  <Words>2507</Words>
  <Application>Microsoft Office PowerPoint</Application>
  <PresentationFormat>Widescreen</PresentationFormat>
  <Paragraphs>204</Paragraphs>
  <Slides>26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26</vt:i4>
      </vt:variant>
    </vt:vector>
  </HeadingPairs>
  <TitlesOfParts>
    <vt:vector size="38" baseType="lpstr">
      <vt:lpstr>arial</vt:lpstr>
      <vt:lpstr>arial</vt:lpstr>
      <vt:lpstr>Calibri</vt:lpstr>
      <vt:lpstr>Courier New</vt:lpstr>
      <vt:lpstr>French Script MT</vt:lpstr>
      <vt:lpstr>Roboto</vt:lpstr>
      <vt:lpstr>sohne</vt:lpstr>
      <vt:lpstr>Times New Roman</vt:lpstr>
      <vt:lpstr>Trebuchet MS</vt:lpstr>
      <vt:lpstr>Wingdings</vt:lpstr>
      <vt:lpstr>Wingdings 3</vt:lpstr>
      <vt:lpstr>Facet</vt:lpstr>
      <vt:lpstr>AWS CLOUD</vt:lpstr>
      <vt:lpstr>Instead Of Creating Own Data Centre Why We Use VM Or Cloud</vt:lpstr>
      <vt:lpstr>CLOUD</vt:lpstr>
      <vt:lpstr>SCALING</vt:lpstr>
      <vt:lpstr>Cloud Terminology</vt:lpstr>
      <vt:lpstr>Cloud Characteristics</vt:lpstr>
      <vt:lpstr>AWS Region / Availability Zone /  Instances / AMI </vt:lpstr>
      <vt:lpstr>PowerPoint Presentation</vt:lpstr>
      <vt:lpstr>PowerPoint Presentation</vt:lpstr>
      <vt:lpstr>Low latency /  High Throughput / High Availability </vt:lpstr>
      <vt:lpstr>PowerPoint Presentation</vt:lpstr>
      <vt:lpstr>Fault-tolerance / Edge location  </vt:lpstr>
      <vt:lpstr>Factors To Consider When Choosing Your Region and AZ </vt:lpstr>
      <vt:lpstr>PowerPoint Presentation</vt:lpstr>
      <vt:lpstr>Global Services &amp;Regional Services  </vt:lpstr>
      <vt:lpstr>Billing &amp; Pricing overview </vt:lpstr>
      <vt:lpstr>Access AWS Services</vt:lpstr>
      <vt:lpstr>PowerPoint Presentation</vt:lpstr>
      <vt:lpstr>IAM Services / IAM Authorization types / Root user V/S IAM user </vt:lpstr>
      <vt:lpstr>Principle / Authentication / Authorization / MFA </vt:lpstr>
      <vt:lpstr>Add users / Group users / Roles - in IAM </vt:lpstr>
      <vt:lpstr>Policies</vt:lpstr>
      <vt:lpstr>EC2  Instances / It’s Benefits  </vt:lpstr>
      <vt:lpstr>Customized AMI  /  Public IP   V/S   Elastic IP </vt:lpstr>
      <vt:lpstr>This are the 2 types for accessing service  with the help of Access key &amp;  with the help of Role</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dc:title>
  <dc:creator>Chethuprasad</dc:creator>
  <cp:lastModifiedBy>Chethuprasad</cp:lastModifiedBy>
  <cp:revision>24</cp:revision>
  <dcterms:created xsi:type="dcterms:W3CDTF">2022-04-27T09:55:08Z</dcterms:created>
  <dcterms:modified xsi:type="dcterms:W3CDTF">2022-06-23T16:03:16Z</dcterms:modified>
</cp:coreProperties>
</file>
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2" r:id="rId5"/>
    <p:sldId id="260" r:id="rId6"/>
    <p:sldId id="263" r:id="rId7"/>
    <p:sldId id="268" r:id="rId8"/>
    <p:sldId id="267" r:id="rId9"/>
    <p:sldId id="270" r:id="rId10"/>
    <p:sldId id="272" r:id="rId11"/>
    <p:sldId id="273" r:id="rId12"/>
    <p:sldId id="274" r:id="rId13"/>
    <p:sldId id="275" r:id="rId14"/>
    <p:sldId id="276" r:id="rId15"/>
    <p:sldId id="278" r:id="rId16"/>
    <p:sldId id="281" r:id="rId17"/>
    <p:sldId id="282" r:id="rId18"/>
    <p:sldId id="283" r:id="rId19"/>
    <p:sldId id="284" r:id="rId20"/>
    <p:sldId id="285" r:id="rId21"/>
    <p:sldId id="287" r:id="rId22"/>
    <p:sldId id="288" r:id="rId23"/>
    <p:sldId id="289" r:id="rId24"/>
    <p:sldId id="290" r:id="rId25"/>
    <p:sldId id="291" r:id="rId26"/>
    <p:sldId id="292" r:id="rId27"/>
    <p:sldId id="293" r:id="rId28"/>
    <p:sldId id="294" r:id="rId29"/>
    <p:sldId id="295" r:id="rId30"/>
    <p:sldId id="29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58763" units="1/cm"/>
          <inkml:channelProperty channel="T" name="resolution" value="1" units="1/dev"/>
        </inkml:channelProperties>
      </inkml:inkSource>
      <inkml:timestamp xml:id="ts0" timeString="2022-04-23T03:12:51.693"/>
    </inkml:context>
    <inkml:brush xml:id="br0">
      <inkml:brushProperty name="width" value="0.05292" units="cm"/>
      <inkml:brushProperty name="height" value="0.05292" units="cm"/>
      <inkml:brushProperty name="color" value="#FF0000"/>
    </inkml:brush>
  </inkml:definitions>
  <inkml:trace contextRef="#ctx0" brushRef="#br0">4936 4986 0</inkml:trace>
  <inkml:trace contextRef="#ctx0" brushRef="#br0" timeOffset="178.51">4936 4986 0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4/27/2022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www.javatpoint.com/cloud-service-models#PaaS" TargetMode="External"/><Relationship Id="rId2" Type="http://schemas.openxmlformats.org/officeDocument/2006/relationships/hyperlink" Target="https://www.javatpoint.com/cloud-service-models#IaaS" TargetMode="External"/><Relationship Id="rId1" Type="http://schemas.openxmlformats.org/officeDocument/2006/relationships/slideLayout" Target="../slideLayouts/slideLayout2.xml"/><Relationship Id="rId4" Type="http://schemas.openxmlformats.org/officeDocument/2006/relationships/hyperlink" Target="https://www.javatpoint.com/cloud-service-models#Saa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07ED7-E53B-4806-9DFD-828500B7F8BE}"/>
              </a:ext>
            </a:extLst>
          </p:cNvPr>
          <p:cNvSpPr>
            <a:spLocks noGrp="1"/>
          </p:cNvSpPr>
          <p:nvPr>
            <p:ph type="ctrTitle"/>
          </p:nvPr>
        </p:nvSpPr>
        <p:spPr>
          <a:xfrm>
            <a:off x="437322" y="112643"/>
            <a:ext cx="11542643" cy="841514"/>
          </a:xfrm>
        </p:spPr>
        <p:txBody>
          <a:bodyPr>
            <a:normAutofit fontScale="90000"/>
          </a:bodyPr>
          <a:lstStyle/>
          <a:p>
            <a:pPr algn="ctr"/>
            <a:r>
              <a:rPr lang="en-IN" dirty="0"/>
              <a:t>  </a:t>
            </a:r>
            <a:r>
              <a:rPr lang="en-IN" sz="4400" dirty="0">
                <a:latin typeface="Times New Roman" panose="02020603050405020304" pitchFamily="18" charset="0"/>
                <a:cs typeface="Times New Roman" panose="02020603050405020304" pitchFamily="18" charset="0"/>
              </a:rPr>
              <a:t>PRE – REREQUISITE FOR THE COURES</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F054969-6C2F-44C9-904D-9FBEDED97454}"/>
              </a:ext>
            </a:extLst>
          </p:cNvPr>
          <p:cNvSpPr>
            <a:spLocks noGrp="1"/>
          </p:cNvSpPr>
          <p:nvPr>
            <p:ph type="subTitle" idx="1"/>
          </p:nvPr>
        </p:nvSpPr>
        <p:spPr>
          <a:xfrm>
            <a:off x="2902226" y="1444487"/>
            <a:ext cx="8602386" cy="5075583"/>
          </a:xfrm>
        </p:spPr>
        <p:txBody>
          <a:bodyPr>
            <a:noAutofit/>
          </a:bodyPr>
          <a:lstStyle/>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Computer</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Software / Computer N/W</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IP address</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File management system / DBMS</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Server / Client server architecture</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Protocol / Router /Port</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HTTP / HTTPS / SSL / DNS / ISP</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Localhost / JDK /JRE </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URL / URI / GUI </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 S/W environment</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Virtualization</a:t>
            </a:r>
          </a:p>
          <a:p>
            <a:pPr marL="285750" indent="-285750">
              <a:buClr>
                <a:srgbClr val="002060"/>
              </a:buClr>
              <a:buFont typeface="Wingdings" panose="05000000000000000000" pitchFamily="2" charset="2"/>
              <a:buChar char="Ø"/>
            </a:pPr>
            <a:r>
              <a:rPr lang="en-IN" sz="2000" dirty="0">
                <a:solidFill>
                  <a:schemeClr val="tx1"/>
                </a:solidFill>
                <a:latin typeface="Times New Roman" panose="02020603050405020304" pitchFamily="18" charset="0"/>
                <a:cs typeface="Times New Roman" panose="02020603050405020304" pitchFamily="18" charset="0"/>
              </a:rPr>
              <a:t>cloud</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EE188A5-FBC5-458D-97F9-DA18A5759D25}"/>
                  </a:ext>
                </a:extLst>
              </p14:cNvPr>
              <p14:cNvContentPartPr/>
              <p14:nvPr/>
            </p14:nvContentPartPr>
            <p14:xfrm>
              <a:off x="1776960" y="1794960"/>
              <a:ext cx="360" cy="360"/>
            </p14:xfrm>
          </p:contentPart>
        </mc:Choice>
        <mc:Fallback xmlns="">
          <p:pic>
            <p:nvPicPr>
              <p:cNvPr id="4" name="Ink 3">
                <a:extLst>
                  <a:ext uri="{FF2B5EF4-FFF2-40B4-BE49-F238E27FC236}">
                    <a16:creationId xmlns:a16="http://schemas.microsoft.com/office/drawing/2014/main" id="{5EE188A5-FBC5-458D-97F9-DA18A5759D25}"/>
                  </a:ext>
                </a:extLst>
              </p:cNvPr>
              <p:cNvPicPr/>
              <p:nvPr/>
            </p:nvPicPr>
            <p:blipFill>
              <a:blip r:embed="rId3"/>
              <a:stretch>
                <a:fillRect/>
              </a:stretch>
            </p:blipFill>
            <p:spPr>
              <a:xfrm>
                <a:off x="1767600" y="1785600"/>
                <a:ext cx="19080" cy="19080"/>
              </a:xfrm>
              <a:prstGeom prst="rect">
                <a:avLst/>
              </a:prstGeom>
            </p:spPr>
          </p:pic>
        </mc:Fallback>
      </mc:AlternateContent>
    </p:spTree>
    <p:extLst>
      <p:ext uri="{BB962C8B-B14F-4D97-AF65-F5344CB8AC3E}">
        <p14:creationId xmlns:p14="http://schemas.microsoft.com/office/powerpoint/2010/main" val="3222601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9ECC4-DB64-46DE-9F5E-4FA8E89B62FA}"/>
              </a:ext>
            </a:extLst>
          </p:cNvPr>
          <p:cNvSpPr>
            <a:spLocks noGrp="1"/>
          </p:cNvSpPr>
          <p:nvPr>
            <p:ph type="title"/>
          </p:nvPr>
        </p:nvSpPr>
        <p:spPr>
          <a:xfrm>
            <a:off x="1987827" y="145773"/>
            <a:ext cx="9516786" cy="834888"/>
          </a:xfrm>
        </p:spPr>
        <p:txBody>
          <a:bodyPr>
            <a:normAutofit/>
          </a:bodyPr>
          <a:lstStyle/>
          <a:p>
            <a:pPr algn="ctr"/>
            <a:r>
              <a:rPr lang="en-IN" sz="4000" b="1" dirty="0">
                <a:latin typeface="Times New Roman" panose="02020603050405020304" pitchFamily="18" charset="0"/>
                <a:cs typeface="Times New Roman" panose="02020603050405020304" pitchFamily="18" charset="0"/>
              </a:rPr>
              <a:t>Computer</a:t>
            </a:r>
          </a:p>
        </p:txBody>
      </p:sp>
      <p:sp>
        <p:nvSpPr>
          <p:cNvPr id="3" name="Content Placeholder 2">
            <a:extLst>
              <a:ext uri="{FF2B5EF4-FFF2-40B4-BE49-F238E27FC236}">
                <a16:creationId xmlns:a16="http://schemas.microsoft.com/office/drawing/2014/main" id="{7D2533F1-15AE-4414-A5E1-CEDD75E5618D}"/>
              </a:ext>
            </a:extLst>
          </p:cNvPr>
          <p:cNvSpPr>
            <a:spLocks noGrp="1"/>
          </p:cNvSpPr>
          <p:nvPr>
            <p:ph idx="1"/>
          </p:nvPr>
        </p:nvSpPr>
        <p:spPr>
          <a:xfrm>
            <a:off x="1987826" y="1298713"/>
            <a:ext cx="9516786" cy="4704521"/>
          </a:xfrm>
        </p:spPr>
        <p:txBody>
          <a:bodyPr>
            <a:normAutofit/>
          </a:bodyPr>
          <a:lstStyle/>
          <a:p>
            <a:r>
              <a:rPr lang="en-IN" sz="2800" dirty="0">
                <a:solidFill>
                  <a:schemeClr val="tx1"/>
                </a:solidFill>
                <a:latin typeface="Times New Roman" panose="02020603050405020304" pitchFamily="18" charset="0"/>
                <a:cs typeface="Times New Roman" panose="02020603050405020304" pitchFamily="18" charset="0"/>
              </a:rPr>
              <a:t>It’s a combination of hardware &amp; software</a:t>
            </a:r>
          </a:p>
          <a:p>
            <a:pPr marL="0" indent="0">
              <a:buNone/>
            </a:pPr>
            <a:endParaRPr lang="en-IN" sz="2800" dirty="0">
              <a:solidFill>
                <a:schemeClr val="tx1"/>
              </a:solidFill>
              <a:latin typeface="Times New Roman" panose="02020603050405020304" pitchFamily="18" charset="0"/>
              <a:cs typeface="Times New Roman" panose="02020603050405020304" pitchFamily="18" charset="0"/>
            </a:endParaRPr>
          </a:p>
          <a:p>
            <a:r>
              <a:rPr lang="en-IN" sz="2800" dirty="0">
                <a:solidFill>
                  <a:schemeClr val="tx1"/>
                </a:solidFill>
                <a:latin typeface="Times New Roman" panose="02020603050405020304" pitchFamily="18" charset="0"/>
                <a:cs typeface="Times New Roman" panose="02020603050405020304" pitchFamily="18" charset="0"/>
              </a:rPr>
              <a:t>Which works under the set of instruction given by the software</a:t>
            </a:r>
          </a:p>
          <a:p>
            <a:pPr marL="0" indent="0">
              <a:buNone/>
            </a:pPr>
            <a:endParaRPr lang="en-IN" sz="2800" dirty="0">
              <a:solidFill>
                <a:schemeClr val="tx1"/>
              </a:solidFill>
              <a:latin typeface="Times New Roman" panose="02020603050405020304" pitchFamily="18" charset="0"/>
              <a:cs typeface="Times New Roman" panose="02020603050405020304" pitchFamily="18" charset="0"/>
            </a:endParaRPr>
          </a:p>
          <a:p>
            <a:r>
              <a:rPr lang="en-IN" sz="2800" dirty="0">
                <a:solidFill>
                  <a:schemeClr val="tx1"/>
                </a:solidFill>
                <a:latin typeface="Times New Roman" panose="02020603050405020304" pitchFamily="18" charset="0"/>
                <a:cs typeface="Times New Roman" panose="02020603050405020304" pitchFamily="18" charset="0"/>
              </a:rPr>
              <a:t>It’s also used to storing &amp; processing data</a:t>
            </a:r>
          </a:p>
          <a:p>
            <a:pPr marL="0" indent="0">
              <a:buNone/>
            </a:pPr>
            <a:endParaRPr lang="en-IN" dirty="0"/>
          </a:p>
        </p:txBody>
      </p:sp>
    </p:spTree>
    <p:extLst>
      <p:ext uri="{BB962C8B-B14F-4D97-AF65-F5344CB8AC3E}">
        <p14:creationId xmlns:p14="http://schemas.microsoft.com/office/powerpoint/2010/main" val="4270091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CE3D-8583-4157-8889-AEFD84A28632}"/>
              </a:ext>
            </a:extLst>
          </p:cNvPr>
          <p:cNvSpPr>
            <a:spLocks noGrp="1"/>
          </p:cNvSpPr>
          <p:nvPr>
            <p:ph type="title"/>
          </p:nvPr>
        </p:nvSpPr>
        <p:spPr>
          <a:xfrm>
            <a:off x="1523999" y="112642"/>
            <a:ext cx="9715569" cy="74812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Software</a:t>
            </a:r>
            <a:endParaRPr lang="en-IN" sz="4000" b="1" dirty="0"/>
          </a:p>
        </p:txBody>
      </p:sp>
      <p:sp>
        <p:nvSpPr>
          <p:cNvPr id="3" name="Content Placeholder 2">
            <a:extLst>
              <a:ext uri="{FF2B5EF4-FFF2-40B4-BE49-F238E27FC236}">
                <a16:creationId xmlns:a16="http://schemas.microsoft.com/office/drawing/2014/main" id="{91685AD7-A564-4018-AE9A-622B08E847BB}"/>
              </a:ext>
            </a:extLst>
          </p:cNvPr>
          <p:cNvSpPr>
            <a:spLocks noGrp="1"/>
          </p:cNvSpPr>
          <p:nvPr>
            <p:ph idx="1"/>
          </p:nvPr>
        </p:nvSpPr>
        <p:spPr>
          <a:xfrm>
            <a:off x="371060" y="1298712"/>
            <a:ext cx="11675165" cy="5446645"/>
          </a:xfrm>
        </p:spPr>
        <p:txBody>
          <a:bodyPr>
            <a:noAutofit/>
          </a:bodyPr>
          <a:lstStyle/>
          <a:p>
            <a:r>
              <a:rPr lang="en-IN" sz="2400" dirty="0">
                <a:solidFill>
                  <a:schemeClr val="tx1"/>
                </a:solidFill>
                <a:latin typeface="Times New Roman" panose="02020603050405020304" pitchFamily="18" charset="0"/>
                <a:cs typeface="Times New Roman" panose="02020603050405020304" pitchFamily="18" charset="0"/>
              </a:rPr>
              <a:t>It’s a collection of programs</a:t>
            </a:r>
            <a:r>
              <a:rPr lang="en-IN" sz="2400" b="0" i="0" dirty="0">
                <a:solidFill>
                  <a:schemeClr val="tx1"/>
                </a:solidFill>
                <a:effectLst/>
                <a:latin typeface="Times New Roman" panose="02020603050405020304" pitchFamily="18" charset="0"/>
                <a:cs typeface="Times New Roman" panose="02020603050405020304" pitchFamily="18" charset="0"/>
              </a:rPr>
              <a:t> &amp; operating information used by a computer.</a:t>
            </a:r>
          </a:p>
          <a:p>
            <a:pPr marL="0" indent="0">
              <a:buNone/>
            </a:pPr>
            <a:endParaRPr lang="en-IN" sz="2400" dirty="0">
              <a:solidFill>
                <a:schemeClr val="tx1"/>
              </a:solidFill>
              <a:latin typeface="Times New Roman" panose="02020603050405020304" pitchFamily="18" charset="0"/>
              <a:cs typeface="Times New Roman" panose="02020603050405020304" pitchFamily="18" charset="0"/>
            </a:endParaRPr>
          </a:p>
          <a:p>
            <a:r>
              <a:rPr lang="en-IN" sz="2400" dirty="0">
                <a:solidFill>
                  <a:schemeClr val="tx1"/>
                </a:solidFill>
                <a:latin typeface="Times New Roman" panose="02020603050405020304" pitchFamily="18" charset="0"/>
                <a:cs typeface="Times New Roman" panose="02020603050405020304" pitchFamily="18" charset="0"/>
              </a:rPr>
              <a:t>Which gives the set of instruction to the hardware &amp; user.</a:t>
            </a:r>
          </a:p>
          <a:p>
            <a:pPr marL="0" indent="0">
              <a:buNone/>
            </a:pPr>
            <a:endParaRPr lang="en-IN" sz="2400" dirty="0">
              <a:solidFill>
                <a:schemeClr val="tx1"/>
              </a:solidFill>
              <a:latin typeface="Times New Roman" panose="02020603050405020304" pitchFamily="18" charset="0"/>
              <a:cs typeface="Times New Roman" panose="02020603050405020304" pitchFamily="18" charset="0"/>
            </a:endParaRPr>
          </a:p>
          <a:p>
            <a:r>
              <a:rPr lang="en-IN" sz="2400" dirty="0">
                <a:solidFill>
                  <a:schemeClr val="tx1"/>
                </a:solidFill>
                <a:latin typeface="Times New Roman" panose="02020603050405020304" pitchFamily="18" charset="0"/>
                <a:cs typeface="Times New Roman" panose="02020603050405020304" pitchFamily="18" charset="0"/>
              </a:rPr>
              <a:t>2 types of s/w :- 1)  System s/w – Linux , windows.</a:t>
            </a:r>
          </a:p>
          <a:p>
            <a:pPr marL="0" indent="0">
              <a:buNone/>
            </a:pPr>
            <a:r>
              <a:rPr lang="en-IN" sz="2400" dirty="0">
                <a:solidFill>
                  <a:schemeClr val="tx1"/>
                </a:solidFill>
                <a:latin typeface="Times New Roman" panose="02020603050405020304" pitchFamily="18" charset="0"/>
                <a:cs typeface="Times New Roman" panose="02020603050405020304" pitchFamily="18" charset="0"/>
              </a:rPr>
              <a:t>                                 2)  Application s/w – ppt , note pad.</a:t>
            </a:r>
          </a:p>
          <a:p>
            <a:pPr marL="0" indent="0">
              <a:buNone/>
            </a:pPr>
            <a:endParaRPr lang="en-IN" sz="2400" dirty="0">
              <a:solidFill>
                <a:schemeClr val="tx1"/>
              </a:solidFill>
              <a:latin typeface="Times New Roman" panose="02020603050405020304" pitchFamily="18" charset="0"/>
              <a:cs typeface="Times New Roman" panose="02020603050405020304" pitchFamily="18" charset="0"/>
            </a:endParaRPr>
          </a:p>
          <a:p>
            <a:pPr marL="0" indent="0">
              <a:buNone/>
            </a:pPr>
            <a:r>
              <a:rPr lang="en-IN" sz="2400" dirty="0">
                <a:solidFill>
                  <a:schemeClr val="tx1"/>
                </a:solidFill>
                <a:latin typeface="Times New Roman" panose="02020603050405020304" pitchFamily="18" charset="0"/>
                <a:cs typeface="Times New Roman" panose="02020603050405020304" pitchFamily="18" charset="0"/>
              </a:rPr>
              <a:t>                                                                   OR</a:t>
            </a:r>
          </a:p>
          <a:p>
            <a:pPr marL="0" indent="0">
              <a:buNone/>
            </a:pPr>
            <a:endParaRPr lang="en-IN" sz="2400" dirty="0">
              <a:solidFill>
                <a:schemeClr val="tx1"/>
              </a:solidFill>
              <a:latin typeface="Times New Roman" panose="02020603050405020304" pitchFamily="18" charset="0"/>
              <a:cs typeface="Times New Roman" panose="02020603050405020304" pitchFamily="18" charset="0"/>
            </a:endParaRPr>
          </a:p>
          <a:p>
            <a:r>
              <a:rPr lang="en-IN" sz="2400" b="0" i="0" dirty="0">
                <a:solidFill>
                  <a:schemeClr val="tx1"/>
                </a:solidFill>
                <a:effectLst/>
                <a:latin typeface="Times New Roman" panose="02020603050405020304" pitchFamily="18" charset="0"/>
                <a:cs typeface="Times New Roman" panose="02020603050405020304" pitchFamily="18" charset="0"/>
              </a:rPr>
              <a:t>Software is a collection of instructions that tell a computer how to work. This is in contrast to hardware, from which the system is built and which actually performs the work.</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1044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99AC6-C68C-4F4F-B0CA-1B70C9C304FD}"/>
              </a:ext>
            </a:extLst>
          </p:cNvPr>
          <p:cNvSpPr>
            <a:spLocks noGrp="1"/>
          </p:cNvSpPr>
          <p:nvPr>
            <p:ph type="title"/>
          </p:nvPr>
        </p:nvSpPr>
        <p:spPr>
          <a:xfrm>
            <a:off x="1616765" y="198784"/>
            <a:ext cx="9872871" cy="64272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Computer N/W</a:t>
            </a:r>
            <a:endParaRPr lang="en-IN" sz="4000" b="1" dirty="0"/>
          </a:p>
        </p:txBody>
      </p:sp>
      <p:pic>
        <p:nvPicPr>
          <p:cNvPr id="9" name="Content Placeholder 8">
            <a:extLst>
              <a:ext uri="{FF2B5EF4-FFF2-40B4-BE49-F238E27FC236}">
                <a16:creationId xmlns:a16="http://schemas.microsoft.com/office/drawing/2014/main" id="{ABA62D31-E6A3-4EDB-B341-007E79732452}"/>
              </a:ext>
            </a:extLst>
          </p:cNvPr>
          <p:cNvPicPr>
            <a:picLocks noGrp="1" noChangeAspect="1"/>
          </p:cNvPicPr>
          <p:nvPr>
            <p:ph idx="1"/>
          </p:nvPr>
        </p:nvPicPr>
        <p:blipFill>
          <a:blip r:embed="rId2"/>
          <a:stretch>
            <a:fillRect/>
          </a:stretch>
        </p:blipFill>
        <p:spPr>
          <a:xfrm>
            <a:off x="6798365" y="2014331"/>
            <a:ext cx="4929809" cy="4002156"/>
          </a:xfrm>
          <a:prstGeom prst="rect">
            <a:avLst/>
          </a:prstGeom>
        </p:spPr>
      </p:pic>
      <p:sp>
        <p:nvSpPr>
          <p:cNvPr id="4" name="Text Placeholder 3">
            <a:extLst>
              <a:ext uri="{FF2B5EF4-FFF2-40B4-BE49-F238E27FC236}">
                <a16:creationId xmlns:a16="http://schemas.microsoft.com/office/drawing/2014/main" id="{50367BB7-771B-4E3C-81EC-5AF8697C5B34}"/>
              </a:ext>
            </a:extLst>
          </p:cNvPr>
          <p:cNvSpPr>
            <a:spLocks noGrp="1"/>
          </p:cNvSpPr>
          <p:nvPr>
            <p:ph type="body" sz="half" idx="2"/>
          </p:nvPr>
        </p:nvSpPr>
        <p:spPr>
          <a:xfrm>
            <a:off x="834888" y="1598612"/>
            <a:ext cx="5259524" cy="5060603"/>
          </a:xfrm>
        </p:spPr>
        <p:txBody>
          <a:bodyPr>
            <a:noAutofit/>
          </a:bodyPr>
          <a:lstStyle/>
          <a:p>
            <a:pPr marL="342900" indent="-342900">
              <a:buFont typeface="Wingdings" panose="05000000000000000000" pitchFamily="2" charset="2"/>
              <a:buChar char="q"/>
            </a:pPr>
            <a:r>
              <a:rPr lang="en-IN" sz="2800" b="0" i="0" dirty="0">
                <a:solidFill>
                  <a:schemeClr val="tx1"/>
                </a:solidFill>
                <a:effectLst/>
                <a:latin typeface="Times New Roman" panose="02020603050405020304" pitchFamily="18" charset="0"/>
                <a:cs typeface="Times New Roman" panose="02020603050405020304" pitchFamily="18" charset="0"/>
              </a:rPr>
              <a:t>A network is </a:t>
            </a:r>
            <a:r>
              <a:rPr lang="en-IN" sz="2800" i="0" dirty="0">
                <a:solidFill>
                  <a:schemeClr val="tx1"/>
                </a:solidFill>
                <a:effectLst/>
                <a:latin typeface="Times New Roman" panose="02020603050405020304" pitchFamily="18" charset="0"/>
                <a:cs typeface="Times New Roman" panose="02020603050405020304" pitchFamily="18" charset="0"/>
              </a:rPr>
              <a:t>a collection of computers, servers, mainframes, network devices, peripherals, or other devices connected to allow data sharing.</a:t>
            </a:r>
          </a:p>
          <a:p>
            <a:endParaRPr lang="en-IN" sz="2800" b="1" i="0" dirty="0">
              <a:solidFill>
                <a:schemeClr val="tx1"/>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IN" sz="2800" b="0" i="0" dirty="0">
                <a:solidFill>
                  <a:schemeClr val="tx1"/>
                </a:solidFill>
                <a:effectLst/>
                <a:latin typeface="Times New Roman" panose="02020603050405020304" pitchFamily="18" charset="0"/>
                <a:cs typeface="Times New Roman" panose="02020603050405020304" pitchFamily="18" charset="0"/>
              </a:rPr>
              <a:t>An example of a network is the Internet, which connects millions of people all over the world.</a:t>
            </a:r>
            <a:endParaRPr lang="en-IN"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1736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D7A8C-1CD8-4F9E-A4AC-600CFC355871}"/>
              </a:ext>
            </a:extLst>
          </p:cNvPr>
          <p:cNvSpPr>
            <a:spLocks noGrp="1"/>
          </p:cNvSpPr>
          <p:nvPr>
            <p:ph type="title"/>
          </p:nvPr>
        </p:nvSpPr>
        <p:spPr>
          <a:xfrm>
            <a:off x="1603513" y="92764"/>
            <a:ext cx="9901099" cy="662609"/>
          </a:xfrm>
        </p:spPr>
        <p:txBody>
          <a:bodyPr>
            <a:normAutofit fontScale="90000"/>
          </a:bodyPr>
          <a:lstStyle/>
          <a:p>
            <a:pPr algn="ctr"/>
            <a:r>
              <a:rPr lang="en-IN" sz="4400" b="1" dirty="0">
                <a:solidFill>
                  <a:schemeClr val="tx1"/>
                </a:solidFill>
                <a:latin typeface="Times New Roman" panose="02020603050405020304" pitchFamily="18" charset="0"/>
                <a:cs typeface="Times New Roman" panose="02020603050405020304" pitchFamily="18" charset="0"/>
              </a:rPr>
              <a:t>IP address</a:t>
            </a:r>
            <a:br>
              <a:rPr lang="en-IN" sz="3600" dirty="0">
                <a:solidFill>
                  <a:schemeClr val="tx1"/>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99E912E-748A-4B76-A793-04D5233129B1}"/>
              </a:ext>
            </a:extLst>
          </p:cNvPr>
          <p:cNvSpPr>
            <a:spLocks noGrp="1"/>
          </p:cNvSpPr>
          <p:nvPr>
            <p:ph idx="1"/>
          </p:nvPr>
        </p:nvSpPr>
        <p:spPr>
          <a:xfrm>
            <a:off x="1497496" y="1113183"/>
            <a:ext cx="10007116" cy="5420139"/>
          </a:xfrm>
        </p:spPr>
        <p:txBody>
          <a:bodyPr>
            <a:normAutofit/>
          </a:bodyPr>
          <a:lstStyle/>
          <a:p>
            <a:r>
              <a:rPr lang="en-IN" sz="2800" i="0" dirty="0">
                <a:solidFill>
                  <a:schemeClr val="tx1"/>
                </a:solidFill>
                <a:effectLst/>
                <a:latin typeface="Times New Roman" panose="02020603050405020304" pitchFamily="18" charset="0"/>
                <a:cs typeface="Times New Roman" panose="02020603050405020304" pitchFamily="18" charset="0"/>
              </a:rPr>
              <a:t>An IP address is a string of numbers separated by periods.</a:t>
            </a:r>
          </a:p>
          <a:p>
            <a:r>
              <a:rPr lang="en-IN" sz="2800" b="0" i="0" dirty="0">
                <a:solidFill>
                  <a:schemeClr val="tx1"/>
                </a:solidFill>
                <a:effectLst/>
                <a:latin typeface="Times New Roman" panose="02020603050405020304" pitchFamily="18" charset="0"/>
                <a:cs typeface="Times New Roman" panose="02020603050405020304" pitchFamily="18" charset="0"/>
              </a:rPr>
              <a:t> IP addresses are expressed as a set of four numbers </a:t>
            </a:r>
          </a:p>
          <a:p>
            <a:pPr marL="0" indent="0">
              <a:buNone/>
            </a:pPr>
            <a:endParaRPr lang="en-IN" sz="2800" b="0" i="0" dirty="0">
              <a:solidFill>
                <a:schemeClr val="tx1"/>
              </a:solidFill>
              <a:effectLst/>
              <a:latin typeface="Times New Roman" panose="02020603050405020304" pitchFamily="18" charset="0"/>
              <a:cs typeface="Times New Roman" panose="02020603050405020304" pitchFamily="18" charset="0"/>
            </a:endParaRPr>
          </a:p>
          <a:p>
            <a:r>
              <a:rPr lang="en-IN" sz="2800" b="0" i="0" dirty="0">
                <a:solidFill>
                  <a:schemeClr val="tx1"/>
                </a:solidFill>
                <a:effectLst/>
                <a:latin typeface="Times New Roman" panose="02020603050405020304" pitchFamily="18" charset="0"/>
                <a:cs typeface="Times New Roman" panose="02020603050405020304" pitchFamily="18" charset="0"/>
              </a:rPr>
              <a:t>  example:- address might be 192.158. 1.38.</a:t>
            </a:r>
          </a:p>
          <a:p>
            <a:r>
              <a:rPr lang="en-IN" sz="2800" b="0" i="0" dirty="0">
                <a:solidFill>
                  <a:schemeClr val="tx1"/>
                </a:solidFill>
                <a:effectLst/>
                <a:latin typeface="Times New Roman" panose="02020603050405020304" pitchFamily="18" charset="0"/>
                <a:cs typeface="Times New Roman" panose="02020603050405020304" pitchFamily="18" charset="0"/>
              </a:rPr>
              <a:t> Each number in the set can range from 0 to 255.</a:t>
            </a:r>
          </a:p>
          <a:p>
            <a:pPr marL="0" indent="0">
              <a:buNone/>
            </a:pPr>
            <a:endParaRPr lang="en-IN" sz="2800" b="0" i="0" dirty="0">
              <a:solidFill>
                <a:schemeClr val="tx1"/>
              </a:solidFill>
              <a:effectLst/>
              <a:latin typeface="Times New Roman" panose="02020603050405020304" pitchFamily="18" charset="0"/>
              <a:cs typeface="Times New Roman" panose="02020603050405020304" pitchFamily="18" charset="0"/>
            </a:endParaRPr>
          </a:p>
          <a:p>
            <a:r>
              <a:rPr lang="en-IN" sz="2800" dirty="0">
                <a:solidFill>
                  <a:schemeClr val="tx1"/>
                </a:solidFill>
                <a:latin typeface="Times New Roman" panose="02020603050405020304" pitchFamily="18" charset="0"/>
                <a:cs typeface="Times New Roman" panose="02020603050405020304" pitchFamily="18" charset="0"/>
              </a:rPr>
              <a:t>Types of  Ip address :- ipv4 &amp; ipv6</a:t>
            </a:r>
          </a:p>
          <a:p>
            <a:r>
              <a:rPr lang="en-IN" sz="2800" b="0" i="0" dirty="0">
                <a:solidFill>
                  <a:schemeClr val="tx1"/>
                </a:solidFill>
                <a:effectLst/>
                <a:latin typeface="Times New Roman" panose="02020603050405020304" pitchFamily="18" charset="0"/>
                <a:cs typeface="Times New Roman" panose="02020603050405020304" pitchFamily="18" charset="0"/>
              </a:rPr>
              <a:t>IPV4 :- internet </a:t>
            </a:r>
            <a:r>
              <a:rPr lang="en-IN" sz="2800" i="0" dirty="0">
                <a:solidFill>
                  <a:schemeClr val="tx1"/>
                </a:solidFill>
                <a:effectLst/>
                <a:latin typeface="Times New Roman" panose="02020603050405020304" pitchFamily="18" charset="0"/>
                <a:cs typeface="Times New Roman" panose="02020603050405020304" pitchFamily="18" charset="0"/>
              </a:rPr>
              <a:t>Protocol version 4 with 32 bit address</a:t>
            </a:r>
          </a:p>
          <a:p>
            <a:r>
              <a:rPr lang="en-IN" sz="2800" dirty="0">
                <a:solidFill>
                  <a:schemeClr val="tx1"/>
                </a:solidFill>
                <a:latin typeface="Times New Roman" panose="02020603050405020304" pitchFamily="18" charset="0"/>
                <a:cs typeface="Times New Roman" panose="02020603050405020304" pitchFamily="18" charset="0"/>
              </a:rPr>
              <a:t>IPV6 :- </a:t>
            </a:r>
            <a:r>
              <a:rPr lang="en-IN" sz="2800" i="0" dirty="0">
                <a:solidFill>
                  <a:schemeClr val="tx1"/>
                </a:solidFill>
                <a:effectLst/>
                <a:latin typeface="Times New Roman" panose="02020603050405020304" pitchFamily="18" charset="0"/>
                <a:cs typeface="Times New Roman" panose="02020603050405020304" pitchFamily="18" charset="0"/>
              </a:rPr>
              <a:t>internet Protocol </a:t>
            </a:r>
            <a:r>
              <a:rPr lang="en-IN" sz="2800" b="0" i="0" dirty="0">
                <a:solidFill>
                  <a:schemeClr val="tx1"/>
                </a:solidFill>
                <a:effectLst/>
                <a:latin typeface="Times New Roman" panose="02020603050405020304" pitchFamily="18" charset="0"/>
                <a:cs typeface="Times New Roman" panose="02020603050405020304" pitchFamily="18" charset="0"/>
              </a:rPr>
              <a:t>version </a:t>
            </a:r>
            <a:r>
              <a:rPr lang="en-IN" sz="2800" dirty="0">
                <a:solidFill>
                  <a:schemeClr val="tx1"/>
                </a:solidFill>
                <a:latin typeface="Times New Roman" panose="02020603050405020304" pitchFamily="18" charset="0"/>
                <a:cs typeface="Times New Roman" panose="02020603050405020304" pitchFamily="18" charset="0"/>
              </a:rPr>
              <a:t>6</a:t>
            </a:r>
            <a:r>
              <a:rPr lang="en-IN" sz="2800" b="0" i="0" dirty="0">
                <a:solidFill>
                  <a:schemeClr val="tx1"/>
                </a:solidFill>
                <a:effectLst/>
                <a:latin typeface="Times New Roman" panose="02020603050405020304" pitchFamily="18" charset="0"/>
                <a:cs typeface="Times New Roman" panose="02020603050405020304" pitchFamily="18" charset="0"/>
              </a:rPr>
              <a:t> with 128  bit address</a:t>
            </a:r>
          </a:p>
          <a:p>
            <a:endParaRPr lang="en-IN" b="0" i="0" dirty="0">
              <a:solidFill>
                <a:srgbClr val="BDC1C6"/>
              </a:solidFill>
              <a:effectLst/>
              <a:latin typeface="arial" panose="020B0604020202020204" pitchFamily="34" charset="0"/>
            </a:endParaRPr>
          </a:p>
          <a:p>
            <a:pPr marL="0" indent="0">
              <a:buNone/>
            </a:pPr>
            <a:endParaRPr lang="en-IN" b="0" i="0" dirty="0">
              <a:solidFill>
                <a:srgbClr val="BDC1C6"/>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3501694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37A7D-C3D7-4A36-BC38-394DE16512B6}"/>
              </a:ext>
            </a:extLst>
          </p:cNvPr>
          <p:cNvSpPr>
            <a:spLocks noGrp="1"/>
          </p:cNvSpPr>
          <p:nvPr>
            <p:ph type="title"/>
          </p:nvPr>
        </p:nvSpPr>
        <p:spPr>
          <a:xfrm>
            <a:off x="1577010" y="185530"/>
            <a:ext cx="9927602" cy="769444"/>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File management system / DBMS</a:t>
            </a:r>
            <a:endParaRPr lang="en-IN" sz="4000" dirty="0"/>
          </a:p>
        </p:txBody>
      </p:sp>
      <p:sp>
        <p:nvSpPr>
          <p:cNvPr id="3" name="Text Placeholder 2">
            <a:extLst>
              <a:ext uri="{FF2B5EF4-FFF2-40B4-BE49-F238E27FC236}">
                <a16:creationId xmlns:a16="http://schemas.microsoft.com/office/drawing/2014/main" id="{5C2DB1EB-7856-4775-86D7-CDB13153C0EA}"/>
              </a:ext>
            </a:extLst>
          </p:cNvPr>
          <p:cNvSpPr>
            <a:spLocks noGrp="1"/>
          </p:cNvSpPr>
          <p:nvPr>
            <p:ph type="body" idx="1"/>
          </p:nvPr>
        </p:nvSpPr>
        <p:spPr>
          <a:xfrm>
            <a:off x="159026" y="1351722"/>
            <a:ext cx="5592418" cy="2286000"/>
          </a:xfrm>
        </p:spPr>
        <p:txBody>
          <a:bodyPr/>
          <a:lstStyle/>
          <a:p>
            <a:r>
              <a:rPr lang="en-IN" sz="2000" b="1" i="0" dirty="0">
                <a:solidFill>
                  <a:schemeClr val="tx1"/>
                </a:solidFill>
                <a:effectLst/>
                <a:latin typeface="Times New Roman" panose="02020603050405020304" pitchFamily="18" charset="0"/>
                <a:cs typeface="Times New Roman" panose="02020603050405020304" pitchFamily="18" charset="0"/>
              </a:rPr>
              <a:t>A file management system </a:t>
            </a:r>
            <a:r>
              <a:rPr lang="en-IN" sz="2000" b="0" i="0" dirty="0">
                <a:solidFill>
                  <a:schemeClr val="tx1"/>
                </a:solidFill>
                <a:effectLst/>
                <a:latin typeface="Times New Roman" panose="02020603050405020304" pitchFamily="18" charset="0"/>
                <a:cs typeface="Times New Roman" panose="02020603050405020304" pitchFamily="18" charset="0"/>
              </a:rPr>
              <a:t>is </a:t>
            </a:r>
            <a:r>
              <a:rPr lang="en-IN" sz="2000" i="0" dirty="0">
                <a:solidFill>
                  <a:schemeClr val="tx1"/>
                </a:solidFill>
                <a:effectLst/>
                <a:latin typeface="Times New Roman" panose="02020603050405020304" pitchFamily="18" charset="0"/>
                <a:cs typeface="Times New Roman" panose="02020603050405020304" pitchFamily="18" charset="0"/>
              </a:rPr>
              <a:t>used for file maintenance (or management) operations. </a:t>
            </a:r>
            <a:r>
              <a:rPr lang="en-IN" sz="2000" b="0" i="0" dirty="0">
                <a:solidFill>
                  <a:schemeClr val="tx1"/>
                </a:solidFill>
                <a:effectLst/>
                <a:latin typeface="Times New Roman" panose="02020603050405020304" pitchFamily="18" charset="0"/>
                <a:cs typeface="Times New Roman" panose="02020603050405020304" pitchFamily="18" charset="0"/>
              </a:rPr>
              <a:t>It is a type of software that manages data files in a computer system.</a:t>
            </a:r>
          </a:p>
          <a:p>
            <a:r>
              <a:rPr lang="en-IN" sz="2000" b="0" i="0" dirty="0">
                <a:solidFill>
                  <a:schemeClr val="tx1"/>
                </a:solidFill>
                <a:effectLst/>
                <a:latin typeface="Times New Roman" panose="02020603050405020304" pitchFamily="18" charset="0"/>
                <a:cs typeface="Times New Roman" panose="02020603050405020304" pitchFamily="18" charset="0"/>
              </a:rPr>
              <a:t> A file management system has limited capabilities and is designed to manage individual or group files, such as special office documents and records.</a:t>
            </a:r>
            <a:endParaRPr lang="en-IN" sz="2000" dirty="0">
              <a:solidFill>
                <a:schemeClr val="tx1"/>
              </a:solidFill>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CDB0287E-7047-4D2F-97F6-749834A41CCC}"/>
              </a:ext>
            </a:extLst>
          </p:cNvPr>
          <p:cNvPicPr>
            <a:picLocks noGrp="1" noChangeAspect="1"/>
          </p:cNvPicPr>
          <p:nvPr>
            <p:ph sz="half" idx="2"/>
          </p:nvPr>
        </p:nvPicPr>
        <p:blipFill>
          <a:blip r:embed="rId2"/>
          <a:stretch>
            <a:fillRect/>
          </a:stretch>
        </p:blipFill>
        <p:spPr>
          <a:xfrm>
            <a:off x="159025" y="3763617"/>
            <a:ext cx="5433394" cy="3094384"/>
          </a:xfrm>
          <a:prstGeom prst="rect">
            <a:avLst/>
          </a:prstGeom>
        </p:spPr>
      </p:pic>
      <p:sp>
        <p:nvSpPr>
          <p:cNvPr id="5" name="Text Placeholder 4">
            <a:extLst>
              <a:ext uri="{FF2B5EF4-FFF2-40B4-BE49-F238E27FC236}">
                <a16:creationId xmlns:a16="http://schemas.microsoft.com/office/drawing/2014/main" id="{B78B7929-59F2-4174-9E8C-177DBA88790E}"/>
              </a:ext>
            </a:extLst>
          </p:cNvPr>
          <p:cNvSpPr>
            <a:spLocks noGrp="1"/>
          </p:cNvSpPr>
          <p:nvPr>
            <p:ph type="body" sz="quarter" idx="3"/>
          </p:nvPr>
        </p:nvSpPr>
        <p:spPr>
          <a:xfrm>
            <a:off x="6096001" y="1252329"/>
            <a:ext cx="5936974" cy="3094384"/>
          </a:xfrm>
        </p:spPr>
        <p:txBody>
          <a:bodyPr/>
          <a:lstStyle/>
          <a:p>
            <a:r>
              <a:rPr lang="en-IN" sz="2000" b="1" i="0" dirty="0">
                <a:solidFill>
                  <a:schemeClr val="tx1"/>
                </a:solidFill>
                <a:effectLst/>
                <a:latin typeface="Times New Roman" panose="02020603050405020304" pitchFamily="18" charset="0"/>
                <a:cs typeface="Times New Roman" panose="02020603050405020304" pitchFamily="18" charset="0"/>
              </a:rPr>
              <a:t>Database Management Systems (DBMS) </a:t>
            </a:r>
            <a:r>
              <a:rPr lang="en-IN" sz="2000" b="0" i="0" dirty="0">
                <a:solidFill>
                  <a:schemeClr val="tx1"/>
                </a:solidFill>
                <a:effectLst/>
                <a:latin typeface="Times New Roman" panose="02020603050405020304" pitchFamily="18" charset="0"/>
                <a:cs typeface="Times New Roman" panose="02020603050405020304" pitchFamily="18" charset="0"/>
              </a:rPr>
              <a:t>are </a:t>
            </a:r>
            <a:r>
              <a:rPr lang="en-IN" sz="2000" i="0" dirty="0">
                <a:solidFill>
                  <a:schemeClr val="tx1"/>
                </a:solidFill>
                <a:effectLst/>
                <a:latin typeface="Times New Roman" panose="02020603050405020304" pitchFamily="18" charset="0"/>
                <a:cs typeface="Times New Roman" panose="02020603050405020304" pitchFamily="18" charset="0"/>
              </a:rPr>
              <a:t>software systems used to store, retrieve, and run queries on data</a:t>
            </a:r>
            <a:r>
              <a:rPr lang="en-IN" sz="2000" b="0" i="0" dirty="0">
                <a:solidFill>
                  <a:schemeClr val="tx1"/>
                </a:solidFill>
                <a:effectLst/>
                <a:latin typeface="Times New Roman" panose="02020603050405020304" pitchFamily="18" charset="0"/>
                <a:cs typeface="Times New Roman" panose="02020603050405020304" pitchFamily="18" charset="0"/>
              </a:rPr>
              <a:t>.</a:t>
            </a:r>
          </a:p>
          <a:p>
            <a:r>
              <a:rPr lang="en-IN" sz="2000" b="0" i="0" dirty="0">
                <a:solidFill>
                  <a:schemeClr val="tx1"/>
                </a:solidFill>
                <a:effectLst/>
                <a:latin typeface="Times New Roman" panose="02020603050405020304" pitchFamily="18" charset="0"/>
                <a:cs typeface="Times New Roman" panose="02020603050405020304" pitchFamily="18" charset="0"/>
              </a:rPr>
              <a:t> A DBMS serves as an interface between an end-user and a database, allowing users to create, read, update, and delete data in the database.</a:t>
            </a:r>
          </a:p>
          <a:p>
            <a:r>
              <a:rPr lang="en-IN" sz="2000" dirty="0">
                <a:solidFill>
                  <a:schemeClr val="tx1"/>
                </a:solidFill>
                <a:latin typeface="Times New Roman" panose="02020603050405020304" pitchFamily="18" charset="0"/>
                <a:cs typeface="Times New Roman" panose="02020603050405020304" pitchFamily="18" charset="0"/>
              </a:rPr>
              <a:t>Types :- Relational DBMS – independent table</a:t>
            </a:r>
          </a:p>
          <a:p>
            <a:r>
              <a:rPr lang="en-IN" sz="2000" b="0" i="0" dirty="0">
                <a:solidFill>
                  <a:schemeClr val="tx1"/>
                </a:solidFill>
                <a:effectLst/>
                <a:latin typeface="Times New Roman" panose="02020603050405020304" pitchFamily="18" charset="0"/>
                <a:cs typeface="Times New Roman" panose="02020603050405020304" pitchFamily="18" charset="0"/>
              </a:rPr>
              <a:t>               N/</a:t>
            </a:r>
            <a:r>
              <a:rPr lang="en-IN" sz="2000" dirty="0">
                <a:solidFill>
                  <a:schemeClr val="tx1"/>
                </a:solidFill>
                <a:latin typeface="Times New Roman" panose="02020603050405020304" pitchFamily="18" charset="0"/>
                <a:cs typeface="Times New Roman" panose="02020603050405020304" pitchFamily="18" charset="0"/>
              </a:rPr>
              <a:t>W</a:t>
            </a:r>
            <a:r>
              <a:rPr lang="en-IN" sz="2000" b="0" i="0" dirty="0">
                <a:solidFill>
                  <a:schemeClr val="tx1"/>
                </a:solidFill>
                <a:effectLst/>
                <a:latin typeface="Times New Roman" panose="02020603050405020304" pitchFamily="18" charset="0"/>
                <a:cs typeface="Times New Roman" panose="02020603050405020304" pitchFamily="18" charset="0"/>
              </a:rPr>
              <a:t>  DBMS – graphical representation</a:t>
            </a:r>
          </a:p>
          <a:p>
            <a:r>
              <a:rPr lang="en-IN" sz="2000" dirty="0">
                <a:solidFill>
                  <a:schemeClr val="tx1"/>
                </a:solidFill>
                <a:latin typeface="Times New Roman" panose="02020603050405020304" pitchFamily="18" charset="0"/>
                <a:cs typeface="Times New Roman" panose="02020603050405020304" pitchFamily="18" charset="0"/>
              </a:rPr>
              <a:t>               Hierarchical DBMS – tree like structure</a:t>
            </a:r>
          </a:p>
        </p:txBody>
      </p:sp>
      <p:pic>
        <p:nvPicPr>
          <p:cNvPr id="8" name="Content Placeholder 7">
            <a:extLst>
              <a:ext uri="{FF2B5EF4-FFF2-40B4-BE49-F238E27FC236}">
                <a16:creationId xmlns:a16="http://schemas.microsoft.com/office/drawing/2014/main" id="{B8B94447-1835-4699-B6C0-CCA99E2AC7BB}"/>
              </a:ext>
            </a:extLst>
          </p:cNvPr>
          <p:cNvPicPr>
            <a:picLocks noGrp="1" noChangeAspect="1"/>
          </p:cNvPicPr>
          <p:nvPr>
            <p:ph sz="quarter" idx="4"/>
          </p:nvPr>
        </p:nvPicPr>
        <p:blipFill>
          <a:blip r:embed="rId3"/>
          <a:stretch>
            <a:fillRect/>
          </a:stretch>
        </p:blipFill>
        <p:spPr>
          <a:xfrm>
            <a:off x="7381461" y="4545496"/>
            <a:ext cx="4651514" cy="2126974"/>
          </a:xfrm>
          <a:prstGeom prst="rect">
            <a:avLst/>
          </a:prstGeom>
        </p:spPr>
      </p:pic>
    </p:spTree>
    <p:extLst>
      <p:ext uri="{BB962C8B-B14F-4D97-AF65-F5344CB8AC3E}">
        <p14:creationId xmlns:p14="http://schemas.microsoft.com/office/powerpoint/2010/main" val="3248486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256BE-6BEA-4AEC-9A62-ABA252A228FF}"/>
              </a:ext>
            </a:extLst>
          </p:cNvPr>
          <p:cNvSpPr>
            <a:spLocks noGrp="1"/>
          </p:cNvSpPr>
          <p:nvPr>
            <p:ph type="title"/>
          </p:nvPr>
        </p:nvSpPr>
        <p:spPr>
          <a:xfrm>
            <a:off x="1709530" y="231914"/>
            <a:ext cx="9543289" cy="748746"/>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Server</a:t>
            </a:r>
            <a:endParaRPr lang="en-IN" sz="4000" dirty="0"/>
          </a:p>
        </p:txBody>
      </p:sp>
      <p:sp>
        <p:nvSpPr>
          <p:cNvPr id="3" name="Content Placeholder 2">
            <a:extLst>
              <a:ext uri="{FF2B5EF4-FFF2-40B4-BE49-F238E27FC236}">
                <a16:creationId xmlns:a16="http://schemas.microsoft.com/office/drawing/2014/main" id="{94BB6282-F687-4A30-8454-7032A439395E}"/>
              </a:ext>
            </a:extLst>
          </p:cNvPr>
          <p:cNvSpPr>
            <a:spLocks noGrp="1"/>
          </p:cNvSpPr>
          <p:nvPr>
            <p:ph sz="half" idx="1"/>
          </p:nvPr>
        </p:nvSpPr>
        <p:spPr>
          <a:xfrm>
            <a:off x="596348" y="1338471"/>
            <a:ext cx="6306728" cy="5287616"/>
          </a:xfrm>
        </p:spPr>
        <p:txBody>
          <a:bodyPr>
            <a:normAutofit/>
          </a:bodyPr>
          <a:lstStyle/>
          <a:p>
            <a:r>
              <a:rPr lang="en-IN" sz="2400" i="0" dirty="0">
                <a:solidFill>
                  <a:schemeClr val="tx1"/>
                </a:solidFill>
                <a:effectLst/>
                <a:latin typeface="Times New Roman" panose="02020603050405020304" pitchFamily="18" charset="0"/>
                <a:cs typeface="Times New Roman" panose="02020603050405020304" pitchFamily="18" charset="0"/>
              </a:rPr>
              <a:t>A server is a computer program or device that provides a service to another computer program and its user, also known as the client.</a:t>
            </a:r>
          </a:p>
          <a:p>
            <a:pPr marL="0" indent="0">
              <a:buNone/>
            </a:pPr>
            <a:endParaRPr lang="en-IN" sz="2400" i="0" dirty="0">
              <a:solidFill>
                <a:schemeClr val="tx1"/>
              </a:solidFill>
              <a:effectLst/>
              <a:latin typeface="Times New Roman" panose="02020603050405020304" pitchFamily="18" charset="0"/>
              <a:cs typeface="Times New Roman" panose="02020603050405020304" pitchFamily="18" charset="0"/>
            </a:endParaRPr>
          </a:p>
          <a:p>
            <a:r>
              <a:rPr lang="en-IN" sz="2400" i="0" dirty="0">
                <a:solidFill>
                  <a:schemeClr val="tx1"/>
                </a:solidFill>
                <a:effectLst/>
                <a:latin typeface="Times New Roman" panose="02020603050405020304" pitchFamily="18" charset="0"/>
                <a:cs typeface="Times New Roman" panose="02020603050405020304" pitchFamily="18" charset="0"/>
              </a:rPr>
              <a:t> In a data centre, the physical computer that a server program runs on is also frequently referred to as a server</a:t>
            </a:r>
            <a:endParaRPr lang="en-IN" sz="2400" b="0" i="0" dirty="0">
              <a:solidFill>
                <a:srgbClr val="BDC1C6"/>
              </a:solidFill>
              <a:effectLst/>
              <a:latin typeface="Times New Roman" panose="02020603050405020304" pitchFamily="18" charset="0"/>
              <a:cs typeface="Times New Roman" panose="02020603050405020304" pitchFamily="18" charset="0"/>
            </a:endParaRPr>
          </a:p>
          <a:p>
            <a:pPr marL="0" indent="0">
              <a:buNone/>
            </a:pPr>
            <a:r>
              <a:rPr lang="en-IN" sz="2400" dirty="0">
                <a:solidFill>
                  <a:schemeClr val="tx1"/>
                </a:solidFill>
                <a:latin typeface="Times New Roman" panose="02020603050405020304" pitchFamily="18" charset="0"/>
                <a:cs typeface="Times New Roman" panose="02020603050405020304" pitchFamily="18" charset="0"/>
              </a:rPr>
              <a:t>                                  OR</a:t>
            </a:r>
          </a:p>
          <a:p>
            <a:r>
              <a:rPr lang="en-IN" sz="2400" dirty="0">
                <a:solidFill>
                  <a:schemeClr val="tx1"/>
                </a:solidFill>
                <a:latin typeface="Times New Roman" panose="02020603050405020304" pitchFamily="18" charset="0"/>
                <a:cs typeface="Times New Roman" panose="02020603050405020304" pitchFamily="18" charset="0"/>
              </a:rPr>
              <a:t>It’s a machine which will have the capability to accept the request &amp; respond to the request</a:t>
            </a:r>
          </a:p>
          <a:p>
            <a:endParaRPr lang="en-IN" dirty="0"/>
          </a:p>
          <a:p>
            <a:endParaRPr lang="en-IN" dirty="0"/>
          </a:p>
        </p:txBody>
      </p:sp>
      <p:pic>
        <p:nvPicPr>
          <p:cNvPr id="5" name="Content Placeholder 4">
            <a:extLst>
              <a:ext uri="{FF2B5EF4-FFF2-40B4-BE49-F238E27FC236}">
                <a16:creationId xmlns:a16="http://schemas.microsoft.com/office/drawing/2014/main" id="{0F2C2CB6-50AF-4C74-BA4F-5EAAC61D2942}"/>
              </a:ext>
            </a:extLst>
          </p:cNvPr>
          <p:cNvPicPr>
            <a:picLocks noGrp="1" noChangeAspect="1"/>
          </p:cNvPicPr>
          <p:nvPr>
            <p:ph sz="half" idx="2"/>
          </p:nvPr>
        </p:nvPicPr>
        <p:blipFill>
          <a:blip r:embed="rId2"/>
          <a:stretch>
            <a:fillRect/>
          </a:stretch>
        </p:blipFill>
        <p:spPr>
          <a:xfrm>
            <a:off x="7474226" y="1905000"/>
            <a:ext cx="4386470" cy="4328890"/>
          </a:xfrm>
          <a:prstGeom prst="rect">
            <a:avLst/>
          </a:prstGeom>
        </p:spPr>
      </p:pic>
    </p:spTree>
    <p:extLst>
      <p:ext uri="{BB962C8B-B14F-4D97-AF65-F5344CB8AC3E}">
        <p14:creationId xmlns:p14="http://schemas.microsoft.com/office/powerpoint/2010/main" val="1019059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E1139-43FE-4E41-8EE3-DD09262D1A95}"/>
              </a:ext>
            </a:extLst>
          </p:cNvPr>
          <p:cNvSpPr>
            <a:spLocks noGrp="1"/>
          </p:cNvSpPr>
          <p:nvPr>
            <p:ph type="title"/>
          </p:nvPr>
        </p:nvSpPr>
        <p:spPr>
          <a:xfrm>
            <a:off x="1669775" y="139146"/>
            <a:ext cx="9834838" cy="629479"/>
          </a:xfrm>
        </p:spPr>
        <p:txBody>
          <a:bodyPr>
            <a:normAutofit fontScale="90000"/>
          </a:bodyPr>
          <a:lstStyle/>
          <a:p>
            <a:pPr algn="ctr"/>
            <a:r>
              <a:rPr lang="en-IN" sz="4000" b="1" dirty="0">
                <a:solidFill>
                  <a:schemeClr val="tx1"/>
                </a:solidFill>
                <a:latin typeface="Times New Roman" panose="02020603050405020304" pitchFamily="18" charset="0"/>
                <a:cs typeface="Times New Roman" panose="02020603050405020304" pitchFamily="18" charset="0"/>
              </a:rPr>
              <a:t>Client server architecture</a:t>
            </a:r>
            <a:endParaRPr lang="en-IN" sz="4000" dirty="0"/>
          </a:p>
        </p:txBody>
      </p:sp>
      <p:sp>
        <p:nvSpPr>
          <p:cNvPr id="3" name="Content Placeholder 2">
            <a:extLst>
              <a:ext uri="{FF2B5EF4-FFF2-40B4-BE49-F238E27FC236}">
                <a16:creationId xmlns:a16="http://schemas.microsoft.com/office/drawing/2014/main" id="{ED7F38AC-0DCB-4189-9321-1DB46E1DCAC8}"/>
              </a:ext>
            </a:extLst>
          </p:cNvPr>
          <p:cNvSpPr>
            <a:spLocks noGrp="1"/>
          </p:cNvSpPr>
          <p:nvPr>
            <p:ph idx="1"/>
          </p:nvPr>
        </p:nvSpPr>
        <p:spPr>
          <a:xfrm>
            <a:off x="1258957" y="768627"/>
            <a:ext cx="10800521" cy="5950226"/>
          </a:xfrm>
        </p:spPr>
        <p:txBody>
          <a:bodyPr>
            <a:noAutofit/>
          </a:bodyPr>
          <a:lstStyle/>
          <a:p>
            <a:r>
              <a:rPr lang="en-IN" sz="2000" b="0" i="0" dirty="0">
                <a:solidFill>
                  <a:schemeClr val="tx1"/>
                </a:solidFill>
                <a:effectLst/>
                <a:latin typeface="Times New Roman" panose="02020603050405020304" pitchFamily="18" charset="0"/>
                <a:cs typeface="Times New Roman" panose="02020603050405020304" pitchFamily="18" charset="0"/>
              </a:rPr>
              <a:t>Client-server model is a distributed application structure that partitions tasks or workloads between the providers of a resource or service, called servers, and service requesters, called clients.</a:t>
            </a:r>
          </a:p>
          <a:p>
            <a:r>
              <a:rPr lang="en-IN" sz="2000" dirty="0">
                <a:solidFill>
                  <a:schemeClr val="tx1"/>
                </a:solidFill>
                <a:latin typeface="Times New Roman" panose="02020603050405020304" pitchFamily="18" charset="0"/>
                <a:cs typeface="Times New Roman" panose="02020603050405020304" pitchFamily="18" charset="0"/>
              </a:rPr>
              <a:t>Types :-</a:t>
            </a:r>
          </a:p>
          <a:p>
            <a:pPr>
              <a:buFont typeface="Wingdings" panose="05000000000000000000" pitchFamily="2" charset="2"/>
              <a:buChar char="q"/>
            </a:pPr>
            <a:r>
              <a:rPr lang="en-IN" sz="2000" dirty="0">
                <a:solidFill>
                  <a:schemeClr val="tx1"/>
                </a:solidFill>
                <a:latin typeface="Times New Roman" panose="02020603050405020304" pitchFamily="18" charset="0"/>
                <a:cs typeface="Times New Roman" panose="02020603050405020304" pitchFamily="18" charset="0"/>
              </a:rPr>
              <a:t> 2 TIER - I</a:t>
            </a:r>
            <a:r>
              <a:rPr lang="en-IN" sz="2000" i="0" dirty="0">
                <a:solidFill>
                  <a:schemeClr val="tx1"/>
                </a:solidFill>
                <a:effectLst/>
                <a:latin typeface="Times New Roman" panose="02020603050405020304" pitchFamily="18" charset="0"/>
                <a:cs typeface="Times New Roman" panose="02020603050405020304" pitchFamily="18" charset="0"/>
              </a:rPr>
              <a:t>s similar to a basic client-server model. The application at the client end directly communicates with the database at the server-side.</a:t>
            </a:r>
          </a:p>
          <a:p>
            <a:pPr marL="0" indent="0">
              <a:buNone/>
            </a:pPr>
            <a:endParaRPr lang="en-IN" sz="20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000" dirty="0">
                <a:solidFill>
                  <a:schemeClr val="tx1"/>
                </a:solidFill>
                <a:latin typeface="Times New Roman" panose="02020603050405020304" pitchFamily="18" charset="0"/>
                <a:cs typeface="Times New Roman" panose="02020603050405020304" pitchFamily="18" charset="0"/>
              </a:rPr>
              <a:t>3 TIER - </a:t>
            </a:r>
            <a:r>
              <a:rPr lang="en-IN" sz="2000" b="0" i="0" dirty="0">
                <a:solidFill>
                  <a:schemeClr val="tx1"/>
                </a:solidFill>
                <a:effectLst/>
                <a:latin typeface="Times New Roman" panose="02020603050405020304" pitchFamily="18" charset="0"/>
                <a:cs typeface="Times New Roman" panose="02020603050405020304" pitchFamily="18" charset="0"/>
              </a:rPr>
              <a:t>there is another layer between the client and the server. The client does not directly communicate with the server. Instead, it interacts with an application server which further communicates with the database system and then the query processing and transaction management takes place. This intermediate layer acts as a medium for the exchange of partially processed data between server and client. This type of architecture is used in the case of large web applications. </a:t>
            </a:r>
          </a:p>
          <a:p>
            <a:pPr marL="0" indent="0">
              <a:buNone/>
            </a:pPr>
            <a:endParaRPr lang="en-IN" sz="2000" b="0" i="0" dirty="0">
              <a:solidFill>
                <a:schemeClr val="tx1"/>
              </a:solidFill>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2000" dirty="0">
                <a:solidFill>
                  <a:schemeClr val="tx1"/>
                </a:solidFill>
                <a:latin typeface="Times New Roman" panose="02020603050405020304" pitchFamily="18" charset="0"/>
                <a:cs typeface="Times New Roman" panose="02020603050405020304" pitchFamily="18" charset="0"/>
              </a:rPr>
              <a:t>n TIER - </a:t>
            </a:r>
            <a:r>
              <a:rPr lang="en-IN" sz="2000" i="0" dirty="0">
                <a:solidFill>
                  <a:schemeClr val="tx1"/>
                </a:solidFill>
                <a:effectLst/>
                <a:latin typeface="Times New Roman" panose="02020603050405020304" pitchFamily="18" charset="0"/>
                <a:cs typeface="Times New Roman" panose="02020603050405020304" pitchFamily="18" charset="0"/>
              </a:rPr>
              <a:t>n-tier architecture models that have more than three tiers. Examples are applications that have these tiers: Services – such as print, directory, or database services. It is suitable to support enterprise level client-server applications by providing solutions to scalability, security, fault tolerance, reusability, and maintainability. It helps developers to create flexible and reusable applications.</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6546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4D85E-34AC-4F54-8D77-22A301C448A4}"/>
              </a:ext>
            </a:extLst>
          </p:cNvPr>
          <p:cNvSpPr>
            <a:spLocks noGrp="1"/>
          </p:cNvSpPr>
          <p:nvPr>
            <p:ph type="title"/>
          </p:nvPr>
        </p:nvSpPr>
        <p:spPr>
          <a:xfrm>
            <a:off x="1736036" y="92765"/>
            <a:ext cx="9768576" cy="661660"/>
          </a:xfrm>
        </p:spPr>
        <p:txBody>
          <a:bodyPr>
            <a:normAutofit fontScale="90000"/>
          </a:bodyPr>
          <a:lstStyle/>
          <a:p>
            <a:pPr algn="ctr"/>
            <a:r>
              <a:rPr lang="en-IN" sz="4000" b="1" dirty="0">
                <a:latin typeface="Times New Roman" panose="02020603050405020304" pitchFamily="18" charset="0"/>
                <a:cs typeface="Times New Roman" panose="02020603050405020304" pitchFamily="18" charset="0"/>
              </a:rPr>
              <a:t>2 - TIER / 3 - TIER / n - TIER</a:t>
            </a:r>
          </a:p>
        </p:txBody>
      </p:sp>
      <p:pic>
        <p:nvPicPr>
          <p:cNvPr id="9" name="Content Placeholder 8">
            <a:extLst>
              <a:ext uri="{FF2B5EF4-FFF2-40B4-BE49-F238E27FC236}">
                <a16:creationId xmlns:a16="http://schemas.microsoft.com/office/drawing/2014/main" id="{629013C8-6D6A-4FBD-BAE3-37D1BB657C09}"/>
              </a:ext>
            </a:extLst>
          </p:cNvPr>
          <p:cNvPicPr>
            <a:picLocks noGrp="1" noChangeAspect="1"/>
          </p:cNvPicPr>
          <p:nvPr>
            <p:ph sz="half" idx="2"/>
          </p:nvPr>
        </p:nvPicPr>
        <p:blipFill>
          <a:blip r:embed="rId2"/>
          <a:stretch>
            <a:fillRect/>
          </a:stretch>
        </p:blipFill>
        <p:spPr>
          <a:xfrm>
            <a:off x="476204" y="3055160"/>
            <a:ext cx="5434265" cy="3352800"/>
          </a:xfrm>
          <a:prstGeom prst="rect">
            <a:avLst/>
          </a:prstGeom>
        </p:spPr>
      </p:pic>
      <p:pic>
        <p:nvPicPr>
          <p:cNvPr id="8" name="Picture 7">
            <a:extLst>
              <a:ext uri="{FF2B5EF4-FFF2-40B4-BE49-F238E27FC236}">
                <a16:creationId xmlns:a16="http://schemas.microsoft.com/office/drawing/2014/main" id="{86AF71C2-4957-4F75-8B1B-467A93075AAA}"/>
              </a:ext>
            </a:extLst>
          </p:cNvPr>
          <p:cNvPicPr>
            <a:picLocks noChangeAspect="1"/>
          </p:cNvPicPr>
          <p:nvPr/>
        </p:nvPicPr>
        <p:blipFill>
          <a:blip r:embed="rId3"/>
          <a:stretch>
            <a:fillRect/>
          </a:stretch>
        </p:blipFill>
        <p:spPr>
          <a:xfrm>
            <a:off x="3724066" y="979712"/>
            <a:ext cx="5724734" cy="1776740"/>
          </a:xfrm>
          <a:prstGeom prst="rect">
            <a:avLst/>
          </a:prstGeom>
        </p:spPr>
      </p:pic>
      <p:pic>
        <p:nvPicPr>
          <p:cNvPr id="10" name="Picture 9">
            <a:extLst>
              <a:ext uri="{FF2B5EF4-FFF2-40B4-BE49-F238E27FC236}">
                <a16:creationId xmlns:a16="http://schemas.microsoft.com/office/drawing/2014/main" id="{A428CE31-CEC0-4AD0-A79C-15DF817516A0}"/>
              </a:ext>
            </a:extLst>
          </p:cNvPr>
          <p:cNvPicPr>
            <a:picLocks noChangeAspect="1"/>
          </p:cNvPicPr>
          <p:nvPr/>
        </p:nvPicPr>
        <p:blipFill>
          <a:blip r:embed="rId4"/>
          <a:stretch>
            <a:fillRect/>
          </a:stretch>
        </p:blipFill>
        <p:spPr>
          <a:xfrm>
            <a:off x="6750577" y="2887524"/>
            <a:ext cx="5221151" cy="3248233"/>
          </a:xfrm>
          <a:prstGeom prst="rect">
            <a:avLst/>
          </a:prstGeom>
        </p:spPr>
      </p:pic>
    </p:spTree>
    <p:extLst>
      <p:ext uri="{BB962C8B-B14F-4D97-AF65-F5344CB8AC3E}">
        <p14:creationId xmlns:p14="http://schemas.microsoft.com/office/powerpoint/2010/main" val="1974593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D3213-E7A9-4809-ADA6-F1552A750957}"/>
              </a:ext>
            </a:extLst>
          </p:cNvPr>
          <p:cNvSpPr>
            <a:spLocks noGrp="1"/>
          </p:cNvSpPr>
          <p:nvPr>
            <p:ph type="title"/>
          </p:nvPr>
        </p:nvSpPr>
        <p:spPr>
          <a:xfrm>
            <a:off x="1630018" y="92765"/>
            <a:ext cx="9874594" cy="636105"/>
          </a:xfrm>
        </p:spPr>
        <p:txBody>
          <a:bodyPr>
            <a:normAutofit fontScale="90000"/>
          </a:bodyPr>
          <a:lstStyle/>
          <a:p>
            <a:pPr algn="ctr"/>
            <a:r>
              <a:rPr lang="en-IN" sz="4000" b="1" dirty="0">
                <a:solidFill>
                  <a:schemeClr val="tx1"/>
                </a:solidFill>
                <a:latin typeface="Times New Roman" panose="02020603050405020304" pitchFamily="18" charset="0"/>
                <a:cs typeface="Times New Roman" panose="02020603050405020304" pitchFamily="18" charset="0"/>
              </a:rPr>
              <a:t>Protocol / Router /Port</a:t>
            </a:r>
            <a:br>
              <a:rPr lang="en-IN" sz="3600" dirty="0">
                <a:solidFill>
                  <a:schemeClr val="tx1"/>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DBBA8DF-03C9-43B0-9E08-8CE15491A81C}"/>
              </a:ext>
            </a:extLst>
          </p:cNvPr>
          <p:cNvSpPr>
            <a:spLocks noGrp="1"/>
          </p:cNvSpPr>
          <p:nvPr>
            <p:ph sz="half" idx="1"/>
          </p:nvPr>
        </p:nvSpPr>
        <p:spPr>
          <a:xfrm>
            <a:off x="331303" y="1232451"/>
            <a:ext cx="8786193" cy="5532783"/>
          </a:xfrm>
        </p:spPr>
        <p:txBody>
          <a:bodyPr>
            <a:normAutofit fontScale="92500" lnSpcReduction="20000"/>
          </a:bodyPr>
          <a:lstStyle/>
          <a:p>
            <a:pPr marL="0" indent="0">
              <a:buNone/>
            </a:pP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IN" sz="2200" b="1" i="0" dirty="0">
                <a:solidFill>
                  <a:schemeClr val="tx1">
                    <a:lumMod val="95000"/>
                    <a:lumOff val="5000"/>
                  </a:schemeClr>
                </a:solidFill>
                <a:effectLst/>
                <a:latin typeface="Times New Roman" panose="02020603050405020304" pitchFamily="18" charset="0"/>
                <a:cs typeface="Times New Roman" panose="02020603050405020304" pitchFamily="18" charset="0"/>
              </a:rPr>
              <a:t>PROTOCOL :- </a:t>
            </a:r>
            <a:r>
              <a:rPr lang="en-IN" sz="2200" i="0" dirty="0">
                <a:solidFill>
                  <a:schemeClr val="tx1">
                    <a:lumMod val="95000"/>
                    <a:lumOff val="5000"/>
                  </a:schemeClr>
                </a:solidFill>
                <a:effectLst/>
                <a:latin typeface="Times New Roman" panose="02020603050405020304" pitchFamily="18" charset="0"/>
                <a:cs typeface="Times New Roman" panose="02020603050405020304" pitchFamily="18" charset="0"/>
              </a:rPr>
              <a:t>it’s a set of rules for transmitting data between computers.</a:t>
            </a:r>
          </a:p>
          <a:p>
            <a:r>
              <a:rPr lang="en-IN" sz="2200" i="0" dirty="0">
                <a:solidFill>
                  <a:schemeClr val="tx1">
                    <a:lumMod val="95000"/>
                    <a:lumOff val="5000"/>
                  </a:schemeClr>
                </a:solidFill>
                <a:effectLst/>
                <a:latin typeface="Times New Roman" panose="02020603050405020304" pitchFamily="18" charset="0"/>
                <a:cs typeface="Times New Roman" panose="02020603050405020304" pitchFamily="18" charset="0"/>
              </a:rPr>
              <a:t> In order for computers to exchange information, there must be a pre-existing agreement as to how the information will be structured and how each side will send and receive it.</a:t>
            </a:r>
          </a:p>
          <a:p>
            <a:pPr marL="0" indent="0">
              <a:buNone/>
            </a:pPr>
            <a:endParaRPr lang="en-IN" sz="22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0" indent="0">
              <a:buNone/>
            </a:pPr>
            <a:r>
              <a:rPr lang="en-IN" sz="2200" b="1" dirty="0">
                <a:solidFill>
                  <a:schemeClr val="tx1">
                    <a:lumMod val="95000"/>
                    <a:lumOff val="5000"/>
                  </a:schemeClr>
                </a:solidFill>
                <a:latin typeface="Times New Roman" panose="02020603050405020304" pitchFamily="18" charset="0"/>
                <a:cs typeface="Times New Roman" panose="02020603050405020304" pitchFamily="18" charset="0"/>
              </a:rPr>
              <a:t>     R</a:t>
            </a:r>
            <a:r>
              <a:rPr lang="en-IN" sz="2200" b="1" i="0" dirty="0">
                <a:solidFill>
                  <a:schemeClr val="tx1">
                    <a:lumMod val="95000"/>
                    <a:lumOff val="5000"/>
                  </a:schemeClr>
                </a:solidFill>
                <a:effectLst/>
                <a:latin typeface="Times New Roman" panose="02020603050405020304" pitchFamily="18" charset="0"/>
                <a:cs typeface="Times New Roman" panose="02020603050405020304" pitchFamily="18" charset="0"/>
              </a:rPr>
              <a:t>OUTER</a:t>
            </a:r>
            <a:r>
              <a:rPr lang="en-IN" sz="22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2200" b="1" dirty="0">
                <a:solidFill>
                  <a:schemeClr val="tx1">
                    <a:lumMod val="95000"/>
                    <a:lumOff val="5000"/>
                  </a:schemeClr>
                </a:solidFill>
                <a:latin typeface="Times New Roman" panose="02020603050405020304" pitchFamily="18" charset="0"/>
                <a:cs typeface="Times New Roman" panose="02020603050405020304" pitchFamily="18" charset="0"/>
              </a:rPr>
              <a:t>:-</a:t>
            </a:r>
            <a:r>
              <a:rPr lang="en-IN" sz="22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IN" sz="2200" b="0" i="0" dirty="0">
                <a:solidFill>
                  <a:schemeClr val="tx1">
                    <a:lumMod val="95000"/>
                    <a:lumOff val="5000"/>
                  </a:schemeClr>
                </a:solidFill>
                <a:effectLst/>
                <a:latin typeface="Times New Roman" panose="02020603050405020304" pitchFamily="18" charset="0"/>
                <a:cs typeface="Times New Roman" panose="02020603050405020304" pitchFamily="18" charset="0"/>
              </a:rPr>
              <a:t>is a networking device that forwards data packets between computer networks. </a:t>
            </a:r>
          </a:p>
          <a:p>
            <a:r>
              <a:rPr lang="en-IN" sz="2200" b="0" i="0" dirty="0">
                <a:solidFill>
                  <a:schemeClr val="tx1">
                    <a:lumMod val="95000"/>
                    <a:lumOff val="5000"/>
                  </a:schemeClr>
                </a:solidFill>
                <a:effectLst/>
                <a:latin typeface="Times New Roman" panose="02020603050405020304" pitchFamily="18" charset="0"/>
                <a:cs typeface="Times New Roman" panose="02020603050405020304" pitchFamily="18" charset="0"/>
              </a:rPr>
              <a:t>Routers perform the traffic directing functions on the Internet.</a:t>
            </a:r>
          </a:p>
          <a:p>
            <a:r>
              <a:rPr lang="en-IN" sz="2200" b="0" i="0" dirty="0">
                <a:solidFill>
                  <a:schemeClr val="tx1">
                    <a:lumMod val="95000"/>
                    <a:lumOff val="5000"/>
                  </a:schemeClr>
                </a:solidFill>
                <a:effectLst/>
                <a:latin typeface="Times New Roman" panose="02020603050405020304" pitchFamily="18" charset="0"/>
                <a:cs typeface="Times New Roman" panose="02020603050405020304" pitchFamily="18" charset="0"/>
              </a:rPr>
              <a:t> Data sent through the internet, such as a web page or email, is in the form of data packets.</a:t>
            </a:r>
          </a:p>
          <a:p>
            <a:pPr marL="0" indent="0">
              <a:buNone/>
            </a:pPr>
            <a:endParaRPr lang="en-IN" sz="22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marL="0" indent="0">
              <a:buNone/>
            </a:pPr>
            <a:r>
              <a:rPr lang="en-IN" sz="2200" b="1" i="0" dirty="0">
                <a:solidFill>
                  <a:schemeClr val="tx1">
                    <a:lumMod val="95000"/>
                    <a:lumOff val="5000"/>
                  </a:schemeClr>
                </a:solidFill>
                <a:effectLst/>
                <a:latin typeface="Times New Roman" panose="02020603050405020304" pitchFamily="18" charset="0"/>
                <a:cs typeface="Times New Roman" panose="02020603050405020304" pitchFamily="18" charset="0"/>
              </a:rPr>
              <a:t>     PORTS</a:t>
            </a:r>
            <a:r>
              <a:rPr lang="en-IN" sz="2200" b="0"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IN" sz="2200" b="1" i="0" dirty="0">
                <a:solidFill>
                  <a:schemeClr val="tx1">
                    <a:lumMod val="95000"/>
                    <a:lumOff val="5000"/>
                  </a:schemeClr>
                </a:solidFill>
                <a:effectLst/>
                <a:latin typeface="Times New Roman" panose="02020603050405020304" pitchFamily="18" charset="0"/>
                <a:cs typeface="Times New Roman" panose="02020603050405020304" pitchFamily="18" charset="0"/>
              </a:rPr>
              <a:t>:</a:t>
            </a:r>
            <a:r>
              <a:rPr lang="en-IN" sz="2200" b="0" i="0" dirty="0">
                <a:solidFill>
                  <a:schemeClr val="tx1">
                    <a:lumMod val="95000"/>
                    <a:lumOff val="5000"/>
                  </a:schemeClr>
                </a:solidFill>
                <a:effectLst/>
                <a:latin typeface="Times New Roman" panose="02020603050405020304" pitchFamily="18" charset="0"/>
                <a:cs typeface="Times New Roman" panose="02020603050405020304" pitchFamily="18" charset="0"/>
              </a:rPr>
              <a:t>-are virtual places within an operating system where network connections start and end.</a:t>
            </a:r>
          </a:p>
          <a:p>
            <a:r>
              <a:rPr lang="en-IN" sz="2200" b="0" i="0" dirty="0">
                <a:solidFill>
                  <a:schemeClr val="tx1">
                    <a:lumMod val="95000"/>
                    <a:lumOff val="5000"/>
                  </a:schemeClr>
                </a:solidFill>
                <a:effectLst/>
                <a:latin typeface="Times New Roman" panose="02020603050405020304" pitchFamily="18" charset="0"/>
                <a:cs typeface="Times New Roman" panose="02020603050405020304" pitchFamily="18" charset="0"/>
              </a:rPr>
              <a:t> They help computers sort the network traffic they receive.</a:t>
            </a:r>
          </a:p>
          <a:p>
            <a:r>
              <a:rPr lang="en-IN" sz="2200" b="0" i="0" dirty="0">
                <a:solidFill>
                  <a:srgbClr val="BDC1C6"/>
                </a:solidFill>
                <a:effectLst/>
                <a:latin typeface="arial" panose="020B0604020202020204" pitchFamily="34" charset="0"/>
              </a:rPr>
              <a:t> </a:t>
            </a:r>
            <a:r>
              <a:rPr lang="en-IN" sz="2200" b="0" i="0" dirty="0">
                <a:solidFill>
                  <a:schemeClr val="tx1">
                    <a:lumMod val="95000"/>
                    <a:lumOff val="5000"/>
                  </a:schemeClr>
                </a:solidFill>
                <a:effectLst/>
                <a:latin typeface="Times New Roman" panose="02020603050405020304" pitchFamily="18" charset="0"/>
                <a:cs typeface="Times New Roman" panose="02020603050405020304" pitchFamily="18" charset="0"/>
              </a:rPr>
              <a:t>In computer networking, a port is a communication endpoint. At the software level, within an operating system, a port is a logical construct that identifies a specific process or a type of network service.</a:t>
            </a:r>
          </a:p>
          <a:p>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4CA9C17C-78DA-4B9F-BDD3-51513420A4DD}"/>
              </a:ext>
            </a:extLst>
          </p:cNvPr>
          <p:cNvPicPr>
            <a:picLocks noGrp="1" noChangeAspect="1"/>
          </p:cNvPicPr>
          <p:nvPr>
            <p:ph sz="half" idx="2"/>
          </p:nvPr>
        </p:nvPicPr>
        <p:blipFill>
          <a:blip r:embed="rId2"/>
          <a:stretch>
            <a:fillRect/>
          </a:stretch>
        </p:blipFill>
        <p:spPr>
          <a:xfrm>
            <a:off x="7192871" y="3989495"/>
            <a:ext cx="4310246" cy="1914310"/>
          </a:xfrm>
          <a:prstGeom prst="rect">
            <a:avLst/>
          </a:prstGeom>
        </p:spPr>
      </p:pic>
      <p:pic>
        <p:nvPicPr>
          <p:cNvPr id="8" name="Picture 7">
            <a:extLst>
              <a:ext uri="{FF2B5EF4-FFF2-40B4-BE49-F238E27FC236}">
                <a16:creationId xmlns:a16="http://schemas.microsoft.com/office/drawing/2014/main" id="{C81DD835-6A94-413C-8833-4A3BCAC3969C}"/>
              </a:ext>
            </a:extLst>
          </p:cNvPr>
          <p:cNvPicPr>
            <a:picLocks noChangeAspect="1"/>
          </p:cNvPicPr>
          <p:nvPr/>
        </p:nvPicPr>
        <p:blipFill>
          <a:blip r:embed="rId3"/>
          <a:stretch>
            <a:fillRect/>
          </a:stretch>
        </p:blipFill>
        <p:spPr>
          <a:xfrm>
            <a:off x="9216135" y="2721417"/>
            <a:ext cx="2644561" cy="1268078"/>
          </a:xfrm>
          <a:prstGeom prst="rect">
            <a:avLst/>
          </a:prstGeom>
        </p:spPr>
      </p:pic>
      <p:pic>
        <p:nvPicPr>
          <p:cNvPr id="9" name="Picture 8">
            <a:extLst>
              <a:ext uri="{FF2B5EF4-FFF2-40B4-BE49-F238E27FC236}">
                <a16:creationId xmlns:a16="http://schemas.microsoft.com/office/drawing/2014/main" id="{1639BB49-9172-4F08-A5A7-C1B60B2C7C99}"/>
              </a:ext>
            </a:extLst>
          </p:cNvPr>
          <p:cNvPicPr>
            <a:picLocks noChangeAspect="1"/>
          </p:cNvPicPr>
          <p:nvPr/>
        </p:nvPicPr>
        <p:blipFill>
          <a:blip r:embed="rId4"/>
          <a:stretch>
            <a:fillRect/>
          </a:stretch>
        </p:blipFill>
        <p:spPr>
          <a:xfrm>
            <a:off x="9216134" y="4717774"/>
            <a:ext cx="2644561" cy="1603512"/>
          </a:xfrm>
          <a:prstGeom prst="rect">
            <a:avLst/>
          </a:prstGeom>
        </p:spPr>
      </p:pic>
    </p:spTree>
    <p:extLst>
      <p:ext uri="{BB962C8B-B14F-4D97-AF65-F5344CB8AC3E}">
        <p14:creationId xmlns:p14="http://schemas.microsoft.com/office/powerpoint/2010/main" val="3963279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BF2E-2D33-4D6C-AA4F-95ECC778579F}"/>
              </a:ext>
            </a:extLst>
          </p:cNvPr>
          <p:cNvSpPr>
            <a:spLocks noGrp="1"/>
          </p:cNvSpPr>
          <p:nvPr>
            <p:ph type="title"/>
          </p:nvPr>
        </p:nvSpPr>
        <p:spPr>
          <a:xfrm>
            <a:off x="1378226" y="0"/>
            <a:ext cx="10126387" cy="689113"/>
          </a:xfrm>
        </p:spPr>
        <p:txBody>
          <a:bodyPr>
            <a:normAutofit fontScale="90000"/>
          </a:bodyPr>
          <a:lstStyle/>
          <a:p>
            <a:pPr algn="ctr"/>
            <a:r>
              <a:rPr lang="en-IN" sz="4400" b="1" dirty="0">
                <a:solidFill>
                  <a:schemeClr val="tx1"/>
                </a:solidFill>
                <a:latin typeface="Times New Roman" panose="02020603050405020304" pitchFamily="18" charset="0"/>
                <a:cs typeface="Times New Roman" panose="02020603050405020304" pitchFamily="18" charset="0"/>
              </a:rPr>
              <a:t>HTTP / HTTPS / SSL / DNS / ISP</a:t>
            </a:r>
            <a:br>
              <a:rPr lang="en-IN" sz="3600" dirty="0">
                <a:solidFill>
                  <a:schemeClr val="tx1"/>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1BDD1EE-B5B9-4656-940B-F4956C5C16D8}"/>
              </a:ext>
            </a:extLst>
          </p:cNvPr>
          <p:cNvSpPr>
            <a:spLocks noGrp="1"/>
          </p:cNvSpPr>
          <p:nvPr>
            <p:ph idx="1"/>
          </p:nvPr>
        </p:nvSpPr>
        <p:spPr>
          <a:xfrm>
            <a:off x="304800" y="1205948"/>
            <a:ext cx="11781183" cy="5539410"/>
          </a:xfrm>
        </p:spPr>
        <p:txBody>
          <a:bodyPr>
            <a:normAutofit fontScale="92500" lnSpcReduction="20000"/>
          </a:bodyPr>
          <a:lstStyle/>
          <a:p>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Hypertext Transfer Protocol (HTTP) </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is an application-layer protocol for transmitting hypermedia documents, such as HTML. It was designed for communication between web browsers and web servers, but it can also be used for other purposes.</a:t>
            </a:r>
          </a:p>
          <a:p>
            <a:pPr marL="0" indent="0">
              <a:buNone/>
            </a:pPr>
            <a:endPar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Hypertext Transfer Protocol Secure (HTTPS) </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is an extension of the Hypertext Transfer Protocol. It is used for secure communication over a computer network, and is widely used on the Internet. In HTTPS, the communication protocol is encrypted using Transport Layer Security or, formerly, Secure Sockets Layer.</a:t>
            </a:r>
          </a:p>
          <a:p>
            <a:pPr marL="0" indent="0">
              <a:buNone/>
            </a:pPr>
            <a:endPar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r>
              <a:rPr lang="en-IN" sz="2000" b="1" dirty="0">
                <a:solidFill>
                  <a:schemeClr val="tx1">
                    <a:lumMod val="95000"/>
                    <a:lumOff val="5000"/>
                  </a:schemeClr>
                </a:solidFill>
                <a:latin typeface="Times New Roman" panose="02020603050405020304" pitchFamily="18" charset="0"/>
                <a:cs typeface="Times New Roman" panose="02020603050405020304" pitchFamily="18" charset="0"/>
              </a:rPr>
              <a:t>S</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ecure Sockets Layer </a:t>
            </a:r>
            <a:r>
              <a:rPr lang="en-IN" sz="2000" b="1" dirty="0">
                <a:solidFill>
                  <a:schemeClr val="tx1">
                    <a:lumMod val="95000"/>
                    <a:lumOff val="5000"/>
                  </a:schemeClr>
                </a:solidFill>
                <a:latin typeface="Times New Roman" panose="02020603050405020304" pitchFamily="18" charset="0"/>
                <a:cs typeface="Times New Roman" panose="02020603050405020304" pitchFamily="18" charset="0"/>
              </a:rPr>
              <a:t>(</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SSL) </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uses port number 443, encrypting data exchanged between the browser and the server and authenticating the user. Therefore, when the communications between the web browser and server need to be secure, the browser automatically switches to SSL — that is, as long as the server has an SSL certificate installed.</a:t>
            </a:r>
          </a:p>
          <a:p>
            <a:pPr marL="0" indent="0">
              <a:buNone/>
            </a:pPr>
            <a:endPar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The Domain Name System (DNS) </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turns domain names into IP addresses, which browsers use to load internet pages. Every device connected to the internet has its own IP address, which is used by other devices to locate the device.</a:t>
            </a:r>
          </a:p>
          <a:p>
            <a:pPr marL="0" indent="0">
              <a:buNone/>
            </a:pPr>
            <a:endPar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Internet service provider</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(ISP) </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company that provides Internet connections and services to individuals and organizations. In addition to providing access to the Internet, ISPs may also provide software packages (such as browsers), e-mail accounts, and a personal Web site or home page.</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1427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8B991-B6A8-45B4-A28E-2C77A895F355}"/>
              </a:ext>
            </a:extLst>
          </p:cNvPr>
          <p:cNvSpPr>
            <a:spLocks noGrp="1"/>
          </p:cNvSpPr>
          <p:nvPr>
            <p:ph type="title"/>
          </p:nvPr>
        </p:nvSpPr>
        <p:spPr>
          <a:xfrm>
            <a:off x="1934817" y="377687"/>
            <a:ext cx="8746436" cy="801756"/>
          </a:xfrm>
        </p:spPr>
        <p:txBody>
          <a:bodyPr>
            <a:normAutofit fontScale="90000"/>
          </a:bodyPr>
          <a:lstStyle/>
          <a:p>
            <a:pPr algn="ctr"/>
            <a:r>
              <a:rPr lang="en-IN" sz="4400" b="1" dirty="0">
                <a:solidFill>
                  <a:schemeClr val="tx1"/>
                </a:solidFill>
                <a:latin typeface="Times New Roman" panose="02020603050405020304" pitchFamily="18" charset="0"/>
                <a:cs typeface="Times New Roman" panose="02020603050405020304" pitchFamily="18" charset="0"/>
              </a:rPr>
              <a:t>Localhost / JDK /JRE </a:t>
            </a:r>
            <a:br>
              <a:rPr lang="en-IN" sz="3600" dirty="0">
                <a:solidFill>
                  <a:schemeClr val="tx1"/>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3BD6BE8-9347-4586-8805-B78B85255186}"/>
              </a:ext>
            </a:extLst>
          </p:cNvPr>
          <p:cNvSpPr>
            <a:spLocks noGrp="1"/>
          </p:cNvSpPr>
          <p:nvPr>
            <p:ph idx="1"/>
          </p:nvPr>
        </p:nvSpPr>
        <p:spPr>
          <a:xfrm>
            <a:off x="742122" y="1470991"/>
            <a:ext cx="11277598" cy="5009322"/>
          </a:xfrm>
        </p:spPr>
        <p:txBody>
          <a:bodyPr>
            <a:normAutofit/>
          </a:bodyPr>
          <a:lstStyle/>
          <a:p>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LOCALHOST :-</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is a hostname that refers to the current device used to access it. It is used to access the network services that are running on the host via the loopback network interface. Using the loopback interface bypasses any local network interface hardware.</a:t>
            </a:r>
          </a:p>
          <a:p>
            <a:pPr marL="0" indent="0">
              <a:buNone/>
            </a:pPr>
            <a:endPar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 Java Development Kit (JDK) :- </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is a distribution of Java Technology by Oracle Corporation. It implements the Java Language Specification and the Java Virtual Machine Specification and provides the Standard Edition of the Java Application Programming Interface.</a:t>
            </a:r>
          </a:p>
          <a:p>
            <a:pPr marL="0" indent="0">
              <a:buNone/>
            </a:pPr>
            <a:endParaRPr lang="en-IN" sz="2000" b="0" i="0" dirty="0">
              <a:solidFill>
                <a:srgbClr val="BDC1C6"/>
              </a:solidFill>
              <a:effectLst/>
              <a:latin typeface="Times New Roman" panose="02020603050405020304" pitchFamily="18" charset="0"/>
              <a:cs typeface="Times New Roman" panose="02020603050405020304" pitchFamily="18" charset="0"/>
            </a:endParaRPr>
          </a:p>
          <a:p>
            <a:pPr algn="l"/>
            <a:r>
              <a:rPr lang="en-IN" sz="2000" b="0" i="0" dirty="0">
                <a:solidFill>
                  <a:srgbClr val="BDC1C6"/>
                </a:solidFill>
                <a:effectLst/>
                <a:latin typeface="Times New Roman" panose="02020603050405020304" pitchFamily="18" charset="0"/>
                <a:cs typeface="Times New Roman" panose="02020603050405020304" pitchFamily="18" charset="0"/>
              </a:rPr>
              <a:t> </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Java Runtime Environment (JRE) :-</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The JRE allows some applications written in the Java programming language to launch via some browsers. The Java Plug-in software is not a standalone program and cannot be installed separately.</a:t>
            </a:r>
          </a:p>
          <a:p>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0914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603B-E861-4490-8A86-5A891E412803}"/>
              </a:ext>
            </a:extLst>
          </p:cNvPr>
          <p:cNvSpPr>
            <a:spLocks noGrp="1"/>
          </p:cNvSpPr>
          <p:nvPr>
            <p:ph type="title"/>
          </p:nvPr>
        </p:nvSpPr>
        <p:spPr>
          <a:xfrm>
            <a:off x="1855304" y="238540"/>
            <a:ext cx="10031895" cy="708238"/>
          </a:xfrm>
        </p:spPr>
        <p:txBody>
          <a:bodyPr>
            <a:normAutofit fontScale="90000"/>
          </a:bodyPr>
          <a:lstStyle/>
          <a:p>
            <a:pPr algn="ctr"/>
            <a:r>
              <a:rPr lang="en-IN" sz="4400" b="1" dirty="0">
                <a:solidFill>
                  <a:schemeClr val="tx1"/>
                </a:solidFill>
                <a:latin typeface="Times New Roman" panose="02020603050405020304" pitchFamily="18" charset="0"/>
                <a:cs typeface="Times New Roman" panose="02020603050405020304" pitchFamily="18" charset="0"/>
              </a:rPr>
              <a:t>URL / URI / GUI </a:t>
            </a:r>
            <a:br>
              <a:rPr lang="en-IN" sz="3600" dirty="0">
                <a:solidFill>
                  <a:schemeClr val="tx1"/>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B0B73EB-FA38-4B51-81A6-08551C222D28}"/>
              </a:ext>
            </a:extLst>
          </p:cNvPr>
          <p:cNvSpPr>
            <a:spLocks noGrp="1"/>
          </p:cNvSpPr>
          <p:nvPr>
            <p:ph idx="1"/>
          </p:nvPr>
        </p:nvSpPr>
        <p:spPr>
          <a:xfrm>
            <a:off x="1245703" y="1219200"/>
            <a:ext cx="10641495" cy="5499652"/>
          </a:xfrm>
        </p:spPr>
        <p:txBody>
          <a:bodyPr>
            <a:normAutofit fontScale="92500" lnSpcReduction="10000"/>
          </a:bodyPr>
          <a:lstStyle/>
          <a:p>
            <a:r>
              <a:rPr lang="en-IN" sz="2000" b="1" dirty="0">
                <a:solidFill>
                  <a:schemeClr val="tx1">
                    <a:lumMod val="95000"/>
                    <a:lumOff val="5000"/>
                  </a:schemeClr>
                </a:solidFill>
                <a:latin typeface="Times New Roman" panose="02020603050405020304" pitchFamily="18" charset="0"/>
                <a:cs typeface="Times New Roman" panose="02020603050405020304" pitchFamily="18" charset="0"/>
              </a:rPr>
              <a:t>URL </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 Uniform Resource Locator </a:t>
            </a:r>
            <a:endParaRPr lang="en-IN" sz="2000" b="1"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It’s</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an acronym for Uniform Resource Locator and is a reference (an address) to a resource on the Internet. </a:t>
            </a:r>
          </a:p>
          <a:p>
            <a:pPr marL="0" indent="0">
              <a:buNone/>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A URL has two main components: Protocol identifier: For the URL http://example.com , the protocol identifier is http . </a:t>
            </a:r>
          </a:p>
          <a:p>
            <a:pPr marL="0" indent="0">
              <a:buNone/>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Resource name: For the URL http://example.com , the resource name is example.com </a:t>
            </a:r>
          </a:p>
          <a:p>
            <a:pPr marL="0" indent="0">
              <a:buNone/>
            </a:pPr>
            <a:endPar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 URI — Uniform Resource Identifier </a:t>
            </a:r>
          </a:p>
          <a:p>
            <a:pPr marL="0" indent="0">
              <a:buNone/>
            </a:pP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It’</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s a sequence of characters that distinguishes one resource from another.</a:t>
            </a:r>
          </a:p>
          <a:p>
            <a:pPr marL="0" indent="0">
              <a:buNone/>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For example, foo://example.com:8042/over/there?name=ferret#nose is a URI containing a scheme name, authority, path, query and fragment.</a:t>
            </a:r>
          </a:p>
          <a:p>
            <a:pPr marL="0" indent="0">
              <a:buNone/>
            </a:pPr>
            <a:endPar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r>
              <a:rPr lang="en-IN" sz="2000" b="0" i="0" dirty="0">
                <a:solidFill>
                  <a:srgbClr val="BDC1C6"/>
                </a:solidFill>
                <a:effectLst/>
                <a:latin typeface="Times New Roman" panose="02020603050405020304" pitchFamily="18" charset="0"/>
                <a:cs typeface="Times New Roman" panose="02020603050405020304" pitchFamily="18" charset="0"/>
              </a:rPr>
              <a:t> </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IN"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GUI  —  Graphical User Interface </a:t>
            </a:r>
          </a:p>
          <a:p>
            <a:pPr marL="0" indent="0">
              <a:buNone/>
            </a:pPr>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It’</a:t>
            </a: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s a form of user interface that allows users to interact with electronic devices through graphical icons and audio indicator such as primary notation, instead of text-based user interfaces, typed command labels or text navigation.</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47123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EC0A-B6A8-47F7-BCF7-142AC964AF6D}"/>
              </a:ext>
            </a:extLst>
          </p:cNvPr>
          <p:cNvSpPr>
            <a:spLocks noGrp="1"/>
          </p:cNvSpPr>
          <p:nvPr>
            <p:ph type="title"/>
          </p:nvPr>
        </p:nvSpPr>
        <p:spPr>
          <a:xfrm>
            <a:off x="1484243" y="106018"/>
            <a:ext cx="10020369" cy="569844"/>
          </a:xfrm>
        </p:spPr>
        <p:txBody>
          <a:bodyPr>
            <a:normAutofit fontScale="90000"/>
          </a:bodyPr>
          <a:lstStyle/>
          <a:p>
            <a:pPr algn="ctr"/>
            <a:r>
              <a:rPr lang="en-IN" sz="4400" b="1" dirty="0">
                <a:solidFill>
                  <a:schemeClr val="tx1"/>
                </a:solidFill>
                <a:latin typeface="Times New Roman" panose="02020603050405020304" pitchFamily="18" charset="0"/>
                <a:cs typeface="Times New Roman" panose="02020603050405020304" pitchFamily="18" charset="0"/>
              </a:rPr>
              <a:t>S/W environment</a:t>
            </a:r>
            <a:br>
              <a:rPr lang="en-IN" sz="3600" dirty="0">
                <a:solidFill>
                  <a:schemeClr val="tx1"/>
                </a:solidFill>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070C410-FDD2-4E77-8CAA-85B7A81B7B33}"/>
              </a:ext>
            </a:extLst>
          </p:cNvPr>
          <p:cNvSpPr>
            <a:spLocks noGrp="1"/>
          </p:cNvSpPr>
          <p:nvPr>
            <p:ph idx="1"/>
          </p:nvPr>
        </p:nvSpPr>
        <p:spPr>
          <a:xfrm>
            <a:off x="251791" y="1325217"/>
            <a:ext cx="11807687" cy="5426765"/>
          </a:xfrm>
        </p:spPr>
        <p:txBody>
          <a:bodyPr>
            <a:normAutofit fontScale="40000" lnSpcReduction="20000"/>
          </a:bodyPr>
          <a:lstStyle/>
          <a:p>
            <a:r>
              <a:rPr lang="en-IN" sz="4500" i="0" dirty="0">
                <a:solidFill>
                  <a:schemeClr val="tx1">
                    <a:lumMod val="95000"/>
                    <a:lumOff val="5000"/>
                  </a:schemeClr>
                </a:solidFill>
                <a:effectLst/>
                <a:latin typeface="Times New Roman" panose="02020603050405020304" pitchFamily="18" charset="0"/>
                <a:cs typeface="Times New Roman" panose="02020603050405020304" pitchFamily="18" charset="0"/>
              </a:rPr>
              <a:t>Software environment is the term commonly used to refer to support an application. A software environment for a particular application could include the operating system, the database system, specific development tools or compiler.</a:t>
            </a:r>
          </a:p>
          <a:p>
            <a:pPr algn="l">
              <a:buFont typeface="+mj-lt"/>
              <a:buAutoNum type="arabicPeriod"/>
            </a:pPr>
            <a:r>
              <a:rPr lang="en-IN" sz="4500" b="1" i="0" dirty="0">
                <a:solidFill>
                  <a:srgbClr val="000000"/>
                </a:solidFill>
                <a:effectLst/>
                <a:latin typeface="Times New Roman" panose="02020603050405020304" pitchFamily="18" charset="0"/>
                <a:cs typeface="Times New Roman" panose="02020603050405020304" pitchFamily="18" charset="0"/>
              </a:rPr>
              <a:t>Development Environment: </a:t>
            </a:r>
            <a:r>
              <a:rPr lang="en-IN" sz="4500" b="0" i="0" dirty="0">
                <a:solidFill>
                  <a:srgbClr val="000000"/>
                </a:solidFill>
                <a:effectLst/>
                <a:latin typeface="Times New Roman" panose="02020603050405020304" pitchFamily="18" charset="0"/>
                <a:cs typeface="Times New Roman" panose="02020603050405020304" pitchFamily="18" charset="0"/>
              </a:rPr>
              <a:t>This is where application/system development tasks, such as designing, programming, debugging, etc., take place.</a:t>
            </a:r>
          </a:p>
          <a:p>
            <a:pPr algn="l">
              <a:buFont typeface="+mj-lt"/>
              <a:buAutoNum type="arabicPeriod"/>
            </a:pPr>
            <a:r>
              <a:rPr lang="en-IN" sz="4500" b="1" i="0" dirty="0">
                <a:solidFill>
                  <a:srgbClr val="000000"/>
                </a:solidFill>
                <a:effectLst/>
                <a:latin typeface="Times New Roman" panose="02020603050405020304" pitchFamily="18" charset="0"/>
                <a:cs typeface="Times New Roman" panose="02020603050405020304" pitchFamily="18" charset="0"/>
              </a:rPr>
              <a:t>Test Environment: </a:t>
            </a:r>
            <a:r>
              <a:rPr lang="en-IN" sz="4500" b="0" i="0" dirty="0">
                <a:solidFill>
                  <a:srgbClr val="000000"/>
                </a:solidFill>
                <a:effectLst/>
                <a:latin typeface="Times New Roman" panose="02020603050405020304" pitchFamily="18" charset="0"/>
                <a:cs typeface="Times New Roman" panose="02020603050405020304" pitchFamily="18" charset="0"/>
              </a:rPr>
              <a:t>As the name implies, this is where application testing is conducted to find and fix errors.</a:t>
            </a:r>
          </a:p>
          <a:p>
            <a:pPr algn="l">
              <a:buFont typeface="+mj-lt"/>
              <a:buAutoNum type="arabicPeriod"/>
            </a:pPr>
            <a:r>
              <a:rPr lang="en-IN" sz="4500" b="1" i="0" dirty="0">
                <a:solidFill>
                  <a:srgbClr val="000000"/>
                </a:solidFill>
                <a:effectLst/>
                <a:latin typeface="Times New Roman" panose="02020603050405020304" pitchFamily="18" charset="0"/>
                <a:cs typeface="Times New Roman" panose="02020603050405020304" pitchFamily="18" charset="0"/>
              </a:rPr>
              <a:t>Staging Environment: </a:t>
            </a:r>
            <a:r>
              <a:rPr lang="en-IN" sz="4500" b="0" i="0" dirty="0">
                <a:solidFill>
                  <a:srgbClr val="000000"/>
                </a:solidFill>
                <a:effectLst/>
                <a:latin typeface="Times New Roman" panose="02020603050405020304" pitchFamily="18" charset="0"/>
                <a:cs typeface="Times New Roman" panose="02020603050405020304" pitchFamily="18" charset="0"/>
              </a:rPr>
              <a:t>Here, all the work done in the development environment is merged into the built system (often used to automate the process of software compilation) before it is moved into the production environment.</a:t>
            </a:r>
          </a:p>
          <a:p>
            <a:pPr algn="l">
              <a:buFont typeface="+mj-lt"/>
              <a:buAutoNum type="arabicPeriod"/>
            </a:pPr>
            <a:r>
              <a:rPr lang="en-IN" sz="4500" b="1" i="0" dirty="0">
                <a:solidFill>
                  <a:srgbClr val="000000"/>
                </a:solidFill>
                <a:effectLst/>
                <a:latin typeface="Times New Roman" panose="02020603050405020304" pitchFamily="18" charset="0"/>
                <a:cs typeface="Times New Roman" panose="02020603050405020304" pitchFamily="18" charset="0"/>
              </a:rPr>
              <a:t>Production Environment: </a:t>
            </a:r>
            <a:r>
              <a:rPr lang="en-IN" sz="4500" b="0" i="0" dirty="0">
                <a:solidFill>
                  <a:srgbClr val="000000"/>
                </a:solidFill>
                <a:effectLst/>
                <a:latin typeface="Times New Roman" panose="02020603050405020304" pitchFamily="18" charset="0"/>
                <a:cs typeface="Times New Roman" panose="02020603050405020304" pitchFamily="18" charset="0"/>
              </a:rPr>
              <a:t>The last environment in software development, this is where new builds/updates are moved into production for end users.</a:t>
            </a:r>
          </a:p>
          <a:p>
            <a:pPr algn="l">
              <a:buFont typeface="+mj-lt"/>
              <a:buAutoNum type="arabicPeriod"/>
            </a:pPr>
            <a:endParaRPr lang="en-IN" sz="4500" b="0" i="0" dirty="0">
              <a:solidFill>
                <a:srgbClr val="000000"/>
              </a:solidFill>
              <a:effectLst/>
              <a:latin typeface="Times New Roman" panose="02020603050405020304" pitchFamily="18" charset="0"/>
              <a:cs typeface="Times New Roman" panose="02020603050405020304" pitchFamily="18" charset="0"/>
            </a:endParaRPr>
          </a:p>
          <a:p>
            <a:pPr algn="l"/>
            <a:r>
              <a:rPr lang="en-IN" sz="4500" dirty="0">
                <a:solidFill>
                  <a:srgbClr val="000000"/>
                </a:solidFill>
                <a:latin typeface="Times New Roman" panose="02020603050405020304" pitchFamily="18" charset="0"/>
                <a:cs typeface="Times New Roman" panose="02020603050405020304" pitchFamily="18" charset="0"/>
              </a:rPr>
              <a:t>Ex:- </a:t>
            </a:r>
            <a:r>
              <a:rPr lang="en-IN" sz="4500" b="1" i="0" dirty="0">
                <a:solidFill>
                  <a:schemeClr val="tx1">
                    <a:lumMod val="95000"/>
                    <a:lumOff val="5000"/>
                  </a:schemeClr>
                </a:solidFill>
                <a:effectLst/>
                <a:latin typeface="Times New Roman" panose="02020603050405020304" pitchFamily="18" charset="0"/>
                <a:cs typeface="Times New Roman" panose="02020603050405020304" pitchFamily="18" charset="0"/>
              </a:rPr>
              <a:t>Different Types of Testing Environments</a:t>
            </a:r>
            <a:endParaRPr lang="en-IN" sz="45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4500" b="0" i="0" dirty="0">
                <a:solidFill>
                  <a:schemeClr val="tx1">
                    <a:lumMod val="95000"/>
                    <a:lumOff val="5000"/>
                  </a:schemeClr>
                </a:solidFill>
                <a:effectLst/>
                <a:latin typeface="Times New Roman" panose="02020603050405020304" pitchFamily="18" charset="0"/>
                <a:cs typeface="Times New Roman" panose="02020603050405020304" pitchFamily="18" charset="0"/>
              </a:rPr>
              <a:t>Performance Testing Environment / System Integration Testing (SIT) / User Acceptance Testing (UAT) </a:t>
            </a:r>
            <a:r>
              <a:rPr lang="en-IN" sz="45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IN" sz="4500" b="0"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p>
          <a:p>
            <a:pPr algn="l">
              <a:buFont typeface="Arial" panose="020B0604020202020204" pitchFamily="34" charset="0"/>
              <a:buChar char="•"/>
            </a:pPr>
            <a:r>
              <a:rPr lang="en-IN" sz="4500" b="0" i="0" dirty="0">
                <a:solidFill>
                  <a:schemeClr val="tx1">
                    <a:lumMod val="95000"/>
                    <a:lumOff val="5000"/>
                  </a:schemeClr>
                </a:solidFill>
                <a:effectLst/>
                <a:latin typeface="Times New Roman" panose="02020603050405020304" pitchFamily="18" charset="0"/>
                <a:cs typeface="Times New Roman" panose="02020603050405020304" pitchFamily="18" charset="0"/>
              </a:rPr>
              <a:t>Quality Assurance (QA).</a:t>
            </a:r>
          </a:p>
          <a:p>
            <a:pPr algn="l">
              <a:buFont typeface="Arial" panose="020B0604020202020204" pitchFamily="34" charset="0"/>
              <a:buChar char="•"/>
            </a:pPr>
            <a:r>
              <a:rPr lang="en-IN" sz="4500" b="0" i="0" dirty="0">
                <a:solidFill>
                  <a:schemeClr val="tx1">
                    <a:lumMod val="95000"/>
                    <a:lumOff val="5000"/>
                  </a:schemeClr>
                </a:solidFill>
                <a:effectLst/>
                <a:latin typeface="Times New Roman" panose="02020603050405020304" pitchFamily="18" charset="0"/>
                <a:cs typeface="Times New Roman" panose="02020603050405020304" pitchFamily="18" charset="0"/>
              </a:rPr>
              <a:t>Security Testing.</a:t>
            </a:r>
          </a:p>
          <a:p>
            <a:pPr algn="l">
              <a:buFont typeface="Arial" panose="020B0604020202020204" pitchFamily="34" charset="0"/>
              <a:buChar char="•"/>
            </a:pPr>
            <a:r>
              <a:rPr lang="en-IN" sz="4500" b="0" i="0" dirty="0">
                <a:solidFill>
                  <a:schemeClr val="tx1">
                    <a:lumMod val="95000"/>
                    <a:lumOff val="5000"/>
                  </a:schemeClr>
                </a:solidFill>
                <a:effectLst/>
                <a:latin typeface="Times New Roman" panose="02020603050405020304" pitchFamily="18" charset="0"/>
                <a:cs typeface="Times New Roman" panose="02020603050405020304" pitchFamily="18" charset="0"/>
              </a:rPr>
              <a:t>Chaos Testing.</a:t>
            </a:r>
          </a:p>
          <a:p>
            <a:pPr algn="l">
              <a:buFont typeface="Arial" panose="020B0604020202020204" pitchFamily="34" charset="0"/>
              <a:buChar char="•"/>
            </a:pPr>
            <a:r>
              <a:rPr lang="en-IN" sz="4500" b="0" i="0" dirty="0">
                <a:solidFill>
                  <a:schemeClr val="tx1">
                    <a:lumMod val="95000"/>
                    <a:lumOff val="5000"/>
                  </a:schemeClr>
                </a:solidFill>
                <a:effectLst/>
                <a:latin typeface="Times New Roman" panose="02020603050405020304" pitchFamily="18" charset="0"/>
                <a:cs typeface="Times New Roman" panose="02020603050405020304" pitchFamily="18" charset="0"/>
              </a:rPr>
              <a:t>Alpha Testing.</a:t>
            </a:r>
          </a:p>
          <a:p>
            <a:pPr algn="l">
              <a:buFont typeface="Arial" panose="020B0604020202020204" pitchFamily="34" charset="0"/>
              <a:buChar char="•"/>
            </a:pPr>
            <a:r>
              <a:rPr lang="en-IN" sz="4500" b="0" i="0" dirty="0">
                <a:solidFill>
                  <a:schemeClr val="tx1">
                    <a:lumMod val="95000"/>
                    <a:lumOff val="5000"/>
                  </a:schemeClr>
                </a:solidFill>
                <a:effectLst/>
                <a:latin typeface="Times New Roman" panose="02020603050405020304" pitchFamily="18" charset="0"/>
                <a:cs typeface="Times New Roman" panose="02020603050405020304" pitchFamily="18" charset="0"/>
              </a:rPr>
              <a:t>Beta Testing.</a:t>
            </a:r>
          </a:p>
          <a:p>
            <a:pPr marL="0" indent="0" algn="l">
              <a:buNone/>
            </a:pPr>
            <a:endParaRPr lang="en-IN" sz="2000" b="0" i="0" dirty="0">
              <a:solidFill>
                <a:srgbClr val="000000"/>
              </a:solidFill>
              <a:effectLst/>
              <a:latin typeface="Open Sans" panose="020B0604020202020204" pitchFamily="34" charset="0"/>
            </a:endParaRPr>
          </a:p>
          <a:p>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106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635B9-0A36-4901-970C-B14C0F607BCB}"/>
              </a:ext>
            </a:extLst>
          </p:cNvPr>
          <p:cNvSpPr>
            <a:spLocks noGrp="1"/>
          </p:cNvSpPr>
          <p:nvPr>
            <p:ph type="title"/>
          </p:nvPr>
        </p:nvSpPr>
        <p:spPr>
          <a:xfrm>
            <a:off x="530087" y="152401"/>
            <a:ext cx="11343861" cy="642730"/>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Virtualization</a:t>
            </a:r>
            <a:endParaRPr lang="en-IN" sz="4000" dirty="0"/>
          </a:p>
        </p:txBody>
      </p:sp>
      <p:pic>
        <p:nvPicPr>
          <p:cNvPr id="5" name="Content Placeholder 4">
            <a:extLst>
              <a:ext uri="{FF2B5EF4-FFF2-40B4-BE49-F238E27FC236}">
                <a16:creationId xmlns:a16="http://schemas.microsoft.com/office/drawing/2014/main" id="{B5B9B563-9071-49B6-91A0-3A016898BD83}"/>
              </a:ext>
            </a:extLst>
          </p:cNvPr>
          <p:cNvPicPr>
            <a:picLocks noGrp="1" noChangeAspect="1"/>
          </p:cNvPicPr>
          <p:nvPr>
            <p:ph idx="1"/>
          </p:nvPr>
        </p:nvPicPr>
        <p:blipFill>
          <a:blip r:embed="rId2"/>
          <a:stretch>
            <a:fillRect/>
          </a:stretch>
        </p:blipFill>
        <p:spPr>
          <a:xfrm>
            <a:off x="8348869" y="1272209"/>
            <a:ext cx="3730417" cy="5433390"/>
          </a:xfrm>
          <a:prstGeom prst="rect">
            <a:avLst/>
          </a:prstGeom>
        </p:spPr>
      </p:pic>
      <p:sp>
        <p:nvSpPr>
          <p:cNvPr id="7" name="Text Placeholder 6">
            <a:extLst>
              <a:ext uri="{FF2B5EF4-FFF2-40B4-BE49-F238E27FC236}">
                <a16:creationId xmlns:a16="http://schemas.microsoft.com/office/drawing/2014/main" id="{C1DCD27A-540E-49D8-8D59-59511EFECCA1}"/>
              </a:ext>
            </a:extLst>
          </p:cNvPr>
          <p:cNvSpPr>
            <a:spLocks noGrp="1"/>
          </p:cNvSpPr>
          <p:nvPr>
            <p:ph type="body" sz="half" idx="2"/>
          </p:nvPr>
        </p:nvSpPr>
        <p:spPr>
          <a:xfrm>
            <a:off x="265043" y="1272208"/>
            <a:ext cx="8083827" cy="5433391"/>
          </a:xfrm>
        </p:spPr>
        <p:txBody>
          <a:bodyPr>
            <a:normAutofit lnSpcReduction="10000"/>
          </a:bodyPr>
          <a:lstStyle/>
          <a:p>
            <a:pPr marL="285750" indent="-285750">
              <a:buFont typeface="Wingdings" panose="05000000000000000000" pitchFamily="2" charset="2"/>
              <a:buChar char="v"/>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Virtualization relies on software to simulate hardware functionality and create a virtual computer system. This enables IT organizations to run more than one virtual system – and multiple operating systems and applications – on a single server. The resulting benefits include economies of scale and greater efficiency</a:t>
            </a:r>
          </a:p>
          <a:p>
            <a:r>
              <a:rPr lang="en-IN" sz="2000" dirty="0">
                <a:solidFill>
                  <a:schemeClr val="tx1">
                    <a:lumMod val="95000"/>
                    <a:lumOff val="5000"/>
                  </a:schemeClr>
                </a:solidFill>
                <a:latin typeface="Times New Roman" panose="02020603050405020304" pitchFamily="18" charset="0"/>
                <a:cs typeface="Times New Roman" panose="02020603050405020304" pitchFamily="18" charset="0"/>
              </a:rPr>
              <a:t>                                                     OR</a:t>
            </a:r>
          </a:p>
          <a:p>
            <a:pPr marL="285750" indent="-285750">
              <a:buFont typeface="Wingdings" panose="05000000000000000000" pitchFamily="2" charset="2"/>
              <a:buChar char="v"/>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Virtualization is technology that lets you create useful IT services using resources that are traditionally bound to hardware. It allows you to use a physical machine's full capacity by distributing its capabilities among many users or environments.</a:t>
            </a:r>
          </a:p>
          <a:p>
            <a:endPar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Type of virtualization :- Type 1 &amp; Type 2</a:t>
            </a:r>
          </a:p>
          <a:p>
            <a:pPr marL="285750" indent="-285750">
              <a:buFont typeface="Wingdings" panose="05000000000000000000" pitchFamily="2" charset="2"/>
              <a:buChar char="ü"/>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Type 1 hypervisors is that runs on bare metal</a:t>
            </a:r>
          </a:p>
          <a:p>
            <a:pPr marL="285750" indent="-285750">
              <a:buFont typeface="Wingdings" panose="05000000000000000000" pitchFamily="2" charset="2"/>
              <a:buChar char="ü"/>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Type 2 runs on top of an operating system.</a:t>
            </a:r>
          </a:p>
          <a:p>
            <a:pPr marL="285750" indent="-285750">
              <a:buFont typeface="Wingdings" panose="05000000000000000000" pitchFamily="2" charset="2"/>
              <a:buChar char="ü"/>
            </a:pPr>
            <a:r>
              <a:rPr lang="en-IN" sz="2000" i="0" dirty="0">
                <a:solidFill>
                  <a:schemeClr val="tx1">
                    <a:lumMod val="95000"/>
                    <a:lumOff val="5000"/>
                  </a:schemeClr>
                </a:solidFill>
                <a:effectLst/>
                <a:latin typeface="Times New Roman" panose="02020603050405020304" pitchFamily="18" charset="0"/>
                <a:cs typeface="Times New Roman" panose="02020603050405020304" pitchFamily="18" charset="0"/>
              </a:rPr>
              <a:t> Each hypervisor type also has its own pros and cons and specific use cases</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295410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E9855-E8C6-490C-8F99-5C35154EF3E3}"/>
              </a:ext>
            </a:extLst>
          </p:cNvPr>
          <p:cNvSpPr>
            <a:spLocks noGrp="1"/>
          </p:cNvSpPr>
          <p:nvPr>
            <p:ph type="title"/>
          </p:nvPr>
        </p:nvSpPr>
        <p:spPr>
          <a:xfrm>
            <a:off x="1921565" y="225288"/>
            <a:ext cx="9583047" cy="702364"/>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Cloud</a:t>
            </a:r>
            <a:endParaRPr lang="en-IN" sz="4000" b="1" dirty="0"/>
          </a:p>
        </p:txBody>
      </p:sp>
      <p:sp>
        <p:nvSpPr>
          <p:cNvPr id="3" name="Content Placeholder 2">
            <a:extLst>
              <a:ext uri="{FF2B5EF4-FFF2-40B4-BE49-F238E27FC236}">
                <a16:creationId xmlns:a16="http://schemas.microsoft.com/office/drawing/2014/main" id="{E6980949-ABE2-4045-816C-74BF633F59B5}"/>
              </a:ext>
            </a:extLst>
          </p:cNvPr>
          <p:cNvSpPr>
            <a:spLocks noGrp="1"/>
          </p:cNvSpPr>
          <p:nvPr>
            <p:ph idx="1"/>
          </p:nvPr>
        </p:nvSpPr>
        <p:spPr>
          <a:xfrm>
            <a:off x="569843" y="1311966"/>
            <a:ext cx="10934769" cy="5320746"/>
          </a:xfrm>
        </p:spPr>
        <p:txBody>
          <a:bodyPr>
            <a:normAutofit/>
          </a:bodyPr>
          <a:lstStyle/>
          <a:p>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Cloud computing is the on-demand availability of computer system resources, especially data storage and computing power, without direct active management by the user. Large clouds often have functions distributed over multiple locations, each location being a data </a:t>
            </a:r>
            <a:r>
              <a:rPr lang="en-IN" sz="2000" b="0" i="0" dirty="0" err="1">
                <a:solidFill>
                  <a:schemeClr val="tx1">
                    <a:lumMod val="95000"/>
                    <a:lumOff val="5000"/>
                  </a:schemeClr>
                </a:solidFill>
                <a:effectLst/>
                <a:latin typeface="Times New Roman" panose="02020603050405020304" pitchFamily="18" charset="0"/>
                <a:cs typeface="Times New Roman" panose="02020603050405020304" pitchFamily="18" charset="0"/>
              </a:rPr>
              <a:t>center</a:t>
            </a:r>
            <a:r>
              <a:rPr lang="en-IN"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a:t>
            </a:r>
          </a:p>
          <a:p>
            <a:pPr marL="0" indent="0">
              <a:buNone/>
            </a:pPr>
            <a:endParaRPr lang="en-IN"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just"/>
            <a:r>
              <a:rPr lang="en-IN" sz="2000" b="0" i="0" dirty="0">
                <a:solidFill>
                  <a:srgbClr val="610B38"/>
                </a:solidFill>
                <a:effectLst/>
                <a:latin typeface="Times New Roman" panose="02020603050405020304" pitchFamily="18" charset="0"/>
                <a:cs typeface="Times New Roman" panose="02020603050405020304" pitchFamily="18" charset="0"/>
              </a:rPr>
              <a:t>Cloud Service Models                                                                    Cloud Deployment Models                   </a:t>
            </a:r>
          </a:p>
          <a:p>
            <a:pPr algn="just"/>
            <a:endParaRPr lang="en-IN" sz="2000" b="0" i="0" dirty="0">
              <a:solidFill>
                <a:srgbClr val="610B38"/>
              </a:solidFill>
              <a:effectLst/>
              <a:latin typeface="Times New Roman" panose="02020603050405020304" pitchFamily="18" charset="0"/>
              <a:cs typeface="Times New Roman" panose="02020603050405020304" pitchFamily="18" charset="0"/>
            </a:endParaRPr>
          </a:p>
          <a:p>
            <a:pPr algn="just"/>
            <a:r>
              <a:rPr lang="en-IN" sz="2000" b="0" i="0" dirty="0">
                <a:solidFill>
                  <a:srgbClr val="333333"/>
                </a:solidFill>
                <a:effectLst/>
                <a:latin typeface="Times New Roman" panose="02020603050405020304" pitchFamily="18" charset="0"/>
                <a:cs typeface="Times New Roman" panose="02020603050405020304" pitchFamily="18" charset="0"/>
              </a:rPr>
              <a:t> 3 types of cloud service models -                                           </a:t>
            </a:r>
            <a:r>
              <a:rPr lang="en-IN" sz="2000" dirty="0">
                <a:solidFill>
                  <a:srgbClr val="333333"/>
                </a:solidFill>
                <a:latin typeface="Times New Roman" panose="02020603050405020304" pitchFamily="18" charset="0"/>
                <a:cs typeface="Times New Roman" panose="02020603050405020304" pitchFamily="18" charset="0"/>
              </a:rPr>
              <a:t>4 </a:t>
            </a:r>
            <a:r>
              <a:rPr lang="en-IN" sz="2000" b="0" i="0" dirty="0">
                <a:solidFill>
                  <a:srgbClr val="333333"/>
                </a:solidFill>
                <a:effectLst/>
                <a:latin typeface="Times New Roman" panose="02020603050405020304" pitchFamily="18" charset="0"/>
                <a:cs typeface="Times New Roman" panose="02020603050405020304" pitchFamily="18" charset="0"/>
              </a:rPr>
              <a:t>types of cloud deployment models -</a:t>
            </a:r>
          </a:p>
          <a:p>
            <a:pPr algn="just"/>
            <a:endParaRPr lang="en-IN" b="0" i="0" dirty="0">
              <a:solidFill>
                <a:srgbClr val="333333"/>
              </a:solidFill>
              <a:effectLst/>
              <a:latin typeface="Times New Roman" panose="02020603050405020304" pitchFamily="18" charset="0"/>
              <a:cs typeface="Times New Roman" panose="02020603050405020304" pitchFamily="18" charset="0"/>
            </a:endParaRPr>
          </a:p>
          <a:p>
            <a:pPr algn="just">
              <a:buFont typeface="+mj-lt"/>
              <a:buAutoNum type="arabicPeriod"/>
            </a:pPr>
            <a:r>
              <a:rPr lang="en-IN" b="0" i="0" u="none" strike="noStrike" dirty="0">
                <a:solidFill>
                  <a:srgbClr val="008000"/>
                </a:solidFill>
                <a:effectLst/>
                <a:latin typeface="Times New Roman" panose="02020603050405020304" pitchFamily="18" charset="0"/>
                <a:cs typeface="Times New Roman" panose="02020603050405020304" pitchFamily="18" charset="0"/>
                <a:hlinkClick r:id="rId2"/>
              </a:rPr>
              <a:t>Infrastructure as a Service (IaaS)</a:t>
            </a:r>
            <a:r>
              <a:rPr lang="en-IN" b="0" i="0" u="none" strike="noStrike" dirty="0">
                <a:solidFill>
                  <a:srgbClr val="008000"/>
                </a:solidFill>
                <a:effectLst/>
                <a:latin typeface="Times New Roman" panose="02020603050405020304" pitchFamily="18" charset="0"/>
                <a:cs typeface="Times New Roman" panose="02020603050405020304" pitchFamily="18" charset="0"/>
              </a:rPr>
              <a:t>                                                                      1.  Private cloud         </a:t>
            </a:r>
            <a:endParaRPr lang="en-IN" b="0" i="0" dirty="0">
              <a:solidFill>
                <a:srgbClr val="000000"/>
              </a:solidFill>
              <a:effectLst/>
              <a:latin typeface="Times New Roman" panose="02020603050405020304" pitchFamily="18" charset="0"/>
              <a:cs typeface="Times New Roman" panose="02020603050405020304" pitchFamily="18" charset="0"/>
            </a:endParaRPr>
          </a:p>
          <a:p>
            <a:pPr algn="just">
              <a:buFont typeface="+mj-lt"/>
              <a:buAutoNum type="arabicPeriod"/>
            </a:pPr>
            <a:r>
              <a:rPr lang="en-IN" b="0" i="0" u="none" strike="noStrike" dirty="0">
                <a:solidFill>
                  <a:srgbClr val="008000"/>
                </a:solidFill>
                <a:effectLst/>
                <a:latin typeface="Times New Roman" panose="02020603050405020304" pitchFamily="18" charset="0"/>
                <a:cs typeface="Times New Roman" panose="02020603050405020304" pitchFamily="18" charset="0"/>
                <a:hlinkClick r:id="rId3"/>
              </a:rPr>
              <a:t>Platform as a Service (PaaS)</a:t>
            </a:r>
            <a:r>
              <a:rPr lang="en-IN" b="0" i="0" u="none" strike="noStrike" dirty="0">
                <a:solidFill>
                  <a:srgbClr val="008000"/>
                </a:solidFill>
                <a:effectLst/>
                <a:latin typeface="Times New Roman" panose="02020603050405020304" pitchFamily="18" charset="0"/>
                <a:cs typeface="Times New Roman" panose="02020603050405020304" pitchFamily="18" charset="0"/>
              </a:rPr>
              <a:t>                                                                             2.  Public cloud</a:t>
            </a:r>
            <a:endParaRPr lang="en-IN" b="0" i="0" dirty="0">
              <a:solidFill>
                <a:srgbClr val="000000"/>
              </a:solidFill>
              <a:effectLst/>
              <a:latin typeface="Times New Roman" panose="02020603050405020304" pitchFamily="18" charset="0"/>
              <a:cs typeface="Times New Roman" panose="02020603050405020304" pitchFamily="18" charset="0"/>
            </a:endParaRPr>
          </a:p>
          <a:p>
            <a:pPr algn="just">
              <a:buFont typeface="+mj-lt"/>
              <a:buAutoNum type="arabicPeriod"/>
            </a:pPr>
            <a:r>
              <a:rPr lang="en-IN" b="0" i="0" u="none" strike="noStrike" dirty="0">
                <a:solidFill>
                  <a:srgbClr val="008000"/>
                </a:solidFill>
                <a:effectLst/>
                <a:latin typeface="Times New Roman" panose="02020603050405020304" pitchFamily="18" charset="0"/>
                <a:cs typeface="Times New Roman" panose="02020603050405020304" pitchFamily="18" charset="0"/>
                <a:hlinkClick r:id="rId4"/>
              </a:rPr>
              <a:t>Software as a Service (SaaS)</a:t>
            </a:r>
            <a:r>
              <a:rPr lang="en-IN" b="0" i="0" u="none" strike="noStrike" dirty="0">
                <a:solidFill>
                  <a:srgbClr val="008000"/>
                </a:solidFill>
                <a:effectLst/>
                <a:latin typeface="Times New Roman" panose="02020603050405020304" pitchFamily="18" charset="0"/>
                <a:cs typeface="Times New Roman" panose="02020603050405020304" pitchFamily="18" charset="0"/>
              </a:rPr>
              <a:t>                                                                            3.  Hybrid cloud </a:t>
            </a:r>
            <a:r>
              <a:rPr lang="en-IN" dirty="0">
                <a:solidFill>
                  <a:srgbClr val="008000"/>
                </a:solidFill>
                <a:latin typeface="Times New Roman" panose="02020603050405020304" pitchFamily="18" charset="0"/>
                <a:cs typeface="Times New Roman" panose="02020603050405020304" pitchFamily="18" charset="0"/>
              </a:rPr>
              <a:t>                                                                                                                                   </a:t>
            </a:r>
          </a:p>
          <a:p>
            <a:pPr marL="0" indent="0" algn="just">
              <a:buNone/>
            </a:pPr>
            <a:r>
              <a:rPr lang="en-IN" dirty="0">
                <a:solidFill>
                  <a:srgbClr val="008000"/>
                </a:solidFill>
                <a:latin typeface="Times New Roman" panose="02020603050405020304" pitchFamily="18" charset="0"/>
                <a:cs typeface="Times New Roman" panose="02020603050405020304" pitchFamily="18" charset="0"/>
              </a:rPr>
              <a:t>                                                                                                                                 4.  community could</a:t>
            </a:r>
            <a:endParaRPr lang="en-IN" b="0"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3824956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B55F9-E45A-4546-85CB-C839ED0F281E}"/>
              </a:ext>
            </a:extLst>
          </p:cNvPr>
          <p:cNvSpPr>
            <a:spLocks noGrp="1"/>
          </p:cNvSpPr>
          <p:nvPr>
            <p:ph type="title"/>
          </p:nvPr>
        </p:nvSpPr>
        <p:spPr>
          <a:xfrm>
            <a:off x="1603513" y="125897"/>
            <a:ext cx="9901099" cy="815008"/>
          </a:xfrm>
        </p:spPr>
        <p:txBody>
          <a:bodyPr>
            <a:normAutofit fontScale="90000"/>
          </a:bodyPr>
          <a:lstStyle/>
          <a:p>
            <a:pPr algn="ctr"/>
            <a:r>
              <a:rPr lang="en-IN" sz="4400" b="1" i="0" dirty="0">
                <a:solidFill>
                  <a:srgbClr val="610B38"/>
                </a:solidFill>
                <a:effectLst/>
                <a:latin typeface="Times New Roman" panose="02020603050405020304" pitchFamily="18" charset="0"/>
                <a:cs typeface="Times New Roman" panose="02020603050405020304" pitchFamily="18" charset="0"/>
              </a:rPr>
              <a:t>Infrastructure as a Service (IaaS)</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58F46C26-4CD8-4A12-9A2F-93925D32F09D}"/>
              </a:ext>
            </a:extLst>
          </p:cNvPr>
          <p:cNvSpPr>
            <a:spLocks noGrp="1"/>
          </p:cNvSpPr>
          <p:nvPr>
            <p:ph idx="1"/>
          </p:nvPr>
        </p:nvSpPr>
        <p:spPr>
          <a:xfrm>
            <a:off x="1152940" y="579783"/>
            <a:ext cx="10760764" cy="6135756"/>
          </a:xfrm>
        </p:spPr>
        <p:txBody>
          <a:bodyPr>
            <a:normAutofit/>
          </a:bodyPr>
          <a:lstStyle/>
          <a:p>
            <a:pPr marL="0" indent="0" algn="just">
              <a:buNone/>
            </a:pPr>
            <a:endParaRPr lang="en-IN" b="0" i="0" dirty="0">
              <a:solidFill>
                <a:srgbClr val="610B38"/>
              </a:solidFill>
              <a:effectLst/>
              <a:latin typeface="erdana"/>
            </a:endParaRPr>
          </a:p>
          <a:p>
            <a:pPr algn="just"/>
            <a:r>
              <a:rPr lang="en-IN" sz="2000" b="0" i="0" dirty="0">
                <a:solidFill>
                  <a:srgbClr val="333333"/>
                </a:solidFill>
                <a:effectLst/>
                <a:latin typeface="Times New Roman" panose="02020603050405020304" pitchFamily="18" charset="0"/>
                <a:cs typeface="Times New Roman" panose="02020603050405020304" pitchFamily="18" charset="0"/>
              </a:rPr>
              <a:t>IaaS is also known as </a:t>
            </a:r>
            <a:r>
              <a:rPr lang="en-IN" sz="2000" b="1" i="0" dirty="0">
                <a:solidFill>
                  <a:srgbClr val="333333"/>
                </a:solidFill>
                <a:effectLst/>
                <a:latin typeface="Times New Roman" panose="02020603050405020304" pitchFamily="18" charset="0"/>
                <a:cs typeface="Times New Roman" panose="02020603050405020304" pitchFamily="18" charset="0"/>
              </a:rPr>
              <a:t>Hardware as a Service (</a:t>
            </a:r>
            <a:r>
              <a:rPr lang="en-IN" sz="2000" b="1" i="0" dirty="0" err="1">
                <a:solidFill>
                  <a:srgbClr val="333333"/>
                </a:solidFill>
                <a:effectLst/>
                <a:latin typeface="Times New Roman" panose="02020603050405020304" pitchFamily="18" charset="0"/>
                <a:cs typeface="Times New Roman" panose="02020603050405020304" pitchFamily="18" charset="0"/>
              </a:rPr>
              <a:t>HaaS</a:t>
            </a:r>
            <a:r>
              <a:rPr lang="en-IN" sz="2000" b="1" i="0" dirty="0">
                <a:solidFill>
                  <a:srgbClr val="333333"/>
                </a:solidFill>
                <a:effectLst/>
                <a:latin typeface="Times New Roman" panose="02020603050405020304" pitchFamily="18" charset="0"/>
                <a:cs typeface="Times New Roman" panose="02020603050405020304" pitchFamily="18" charset="0"/>
              </a:rPr>
              <a:t>)</a:t>
            </a:r>
            <a:r>
              <a:rPr lang="en-IN" sz="2000" b="0" i="0" dirty="0">
                <a:solidFill>
                  <a:srgbClr val="333333"/>
                </a:solidFill>
                <a:effectLst/>
                <a:latin typeface="Times New Roman" panose="02020603050405020304" pitchFamily="18" charset="0"/>
                <a:cs typeface="Times New Roman" panose="02020603050405020304" pitchFamily="18" charset="0"/>
              </a:rPr>
              <a:t>. It is a computing infrastructure managed over the internet. The main advantage of using IaaS is that it helps users to avoid the cost and complexity of purchasing and managing the physical servers.</a:t>
            </a:r>
          </a:p>
          <a:p>
            <a:pPr marL="0" indent="0" algn="just">
              <a:buNone/>
            </a:pPr>
            <a:endParaRPr lang="en-IN" sz="2000" b="0" i="0" dirty="0">
              <a:solidFill>
                <a:srgbClr val="333333"/>
              </a:solidFill>
              <a:effectLst/>
              <a:latin typeface="Times New Roman" panose="02020603050405020304" pitchFamily="18" charset="0"/>
              <a:cs typeface="Times New Roman" panose="02020603050405020304" pitchFamily="18" charset="0"/>
            </a:endParaRPr>
          </a:p>
          <a:p>
            <a:pPr algn="just"/>
            <a:r>
              <a:rPr lang="en-IN" sz="2000" b="0" i="0" dirty="0">
                <a:solidFill>
                  <a:srgbClr val="610B4B"/>
                </a:solidFill>
                <a:effectLst/>
                <a:latin typeface="Times New Roman" panose="02020603050405020304" pitchFamily="18" charset="0"/>
                <a:cs typeface="Times New Roman" panose="02020603050405020304" pitchFamily="18" charset="0"/>
              </a:rPr>
              <a:t>Characteristics of IaaS</a:t>
            </a:r>
            <a:endParaRPr lang="en-IN" sz="2000" b="0" i="0" dirty="0">
              <a:solidFill>
                <a:srgbClr val="333333"/>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Resources are available as a service.</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Services are highly scalable.</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Dynamic and flexible.</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GUI and API-based access.</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Automated administrative tasks.</a:t>
            </a:r>
          </a:p>
          <a:p>
            <a:pPr algn="just">
              <a:buFont typeface="Arial" panose="020B0604020202020204" pitchFamily="34" charset="0"/>
              <a:buChar char="•"/>
            </a:pPr>
            <a:endParaRPr lang="en-IN" sz="2000" b="0" i="0" dirty="0">
              <a:solidFill>
                <a:srgbClr val="000000"/>
              </a:solidFill>
              <a:effectLst/>
              <a:latin typeface="Times New Roman" panose="02020603050405020304" pitchFamily="18" charset="0"/>
              <a:cs typeface="Times New Roman" panose="02020603050405020304" pitchFamily="18" charset="0"/>
            </a:endParaRPr>
          </a:p>
          <a:p>
            <a:pPr algn="just"/>
            <a:r>
              <a:rPr lang="en-IN" sz="2000" b="1" i="0" dirty="0">
                <a:solidFill>
                  <a:srgbClr val="333333"/>
                </a:solidFill>
                <a:effectLst/>
                <a:latin typeface="Times New Roman" panose="02020603050405020304" pitchFamily="18" charset="0"/>
                <a:cs typeface="Times New Roman" panose="02020603050405020304" pitchFamily="18" charset="0"/>
              </a:rPr>
              <a:t>Example:</a:t>
            </a:r>
            <a:r>
              <a:rPr lang="en-IN" sz="2000" b="0" i="0" dirty="0">
                <a:solidFill>
                  <a:srgbClr val="333333"/>
                </a:solidFill>
                <a:effectLst/>
                <a:latin typeface="Times New Roman" panose="02020603050405020304" pitchFamily="18" charset="0"/>
                <a:cs typeface="Times New Roman" panose="02020603050405020304" pitchFamily="18" charset="0"/>
              </a:rPr>
              <a:t> </a:t>
            </a:r>
            <a:r>
              <a:rPr lang="en-IN" sz="2000" b="0" i="0" dirty="0" err="1">
                <a:solidFill>
                  <a:srgbClr val="333333"/>
                </a:solidFill>
                <a:effectLst/>
                <a:latin typeface="Times New Roman" panose="02020603050405020304" pitchFamily="18" charset="0"/>
                <a:cs typeface="Times New Roman" panose="02020603050405020304" pitchFamily="18" charset="0"/>
              </a:rPr>
              <a:t>DigitalOcean</a:t>
            </a:r>
            <a:r>
              <a:rPr lang="en-IN" sz="2000" b="0" i="0" dirty="0">
                <a:solidFill>
                  <a:srgbClr val="333333"/>
                </a:solidFill>
                <a:effectLst/>
                <a:latin typeface="Times New Roman" panose="02020603050405020304" pitchFamily="18" charset="0"/>
                <a:cs typeface="Times New Roman" panose="02020603050405020304" pitchFamily="18" charset="0"/>
              </a:rPr>
              <a:t>, </a:t>
            </a:r>
            <a:r>
              <a:rPr lang="en-IN" sz="2000" b="0" i="0" dirty="0" err="1">
                <a:solidFill>
                  <a:srgbClr val="333333"/>
                </a:solidFill>
                <a:effectLst/>
                <a:latin typeface="Times New Roman" panose="02020603050405020304" pitchFamily="18" charset="0"/>
                <a:cs typeface="Times New Roman" panose="02020603050405020304" pitchFamily="18" charset="0"/>
              </a:rPr>
              <a:t>Linode</a:t>
            </a:r>
            <a:r>
              <a:rPr lang="en-IN" sz="2000" b="0" i="0" dirty="0">
                <a:solidFill>
                  <a:srgbClr val="333333"/>
                </a:solidFill>
                <a:effectLst/>
                <a:latin typeface="Times New Roman" panose="02020603050405020304" pitchFamily="18" charset="0"/>
                <a:cs typeface="Times New Roman" panose="02020603050405020304" pitchFamily="18" charset="0"/>
              </a:rPr>
              <a:t>, Amazon Web Services (AWS), Microsoft Azure, Google Compute Engine (GCE), </a:t>
            </a:r>
            <a:r>
              <a:rPr lang="en-IN" sz="2000" b="0" i="0" dirty="0" err="1">
                <a:solidFill>
                  <a:srgbClr val="333333"/>
                </a:solidFill>
                <a:effectLst/>
                <a:latin typeface="Times New Roman" panose="02020603050405020304" pitchFamily="18" charset="0"/>
                <a:cs typeface="Times New Roman" panose="02020603050405020304" pitchFamily="18" charset="0"/>
              </a:rPr>
              <a:t>Rackspace</a:t>
            </a:r>
            <a:r>
              <a:rPr lang="en-IN" sz="2000" b="0" i="0" dirty="0">
                <a:solidFill>
                  <a:srgbClr val="333333"/>
                </a:solidFill>
                <a:effectLst/>
                <a:latin typeface="Times New Roman" panose="02020603050405020304" pitchFamily="18" charset="0"/>
                <a:cs typeface="Times New Roman" panose="02020603050405020304" pitchFamily="18" charset="0"/>
              </a:rPr>
              <a:t>, and Cisco </a:t>
            </a:r>
            <a:r>
              <a:rPr lang="en-IN" sz="2000" b="0" i="0" dirty="0" err="1">
                <a:solidFill>
                  <a:srgbClr val="333333"/>
                </a:solidFill>
                <a:effectLst/>
                <a:latin typeface="Times New Roman" panose="02020603050405020304" pitchFamily="18" charset="0"/>
                <a:cs typeface="Times New Roman" panose="02020603050405020304" pitchFamily="18" charset="0"/>
              </a:rPr>
              <a:t>Metacloud</a:t>
            </a:r>
            <a:r>
              <a:rPr lang="en-IN" sz="2000" b="0" i="0" dirty="0">
                <a:solidFill>
                  <a:srgbClr val="333333"/>
                </a:solidFill>
                <a:effectLst/>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04897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D91F5-DDD6-462C-B8DF-E0B4EE81C2D9}"/>
              </a:ext>
            </a:extLst>
          </p:cNvPr>
          <p:cNvSpPr>
            <a:spLocks noGrp="1"/>
          </p:cNvSpPr>
          <p:nvPr>
            <p:ph type="title"/>
          </p:nvPr>
        </p:nvSpPr>
        <p:spPr>
          <a:xfrm>
            <a:off x="1404731" y="159026"/>
            <a:ext cx="10099882" cy="609600"/>
          </a:xfrm>
        </p:spPr>
        <p:txBody>
          <a:bodyPr>
            <a:normAutofit fontScale="90000"/>
          </a:bodyPr>
          <a:lstStyle/>
          <a:p>
            <a:pPr algn="ctr"/>
            <a:r>
              <a:rPr lang="en-IN" sz="4400" b="1" i="0" dirty="0">
                <a:solidFill>
                  <a:srgbClr val="610B38"/>
                </a:solidFill>
                <a:effectLst/>
                <a:latin typeface="Times New Roman" panose="02020603050405020304" pitchFamily="18" charset="0"/>
                <a:cs typeface="Times New Roman" panose="02020603050405020304" pitchFamily="18" charset="0"/>
              </a:rPr>
              <a:t>Platform as a Service (PaaS)</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4175AFDA-A8A6-4302-B006-83C48C091C3F}"/>
              </a:ext>
            </a:extLst>
          </p:cNvPr>
          <p:cNvSpPr>
            <a:spLocks noGrp="1"/>
          </p:cNvSpPr>
          <p:nvPr>
            <p:ph idx="1"/>
          </p:nvPr>
        </p:nvSpPr>
        <p:spPr>
          <a:xfrm>
            <a:off x="1126435" y="569843"/>
            <a:ext cx="10933044" cy="6129131"/>
          </a:xfrm>
        </p:spPr>
        <p:txBody>
          <a:bodyPr>
            <a:normAutofit/>
          </a:bodyPr>
          <a:lstStyle/>
          <a:p>
            <a:pPr marL="0" indent="0" algn="just">
              <a:buNone/>
            </a:pPr>
            <a:endParaRPr lang="en-IN" b="0" i="0" dirty="0">
              <a:solidFill>
                <a:srgbClr val="610B38"/>
              </a:solidFill>
              <a:effectLst/>
              <a:latin typeface="erdana"/>
            </a:endParaRPr>
          </a:p>
          <a:p>
            <a:pPr algn="just"/>
            <a:r>
              <a:rPr lang="en-IN" sz="2000" b="0" i="0" dirty="0">
                <a:solidFill>
                  <a:srgbClr val="333333"/>
                </a:solidFill>
                <a:effectLst/>
                <a:latin typeface="Times New Roman" panose="02020603050405020304" pitchFamily="18" charset="0"/>
                <a:cs typeface="Times New Roman" panose="02020603050405020304" pitchFamily="18" charset="0"/>
              </a:rPr>
              <a:t>PaaS cloud computing platform is created for the programmer to develop, test, run, and manage the applications.</a:t>
            </a:r>
          </a:p>
          <a:p>
            <a:pPr marL="0" indent="0" algn="just">
              <a:buNone/>
            </a:pPr>
            <a:endParaRPr lang="en-IN" sz="2000" b="0" i="0" dirty="0">
              <a:solidFill>
                <a:srgbClr val="333333"/>
              </a:solidFill>
              <a:effectLst/>
              <a:latin typeface="Times New Roman" panose="02020603050405020304" pitchFamily="18" charset="0"/>
              <a:cs typeface="Times New Roman" panose="02020603050405020304" pitchFamily="18" charset="0"/>
            </a:endParaRPr>
          </a:p>
          <a:p>
            <a:pPr algn="just"/>
            <a:r>
              <a:rPr lang="en-IN" sz="2000" b="0" i="0" dirty="0">
                <a:solidFill>
                  <a:srgbClr val="610B4B"/>
                </a:solidFill>
                <a:effectLst/>
                <a:latin typeface="Times New Roman" panose="02020603050405020304" pitchFamily="18" charset="0"/>
                <a:cs typeface="Times New Roman" panose="02020603050405020304" pitchFamily="18" charset="0"/>
              </a:rPr>
              <a:t>Characteristics of PaaS</a:t>
            </a:r>
            <a:endParaRPr lang="en-IN" sz="2000" b="0" i="0" dirty="0">
              <a:solidFill>
                <a:srgbClr val="333333"/>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Accessible to various users via the same development application.</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Integrates with web services and databases.</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Builds on virtualization technology, so resources can easily be scaled up or down as per the organization's need.</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Support multiple languages and frameworks.</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Provides an ability to "</a:t>
            </a:r>
            <a:r>
              <a:rPr lang="en-IN" sz="2000" b="1" i="0" dirty="0">
                <a:solidFill>
                  <a:srgbClr val="000000"/>
                </a:solidFill>
                <a:effectLst/>
                <a:latin typeface="Times New Roman" panose="02020603050405020304" pitchFamily="18" charset="0"/>
                <a:cs typeface="Times New Roman" panose="02020603050405020304" pitchFamily="18" charset="0"/>
              </a:rPr>
              <a:t>Auto-scale</a:t>
            </a:r>
            <a:r>
              <a:rPr lang="en-IN" sz="2000" b="0" i="0" dirty="0">
                <a:solidFill>
                  <a:srgbClr val="000000"/>
                </a:solidFill>
                <a:effectLst/>
                <a:latin typeface="Times New Roman" panose="02020603050405020304" pitchFamily="18" charset="0"/>
                <a:cs typeface="Times New Roman" panose="02020603050405020304" pitchFamily="18" charset="0"/>
              </a:rPr>
              <a:t>".</a:t>
            </a:r>
          </a:p>
          <a:p>
            <a:pPr marL="0" indent="0" algn="just">
              <a:buNone/>
            </a:pPr>
            <a:endParaRPr lang="en-IN" sz="2000" b="0" i="0" dirty="0">
              <a:solidFill>
                <a:srgbClr val="000000"/>
              </a:solidFill>
              <a:effectLst/>
              <a:latin typeface="Times New Roman" panose="02020603050405020304" pitchFamily="18" charset="0"/>
              <a:cs typeface="Times New Roman" panose="02020603050405020304" pitchFamily="18" charset="0"/>
            </a:endParaRPr>
          </a:p>
          <a:p>
            <a:pPr algn="just"/>
            <a:r>
              <a:rPr lang="en-IN" sz="2000" b="1" i="0" dirty="0">
                <a:solidFill>
                  <a:srgbClr val="333333"/>
                </a:solidFill>
                <a:effectLst/>
                <a:latin typeface="Times New Roman" panose="02020603050405020304" pitchFamily="18" charset="0"/>
                <a:cs typeface="Times New Roman" panose="02020603050405020304" pitchFamily="18" charset="0"/>
              </a:rPr>
              <a:t>Example:</a:t>
            </a:r>
            <a:r>
              <a:rPr lang="en-IN" sz="2000" b="0" i="0" dirty="0">
                <a:solidFill>
                  <a:srgbClr val="333333"/>
                </a:solidFill>
                <a:effectLst/>
                <a:latin typeface="Times New Roman" panose="02020603050405020304" pitchFamily="18" charset="0"/>
                <a:cs typeface="Times New Roman" panose="02020603050405020304" pitchFamily="18" charset="0"/>
              </a:rPr>
              <a:t> AWS Elastic Beanstalk, Windows Azure, Heroku, Force.com, Google App Engine, Apache Stratos, Magento Commerce Cloud, and OpenShift.</a:t>
            </a:r>
          </a:p>
          <a:p>
            <a:endParaRPr lang="en-IN" dirty="0"/>
          </a:p>
        </p:txBody>
      </p:sp>
    </p:spTree>
    <p:extLst>
      <p:ext uri="{BB962C8B-B14F-4D97-AF65-F5344CB8AC3E}">
        <p14:creationId xmlns:p14="http://schemas.microsoft.com/office/powerpoint/2010/main" val="761776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90876-92E6-425B-B570-DE4075108394}"/>
              </a:ext>
            </a:extLst>
          </p:cNvPr>
          <p:cNvSpPr>
            <a:spLocks noGrp="1"/>
          </p:cNvSpPr>
          <p:nvPr>
            <p:ph type="title"/>
          </p:nvPr>
        </p:nvSpPr>
        <p:spPr>
          <a:xfrm>
            <a:off x="1669775" y="159026"/>
            <a:ext cx="9834838" cy="787752"/>
          </a:xfrm>
        </p:spPr>
        <p:txBody>
          <a:bodyPr>
            <a:normAutofit fontScale="90000"/>
          </a:bodyPr>
          <a:lstStyle/>
          <a:p>
            <a:pPr algn="ctr"/>
            <a:r>
              <a:rPr lang="en-IN" sz="4400" b="1" i="0" dirty="0">
                <a:solidFill>
                  <a:srgbClr val="610B38"/>
                </a:solidFill>
                <a:effectLst/>
                <a:latin typeface="Times New Roman" panose="02020603050405020304" pitchFamily="18" charset="0"/>
                <a:cs typeface="Times New Roman" panose="02020603050405020304" pitchFamily="18" charset="0"/>
              </a:rPr>
              <a:t>Software as a Service (SaaS)</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4B4BAB8D-4825-46D8-BD64-307A4562CA48}"/>
              </a:ext>
            </a:extLst>
          </p:cNvPr>
          <p:cNvSpPr>
            <a:spLocks noGrp="1"/>
          </p:cNvSpPr>
          <p:nvPr>
            <p:ph idx="1"/>
          </p:nvPr>
        </p:nvSpPr>
        <p:spPr>
          <a:xfrm>
            <a:off x="1126435" y="946778"/>
            <a:ext cx="10378177" cy="4964444"/>
          </a:xfrm>
        </p:spPr>
        <p:txBody>
          <a:bodyPr>
            <a:normAutofit/>
          </a:bodyPr>
          <a:lstStyle/>
          <a:p>
            <a:pPr algn="just"/>
            <a:r>
              <a:rPr lang="en-IN" b="0" i="0" dirty="0">
                <a:solidFill>
                  <a:srgbClr val="333333"/>
                </a:solidFill>
                <a:effectLst/>
                <a:latin typeface="inter-regular"/>
              </a:rPr>
              <a:t>SaaS is also known as "</a:t>
            </a:r>
            <a:r>
              <a:rPr lang="en-IN" b="1" i="0" dirty="0">
                <a:solidFill>
                  <a:srgbClr val="333333"/>
                </a:solidFill>
                <a:effectLst/>
                <a:latin typeface="inter-bold"/>
              </a:rPr>
              <a:t>on-demand software</a:t>
            </a:r>
            <a:r>
              <a:rPr lang="en-IN" b="0" i="0" dirty="0">
                <a:solidFill>
                  <a:srgbClr val="333333"/>
                </a:solidFill>
                <a:effectLst/>
                <a:latin typeface="inter-regular"/>
              </a:rPr>
              <a:t>". It is a software in which the applications are hosted by a cloud service provider. Users can access these applications with the help of internet connection and web browser.</a:t>
            </a:r>
          </a:p>
          <a:p>
            <a:pPr marL="0" indent="0" algn="just">
              <a:buNone/>
            </a:pPr>
            <a:endParaRPr lang="en-IN" b="0" i="0" dirty="0">
              <a:solidFill>
                <a:srgbClr val="333333"/>
              </a:solidFill>
              <a:effectLst/>
              <a:latin typeface="inter-regular"/>
            </a:endParaRPr>
          </a:p>
          <a:p>
            <a:pPr algn="just"/>
            <a:r>
              <a:rPr lang="en-IN" b="0" i="0" dirty="0">
                <a:solidFill>
                  <a:srgbClr val="610B4B"/>
                </a:solidFill>
                <a:effectLst/>
                <a:latin typeface="erdana"/>
              </a:rPr>
              <a:t>Characteristics of SaaS</a:t>
            </a:r>
          </a:p>
          <a:p>
            <a:pPr algn="just">
              <a:buFont typeface="Arial" panose="020B0604020202020204" pitchFamily="34" charset="0"/>
              <a:buChar char="•"/>
            </a:pPr>
            <a:r>
              <a:rPr lang="en-IN" b="0" i="0" dirty="0">
                <a:solidFill>
                  <a:srgbClr val="000000"/>
                </a:solidFill>
                <a:effectLst/>
                <a:latin typeface="inter-regular"/>
              </a:rPr>
              <a:t>Managed from a central location.</a:t>
            </a:r>
          </a:p>
          <a:p>
            <a:pPr algn="just">
              <a:buFont typeface="Arial" panose="020B0604020202020204" pitchFamily="34" charset="0"/>
              <a:buChar char="•"/>
            </a:pPr>
            <a:r>
              <a:rPr lang="en-IN" b="0" i="0" dirty="0">
                <a:solidFill>
                  <a:srgbClr val="000000"/>
                </a:solidFill>
                <a:effectLst/>
                <a:latin typeface="inter-regular"/>
              </a:rPr>
              <a:t>Hosted on a remote server.</a:t>
            </a:r>
          </a:p>
          <a:p>
            <a:pPr algn="just">
              <a:buFont typeface="Arial" panose="020B0604020202020204" pitchFamily="34" charset="0"/>
              <a:buChar char="•"/>
            </a:pPr>
            <a:r>
              <a:rPr lang="en-IN" b="0" i="0" dirty="0">
                <a:solidFill>
                  <a:srgbClr val="000000"/>
                </a:solidFill>
                <a:effectLst/>
                <a:latin typeface="inter-regular"/>
              </a:rPr>
              <a:t>Accessible over the internet.</a:t>
            </a:r>
          </a:p>
          <a:p>
            <a:pPr algn="just">
              <a:buFont typeface="Arial" panose="020B0604020202020204" pitchFamily="34" charset="0"/>
              <a:buChar char="•"/>
            </a:pPr>
            <a:r>
              <a:rPr lang="en-IN" b="0" i="0" dirty="0">
                <a:solidFill>
                  <a:srgbClr val="000000"/>
                </a:solidFill>
                <a:effectLst/>
                <a:latin typeface="inter-regular"/>
              </a:rPr>
              <a:t>Users are not responsible for hardware and software updates. Updates are applied automatically.</a:t>
            </a:r>
          </a:p>
          <a:p>
            <a:pPr algn="just">
              <a:buFont typeface="Arial" panose="020B0604020202020204" pitchFamily="34" charset="0"/>
              <a:buChar char="•"/>
            </a:pPr>
            <a:r>
              <a:rPr lang="en-IN" b="0" i="0" dirty="0">
                <a:solidFill>
                  <a:srgbClr val="000000"/>
                </a:solidFill>
                <a:effectLst/>
                <a:latin typeface="inter-regular"/>
              </a:rPr>
              <a:t>The services are purchased on the pay-as-per-use basis.</a:t>
            </a:r>
          </a:p>
          <a:p>
            <a:pPr marL="0" indent="0" algn="just">
              <a:buNone/>
            </a:pPr>
            <a:endParaRPr lang="en-IN" b="0" i="0" dirty="0">
              <a:solidFill>
                <a:srgbClr val="000000"/>
              </a:solidFill>
              <a:effectLst/>
              <a:latin typeface="inter-regular"/>
            </a:endParaRPr>
          </a:p>
          <a:p>
            <a:pPr algn="just"/>
            <a:r>
              <a:rPr lang="en-IN" b="1" i="0" dirty="0">
                <a:solidFill>
                  <a:srgbClr val="333333"/>
                </a:solidFill>
                <a:effectLst/>
                <a:latin typeface="inter-bold"/>
              </a:rPr>
              <a:t>Example:</a:t>
            </a:r>
            <a:r>
              <a:rPr lang="en-IN" b="0" i="0" dirty="0">
                <a:solidFill>
                  <a:srgbClr val="333333"/>
                </a:solidFill>
                <a:effectLst/>
                <a:latin typeface="inter-regular"/>
              </a:rPr>
              <a:t> BigCommerce, Google Apps, Salesforce, Dropbox, </a:t>
            </a:r>
            <a:r>
              <a:rPr lang="en-IN" b="0" i="0" dirty="0" err="1">
                <a:solidFill>
                  <a:srgbClr val="333333"/>
                </a:solidFill>
                <a:effectLst/>
                <a:latin typeface="inter-regular"/>
              </a:rPr>
              <a:t>ZenDesk</a:t>
            </a:r>
            <a:r>
              <a:rPr lang="en-IN" b="0" i="0" dirty="0">
                <a:solidFill>
                  <a:srgbClr val="333333"/>
                </a:solidFill>
                <a:effectLst/>
                <a:latin typeface="inter-regular"/>
              </a:rPr>
              <a:t>, Cisco WebEx, </a:t>
            </a:r>
            <a:r>
              <a:rPr lang="en-IN" b="0" i="0" dirty="0" err="1">
                <a:solidFill>
                  <a:srgbClr val="333333"/>
                </a:solidFill>
                <a:effectLst/>
                <a:latin typeface="inter-regular"/>
              </a:rPr>
              <a:t>ZenDesk</a:t>
            </a:r>
            <a:r>
              <a:rPr lang="en-IN" b="0" i="0" dirty="0">
                <a:solidFill>
                  <a:srgbClr val="333333"/>
                </a:solidFill>
                <a:effectLst/>
                <a:latin typeface="inter-regular"/>
              </a:rPr>
              <a:t>, Slack, and GoToMeeting.</a:t>
            </a:r>
          </a:p>
          <a:p>
            <a:endParaRPr lang="en-IN" dirty="0"/>
          </a:p>
        </p:txBody>
      </p:sp>
    </p:spTree>
    <p:extLst>
      <p:ext uri="{BB962C8B-B14F-4D97-AF65-F5344CB8AC3E}">
        <p14:creationId xmlns:p14="http://schemas.microsoft.com/office/powerpoint/2010/main" val="783409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A51DA-7405-46E3-BAF9-4CE197AD3C0B}"/>
              </a:ext>
            </a:extLst>
          </p:cNvPr>
          <p:cNvSpPr>
            <a:spLocks noGrp="1"/>
          </p:cNvSpPr>
          <p:nvPr>
            <p:ph type="title"/>
          </p:nvPr>
        </p:nvSpPr>
        <p:spPr>
          <a:xfrm>
            <a:off x="1431235" y="159026"/>
            <a:ext cx="10073377" cy="787752"/>
          </a:xfrm>
        </p:spPr>
        <p:txBody>
          <a:bodyPr>
            <a:normAutofit fontScale="90000"/>
          </a:bodyPr>
          <a:lstStyle/>
          <a:p>
            <a:pPr algn="ctr"/>
            <a:r>
              <a:rPr lang="en-IN" sz="4400" b="1" i="0" dirty="0">
                <a:solidFill>
                  <a:srgbClr val="610B38"/>
                </a:solidFill>
                <a:effectLst/>
                <a:latin typeface="Times New Roman" panose="02020603050405020304" pitchFamily="18" charset="0"/>
                <a:cs typeface="Times New Roman" panose="02020603050405020304" pitchFamily="18" charset="0"/>
              </a:rPr>
              <a:t>Difference between IaaS, PaaS, and SaaS</a:t>
            </a:r>
            <a:br>
              <a:rPr lang="en-IN" b="0" i="0" dirty="0">
                <a:solidFill>
                  <a:srgbClr val="610B38"/>
                </a:solidFill>
                <a:effectLst/>
                <a:latin typeface="erdana"/>
              </a:rPr>
            </a:br>
            <a:endParaRPr lang="en-IN" dirty="0"/>
          </a:p>
        </p:txBody>
      </p:sp>
      <p:pic>
        <p:nvPicPr>
          <p:cNvPr id="8" name="Content Placeholder 7">
            <a:extLst>
              <a:ext uri="{FF2B5EF4-FFF2-40B4-BE49-F238E27FC236}">
                <a16:creationId xmlns:a16="http://schemas.microsoft.com/office/drawing/2014/main" id="{C6639801-B7A1-438F-9D7E-0F137BF8DB0D}"/>
              </a:ext>
            </a:extLst>
          </p:cNvPr>
          <p:cNvPicPr>
            <a:picLocks noGrp="1" noChangeAspect="1"/>
          </p:cNvPicPr>
          <p:nvPr>
            <p:ph idx="1"/>
          </p:nvPr>
        </p:nvPicPr>
        <p:blipFill>
          <a:blip r:embed="rId2"/>
          <a:stretch>
            <a:fillRect/>
          </a:stretch>
        </p:blipFill>
        <p:spPr>
          <a:xfrm>
            <a:off x="1431235" y="1258957"/>
            <a:ext cx="10217426" cy="5440017"/>
          </a:xfrm>
        </p:spPr>
      </p:pic>
    </p:spTree>
    <p:extLst>
      <p:ext uri="{BB962C8B-B14F-4D97-AF65-F5344CB8AC3E}">
        <p14:creationId xmlns:p14="http://schemas.microsoft.com/office/powerpoint/2010/main" val="1028683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5625-DE3F-4A5E-A21E-FB7F6A1D85BF}"/>
              </a:ext>
            </a:extLst>
          </p:cNvPr>
          <p:cNvSpPr>
            <a:spLocks noGrp="1"/>
          </p:cNvSpPr>
          <p:nvPr>
            <p:ph type="title"/>
          </p:nvPr>
        </p:nvSpPr>
        <p:spPr>
          <a:xfrm>
            <a:off x="424070" y="624110"/>
            <a:ext cx="11343859" cy="913142"/>
          </a:xfrm>
        </p:spPr>
        <p:txBody>
          <a:bodyPr/>
          <a:lstStyle/>
          <a:p>
            <a:pPr algn="ctr"/>
            <a:r>
              <a:rPr lang="en-IN" b="0" i="0" dirty="0">
                <a:solidFill>
                  <a:srgbClr val="610B38"/>
                </a:solidFill>
                <a:effectLst/>
                <a:latin typeface="erdana"/>
              </a:rPr>
              <a:t> </a:t>
            </a:r>
            <a:r>
              <a:rPr lang="en-IN" sz="4000" b="1" i="0" dirty="0">
                <a:solidFill>
                  <a:srgbClr val="610B38"/>
                </a:solidFill>
                <a:effectLst/>
                <a:latin typeface="Times New Roman" panose="02020603050405020304" pitchFamily="18" charset="0"/>
                <a:cs typeface="Times New Roman" panose="02020603050405020304" pitchFamily="18" charset="0"/>
              </a:rPr>
              <a:t>Cloud Deployment Models </a:t>
            </a:r>
            <a:endParaRPr lang="en-IN" sz="4000"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D2BD2CE3-B8A2-44B0-BD5E-C7A0B302A30F}"/>
              </a:ext>
            </a:extLst>
          </p:cNvPr>
          <p:cNvPicPr>
            <a:picLocks noGrp="1" noChangeAspect="1"/>
          </p:cNvPicPr>
          <p:nvPr>
            <p:ph idx="1"/>
          </p:nvPr>
        </p:nvPicPr>
        <p:blipFill>
          <a:blip r:embed="rId2"/>
          <a:stretch>
            <a:fillRect/>
          </a:stretch>
        </p:blipFill>
        <p:spPr>
          <a:xfrm>
            <a:off x="1934817" y="1537251"/>
            <a:ext cx="9183757" cy="4929809"/>
          </a:xfrm>
          <a:prstGeom prst="rect">
            <a:avLst/>
          </a:prstGeom>
        </p:spPr>
      </p:pic>
    </p:spTree>
    <p:extLst>
      <p:ext uri="{BB962C8B-B14F-4D97-AF65-F5344CB8AC3E}">
        <p14:creationId xmlns:p14="http://schemas.microsoft.com/office/powerpoint/2010/main" val="3629529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20B8F-C7FA-4275-972E-DF88A3DA4B37}"/>
              </a:ext>
            </a:extLst>
          </p:cNvPr>
          <p:cNvSpPr>
            <a:spLocks noGrp="1"/>
          </p:cNvSpPr>
          <p:nvPr>
            <p:ph type="title"/>
          </p:nvPr>
        </p:nvSpPr>
        <p:spPr>
          <a:xfrm>
            <a:off x="1643270" y="636103"/>
            <a:ext cx="9501808" cy="1083889"/>
          </a:xfrm>
        </p:spPr>
        <p:txBody>
          <a:bodyPr>
            <a:normAutofit/>
          </a:bodyPr>
          <a:lstStyle/>
          <a:p>
            <a:pPr algn="ctr"/>
            <a:r>
              <a:rPr lang="en-IN" sz="4000" b="1" i="0" dirty="0">
                <a:solidFill>
                  <a:srgbClr val="610B38"/>
                </a:solidFill>
                <a:effectLst/>
                <a:latin typeface="Times New Roman" panose="02020603050405020304" pitchFamily="18" charset="0"/>
                <a:cs typeface="Times New Roman" panose="02020603050405020304" pitchFamily="18" charset="0"/>
              </a:rPr>
              <a:t>Public Cloud</a:t>
            </a:r>
            <a:br>
              <a:rPr lang="en-IN" b="0" i="0" dirty="0">
                <a:solidFill>
                  <a:srgbClr val="610B38"/>
                </a:solidFill>
                <a:effectLst/>
                <a:latin typeface="erdana"/>
              </a:rPr>
            </a:br>
            <a:endParaRPr lang="en-IN" dirty="0"/>
          </a:p>
        </p:txBody>
      </p:sp>
      <p:pic>
        <p:nvPicPr>
          <p:cNvPr id="5" name="Content Placeholder 4">
            <a:extLst>
              <a:ext uri="{FF2B5EF4-FFF2-40B4-BE49-F238E27FC236}">
                <a16:creationId xmlns:a16="http://schemas.microsoft.com/office/drawing/2014/main" id="{98886D8E-388F-4E5B-A557-CCDC69909EAC}"/>
              </a:ext>
            </a:extLst>
          </p:cNvPr>
          <p:cNvPicPr>
            <a:picLocks noGrp="1" noChangeAspect="1"/>
          </p:cNvPicPr>
          <p:nvPr>
            <p:ph idx="1"/>
          </p:nvPr>
        </p:nvPicPr>
        <p:blipFill>
          <a:blip r:embed="rId2"/>
          <a:stretch>
            <a:fillRect/>
          </a:stretch>
        </p:blipFill>
        <p:spPr>
          <a:xfrm>
            <a:off x="6323013" y="1719993"/>
            <a:ext cx="5590828" cy="3700146"/>
          </a:xfrm>
          <a:prstGeom prst="rect">
            <a:avLst/>
          </a:prstGeom>
        </p:spPr>
      </p:pic>
      <p:sp>
        <p:nvSpPr>
          <p:cNvPr id="4" name="Text Placeholder 3">
            <a:extLst>
              <a:ext uri="{FF2B5EF4-FFF2-40B4-BE49-F238E27FC236}">
                <a16:creationId xmlns:a16="http://schemas.microsoft.com/office/drawing/2014/main" id="{09C2334E-A852-459F-BF21-3219CED05629}"/>
              </a:ext>
            </a:extLst>
          </p:cNvPr>
          <p:cNvSpPr>
            <a:spLocks noGrp="1"/>
          </p:cNvSpPr>
          <p:nvPr>
            <p:ph type="body" sz="half" idx="2"/>
          </p:nvPr>
        </p:nvSpPr>
        <p:spPr>
          <a:xfrm>
            <a:off x="503584" y="1598612"/>
            <a:ext cx="5590828" cy="5000971"/>
          </a:xfrm>
        </p:spPr>
        <p:txBody>
          <a:bodyPr/>
          <a:lstStyle/>
          <a:p>
            <a:pPr marL="342900" indent="-342900" algn="just">
              <a:buFont typeface="Courier New" panose="02070309020205020404" pitchFamily="49" charset="0"/>
              <a:buChar char="o"/>
            </a:pPr>
            <a:r>
              <a:rPr lang="en-IN" sz="2000" b="0" i="0" dirty="0">
                <a:solidFill>
                  <a:srgbClr val="333333"/>
                </a:solidFill>
                <a:effectLst/>
                <a:latin typeface="Times New Roman" panose="02020603050405020304" pitchFamily="18" charset="0"/>
                <a:cs typeface="Times New Roman" panose="02020603050405020304" pitchFamily="18" charset="0"/>
              </a:rPr>
              <a:t>Public cloud is </a:t>
            </a:r>
            <a:r>
              <a:rPr lang="en-IN" sz="2000" b="1" i="0" dirty="0">
                <a:solidFill>
                  <a:srgbClr val="333333"/>
                </a:solidFill>
                <a:effectLst/>
                <a:latin typeface="Times New Roman" panose="02020603050405020304" pitchFamily="18" charset="0"/>
                <a:cs typeface="Times New Roman" panose="02020603050405020304" pitchFamily="18" charset="0"/>
              </a:rPr>
              <a:t>open to all</a:t>
            </a:r>
            <a:r>
              <a:rPr lang="en-IN" sz="2000" b="0" i="0" dirty="0">
                <a:solidFill>
                  <a:srgbClr val="333333"/>
                </a:solidFill>
                <a:effectLst/>
                <a:latin typeface="Times New Roman" panose="02020603050405020304" pitchFamily="18" charset="0"/>
                <a:cs typeface="Times New Roman" panose="02020603050405020304" pitchFamily="18" charset="0"/>
              </a:rPr>
              <a:t> to store and access information via the Internet using the pay-per-usage method.</a:t>
            </a:r>
          </a:p>
          <a:p>
            <a:pPr marL="342900" indent="-342900" algn="just">
              <a:buFont typeface="Courier New" panose="02070309020205020404" pitchFamily="49" charset="0"/>
              <a:buChar char="o"/>
            </a:pPr>
            <a:endParaRPr lang="en-IN" sz="2000" b="0" i="0" dirty="0">
              <a:solidFill>
                <a:srgbClr val="333333"/>
              </a:solidFill>
              <a:effectLst/>
              <a:latin typeface="Times New Roman" panose="02020603050405020304" pitchFamily="18" charset="0"/>
              <a:cs typeface="Times New Roman" panose="02020603050405020304" pitchFamily="18" charset="0"/>
            </a:endParaRPr>
          </a:p>
          <a:p>
            <a:pPr marL="342900" indent="-342900" algn="just">
              <a:buFont typeface="Courier New" panose="02070309020205020404" pitchFamily="49" charset="0"/>
              <a:buChar char="o"/>
            </a:pPr>
            <a:r>
              <a:rPr lang="en-IN" sz="2000" b="0" i="0" dirty="0">
                <a:solidFill>
                  <a:srgbClr val="333333"/>
                </a:solidFill>
                <a:effectLst/>
                <a:latin typeface="Times New Roman" panose="02020603050405020304" pitchFamily="18" charset="0"/>
                <a:cs typeface="Times New Roman" panose="02020603050405020304" pitchFamily="18" charset="0"/>
              </a:rPr>
              <a:t>In public cloud, computing resources are managed and operated by the Cloud Service Provider (CSP).</a:t>
            </a:r>
          </a:p>
          <a:p>
            <a:pPr algn="just"/>
            <a:endParaRPr lang="en-IN" sz="2000" b="1" i="0" dirty="0">
              <a:solidFill>
                <a:srgbClr val="333333"/>
              </a:solidFill>
              <a:effectLst/>
              <a:latin typeface="Times New Roman" panose="02020603050405020304" pitchFamily="18" charset="0"/>
              <a:cs typeface="Times New Roman" panose="02020603050405020304" pitchFamily="18" charset="0"/>
            </a:endParaRPr>
          </a:p>
          <a:p>
            <a:pPr algn="just"/>
            <a:r>
              <a:rPr lang="en-IN" sz="2000" b="1" i="0" dirty="0">
                <a:solidFill>
                  <a:srgbClr val="333333"/>
                </a:solidFill>
                <a:effectLst/>
                <a:latin typeface="Times New Roman" panose="02020603050405020304" pitchFamily="18" charset="0"/>
                <a:cs typeface="Times New Roman" panose="02020603050405020304" pitchFamily="18" charset="0"/>
              </a:rPr>
              <a:t>Example:</a:t>
            </a:r>
            <a:r>
              <a:rPr lang="en-IN" sz="2000" b="0" i="0" dirty="0">
                <a:solidFill>
                  <a:srgbClr val="333333"/>
                </a:solidFill>
                <a:effectLst/>
                <a:latin typeface="Times New Roman" panose="02020603050405020304" pitchFamily="18" charset="0"/>
                <a:cs typeface="Times New Roman" panose="02020603050405020304" pitchFamily="18" charset="0"/>
              </a:rPr>
              <a:t> Amazon elastic compute cloud (EC2), IBM Smart Cloud Enterprise, Microsoft, Google App Engine, Windows Azure Services Platform.</a:t>
            </a:r>
          </a:p>
          <a:p>
            <a:br>
              <a:rPr lang="en-IN" dirty="0"/>
            </a:br>
            <a:endParaRPr lang="en-IN" dirty="0"/>
          </a:p>
        </p:txBody>
      </p:sp>
    </p:spTree>
    <p:extLst>
      <p:ext uri="{BB962C8B-B14F-4D97-AF65-F5344CB8AC3E}">
        <p14:creationId xmlns:p14="http://schemas.microsoft.com/office/powerpoint/2010/main" val="2774266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330743-95CF-44AF-808C-6AD1FEBCDF9A}"/>
              </a:ext>
            </a:extLst>
          </p:cNvPr>
          <p:cNvSpPr>
            <a:spLocks noGrp="1"/>
          </p:cNvSpPr>
          <p:nvPr>
            <p:ph sz="half" idx="1"/>
          </p:nvPr>
        </p:nvSpPr>
        <p:spPr>
          <a:xfrm>
            <a:off x="357810" y="1537252"/>
            <a:ext cx="6202016" cy="5168346"/>
          </a:xfrm>
        </p:spPr>
        <p:txBody>
          <a:bodyPr>
            <a:normAutofit fontScale="92500" lnSpcReduction="10000"/>
          </a:bodyPr>
          <a:lstStyle/>
          <a:p>
            <a:pPr algn="just"/>
            <a:r>
              <a:rPr lang="en-IN" sz="2200" b="0" i="0" dirty="0">
                <a:solidFill>
                  <a:srgbClr val="610B4B"/>
                </a:solidFill>
                <a:effectLst/>
                <a:latin typeface="Times New Roman" panose="02020603050405020304" pitchFamily="18" charset="0"/>
                <a:cs typeface="Times New Roman" panose="02020603050405020304" pitchFamily="18" charset="0"/>
              </a:rPr>
              <a:t>Advantages of Public Cloud</a:t>
            </a:r>
          </a:p>
          <a:p>
            <a:pPr marL="0" indent="0" algn="just">
              <a:buNone/>
            </a:pPr>
            <a:endParaRPr lang="en-IN" sz="2200" b="0" i="0" dirty="0">
              <a:solidFill>
                <a:srgbClr val="333333"/>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dirty="0">
                <a:solidFill>
                  <a:srgbClr val="000000"/>
                </a:solidFill>
                <a:effectLst/>
                <a:latin typeface="Times New Roman" panose="02020603050405020304" pitchFamily="18" charset="0"/>
                <a:cs typeface="Times New Roman" panose="02020603050405020304" pitchFamily="18" charset="0"/>
              </a:rPr>
              <a:t>Public cloud is owned at a lower cost than the private and hybrid cloud.</a:t>
            </a:r>
          </a:p>
          <a:p>
            <a:pPr algn="just">
              <a:buFont typeface="Arial" panose="020B0604020202020204" pitchFamily="34" charset="0"/>
              <a:buChar char="•"/>
            </a:pPr>
            <a:r>
              <a:rPr lang="en-IN" sz="2200" b="0" i="0" dirty="0">
                <a:solidFill>
                  <a:srgbClr val="000000"/>
                </a:solidFill>
                <a:effectLst/>
                <a:latin typeface="Times New Roman" panose="02020603050405020304" pitchFamily="18" charset="0"/>
                <a:cs typeface="Times New Roman" panose="02020603050405020304" pitchFamily="18" charset="0"/>
              </a:rPr>
              <a:t>Public cloud is maintained by the cloud service provider, so do not need to worry about the maintenance.</a:t>
            </a:r>
          </a:p>
          <a:p>
            <a:pPr algn="just">
              <a:buFont typeface="Arial" panose="020B0604020202020204" pitchFamily="34" charset="0"/>
              <a:buChar char="•"/>
            </a:pPr>
            <a:r>
              <a:rPr lang="en-IN" sz="2200" b="0" i="0" dirty="0">
                <a:solidFill>
                  <a:srgbClr val="000000"/>
                </a:solidFill>
                <a:effectLst/>
                <a:latin typeface="Times New Roman" panose="02020603050405020304" pitchFamily="18" charset="0"/>
                <a:cs typeface="Times New Roman" panose="02020603050405020304" pitchFamily="18" charset="0"/>
              </a:rPr>
              <a:t>Public cloud is easier to integrate. Hence it offers a better flexibility approach to consumers.</a:t>
            </a:r>
          </a:p>
          <a:p>
            <a:pPr algn="just">
              <a:buFont typeface="Arial" panose="020B0604020202020204" pitchFamily="34" charset="0"/>
              <a:buChar char="•"/>
            </a:pPr>
            <a:r>
              <a:rPr lang="en-IN" sz="2200" b="0" i="0" dirty="0">
                <a:solidFill>
                  <a:srgbClr val="000000"/>
                </a:solidFill>
                <a:effectLst/>
                <a:latin typeface="Times New Roman" panose="02020603050405020304" pitchFamily="18" charset="0"/>
                <a:cs typeface="Times New Roman" panose="02020603050405020304" pitchFamily="18" charset="0"/>
              </a:rPr>
              <a:t>Public cloud is location independent because its services are delivered through the internet.</a:t>
            </a:r>
          </a:p>
          <a:p>
            <a:pPr algn="just">
              <a:buFont typeface="Arial" panose="020B0604020202020204" pitchFamily="34" charset="0"/>
              <a:buChar char="•"/>
            </a:pPr>
            <a:r>
              <a:rPr lang="en-IN" sz="2200" b="0" i="0" dirty="0">
                <a:solidFill>
                  <a:srgbClr val="000000"/>
                </a:solidFill>
                <a:effectLst/>
                <a:latin typeface="Times New Roman" panose="02020603050405020304" pitchFamily="18" charset="0"/>
                <a:cs typeface="Times New Roman" panose="02020603050405020304" pitchFamily="18" charset="0"/>
              </a:rPr>
              <a:t>Public cloud is highly scalable as per the requirement of computing resources.</a:t>
            </a:r>
          </a:p>
          <a:p>
            <a:pPr algn="just">
              <a:buFont typeface="Arial" panose="020B0604020202020204" pitchFamily="34" charset="0"/>
              <a:buChar char="•"/>
            </a:pPr>
            <a:r>
              <a:rPr lang="en-IN" sz="2200" b="0" i="0" dirty="0">
                <a:solidFill>
                  <a:srgbClr val="000000"/>
                </a:solidFill>
                <a:effectLst/>
                <a:latin typeface="Times New Roman" panose="02020603050405020304" pitchFamily="18" charset="0"/>
                <a:cs typeface="Times New Roman" panose="02020603050405020304" pitchFamily="18" charset="0"/>
              </a:rPr>
              <a:t>It is accessible by the general public, so there is no limit to the number of users.</a:t>
            </a:r>
          </a:p>
          <a:p>
            <a:endParaRPr lang="en-IN" dirty="0"/>
          </a:p>
        </p:txBody>
      </p:sp>
      <p:sp>
        <p:nvSpPr>
          <p:cNvPr id="4" name="Content Placeholder 3">
            <a:extLst>
              <a:ext uri="{FF2B5EF4-FFF2-40B4-BE49-F238E27FC236}">
                <a16:creationId xmlns:a16="http://schemas.microsoft.com/office/drawing/2014/main" id="{3C645306-76F0-44B1-94D7-E74564E41F66}"/>
              </a:ext>
            </a:extLst>
          </p:cNvPr>
          <p:cNvSpPr>
            <a:spLocks noGrp="1"/>
          </p:cNvSpPr>
          <p:nvPr>
            <p:ph sz="half" idx="2"/>
          </p:nvPr>
        </p:nvSpPr>
        <p:spPr>
          <a:xfrm>
            <a:off x="6957392" y="1537253"/>
            <a:ext cx="5049078" cy="5168346"/>
          </a:xfrm>
        </p:spPr>
        <p:txBody>
          <a:bodyPr>
            <a:normAutofit fontScale="92500" lnSpcReduction="10000"/>
          </a:bodyPr>
          <a:lstStyle/>
          <a:p>
            <a:pPr algn="just"/>
            <a:r>
              <a:rPr lang="en-IN" sz="2200" b="0" i="0" dirty="0">
                <a:solidFill>
                  <a:srgbClr val="610B4B"/>
                </a:solidFill>
                <a:effectLst/>
                <a:latin typeface="Times New Roman" panose="02020603050405020304" pitchFamily="18" charset="0"/>
                <a:cs typeface="Times New Roman" panose="02020603050405020304" pitchFamily="18" charset="0"/>
              </a:rPr>
              <a:t>Disadvantages of Public Cloud</a:t>
            </a:r>
          </a:p>
          <a:p>
            <a:pPr marL="0" indent="0" algn="just">
              <a:buNone/>
            </a:pPr>
            <a:endParaRPr lang="en-IN" sz="2200" b="0" i="0" dirty="0">
              <a:solidFill>
                <a:srgbClr val="610B4B"/>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200" b="0" i="0" dirty="0">
                <a:solidFill>
                  <a:srgbClr val="000000"/>
                </a:solidFill>
                <a:effectLst/>
                <a:latin typeface="Times New Roman" panose="02020603050405020304" pitchFamily="18" charset="0"/>
                <a:cs typeface="Times New Roman" panose="02020603050405020304" pitchFamily="18" charset="0"/>
              </a:rPr>
              <a:t>Public Cloud is less secure because resources are shared publicly.</a:t>
            </a:r>
          </a:p>
          <a:p>
            <a:pPr algn="just">
              <a:buFont typeface="Arial" panose="020B0604020202020204" pitchFamily="34" charset="0"/>
              <a:buChar char="•"/>
            </a:pPr>
            <a:r>
              <a:rPr lang="en-IN" sz="2200" b="0" i="0" dirty="0">
                <a:solidFill>
                  <a:srgbClr val="000000"/>
                </a:solidFill>
                <a:effectLst/>
                <a:latin typeface="Times New Roman" panose="02020603050405020304" pitchFamily="18" charset="0"/>
                <a:cs typeface="Times New Roman" panose="02020603050405020304" pitchFamily="18" charset="0"/>
              </a:rPr>
              <a:t>Performance depends upon the high-speed internet network link to the cloud provider.</a:t>
            </a:r>
          </a:p>
          <a:p>
            <a:pPr algn="just">
              <a:buFont typeface="Arial" panose="020B0604020202020204" pitchFamily="34" charset="0"/>
              <a:buChar char="•"/>
            </a:pPr>
            <a:r>
              <a:rPr lang="en-IN" sz="2200" b="0" i="0" dirty="0">
                <a:solidFill>
                  <a:srgbClr val="000000"/>
                </a:solidFill>
                <a:effectLst/>
                <a:latin typeface="Times New Roman" panose="02020603050405020304" pitchFamily="18" charset="0"/>
                <a:cs typeface="Times New Roman" panose="02020603050405020304" pitchFamily="18" charset="0"/>
              </a:rPr>
              <a:t>The Client has no control of data.</a:t>
            </a:r>
          </a:p>
          <a:p>
            <a:endParaRPr lang="en-IN" dirty="0"/>
          </a:p>
        </p:txBody>
      </p:sp>
      <p:sp>
        <p:nvSpPr>
          <p:cNvPr id="6" name="TextBox 5">
            <a:extLst>
              <a:ext uri="{FF2B5EF4-FFF2-40B4-BE49-F238E27FC236}">
                <a16:creationId xmlns:a16="http://schemas.microsoft.com/office/drawing/2014/main" id="{F41B124B-49C3-4B06-AA23-D2F637AA6B3B}"/>
              </a:ext>
            </a:extLst>
          </p:cNvPr>
          <p:cNvSpPr txBox="1"/>
          <p:nvPr/>
        </p:nvSpPr>
        <p:spPr>
          <a:xfrm>
            <a:off x="1669774" y="504447"/>
            <a:ext cx="9978887" cy="707886"/>
          </a:xfrm>
          <a:prstGeom prst="rect">
            <a:avLst/>
          </a:prstGeom>
          <a:noFill/>
        </p:spPr>
        <p:txBody>
          <a:bodyPr wrap="square">
            <a:spAutoFit/>
          </a:bodyPr>
          <a:lstStyle/>
          <a:p>
            <a:r>
              <a:rPr kumimoji="0" lang="en-IN" sz="4000" b="0" i="0" u="none" strike="noStrike" kern="1200" cap="none" spc="0" normalizeH="0" baseline="0" noProof="0" dirty="0">
                <a:ln>
                  <a:noFill/>
                </a:ln>
                <a:solidFill>
                  <a:srgbClr val="610B4B"/>
                </a:solidFill>
                <a:effectLst/>
                <a:uLnTx/>
                <a:uFillTx/>
                <a:latin typeface="Times New Roman" panose="02020603050405020304" pitchFamily="18" charset="0"/>
                <a:ea typeface="+mj-ea"/>
                <a:cs typeface="Times New Roman" panose="02020603050405020304" pitchFamily="18" charset="0"/>
              </a:rPr>
              <a:t>Advantages &amp; Disadvantages of Public cloud</a:t>
            </a:r>
            <a:endParaRPr lang="en-IN" dirty="0"/>
          </a:p>
        </p:txBody>
      </p:sp>
    </p:spTree>
    <p:extLst>
      <p:ext uri="{BB962C8B-B14F-4D97-AF65-F5344CB8AC3E}">
        <p14:creationId xmlns:p14="http://schemas.microsoft.com/office/powerpoint/2010/main" val="3538181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B079D-923D-46C6-B859-0B233FDDD525}"/>
              </a:ext>
            </a:extLst>
          </p:cNvPr>
          <p:cNvSpPr>
            <a:spLocks noGrp="1"/>
          </p:cNvSpPr>
          <p:nvPr>
            <p:ph type="title"/>
          </p:nvPr>
        </p:nvSpPr>
        <p:spPr>
          <a:xfrm>
            <a:off x="2589212" y="446088"/>
            <a:ext cx="8449849" cy="976312"/>
          </a:xfrm>
        </p:spPr>
        <p:txBody>
          <a:bodyPr>
            <a:normAutofit fontScale="90000"/>
          </a:bodyPr>
          <a:lstStyle/>
          <a:p>
            <a:pPr algn="ctr"/>
            <a:r>
              <a:rPr lang="en-IN" sz="4400" b="1" i="0" dirty="0">
                <a:solidFill>
                  <a:srgbClr val="610B38"/>
                </a:solidFill>
                <a:effectLst/>
                <a:latin typeface="Times New Roman" panose="02020603050405020304" pitchFamily="18" charset="0"/>
                <a:cs typeface="Times New Roman" panose="02020603050405020304" pitchFamily="18" charset="0"/>
              </a:rPr>
              <a:t>Private Cloud</a:t>
            </a:r>
            <a:br>
              <a:rPr lang="en-IN" b="0" i="0" dirty="0">
                <a:solidFill>
                  <a:srgbClr val="610B38"/>
                </a:solidFill>
                <a:effectLst/>
                <a:latin typeface="erdana"/>
              </a:rPr>
            </a:br>
            <a:endParaRPr lang="en-IN" dirty="0"/>
          </a:p>
        </p:txBody>
      </p:sp>
      <p:pic>
        <p:nvPicPr>
          <p:cNvPr id="5" name="Content Placeholder 4">
            <a:extLst>
              <a:ext uri="{FF2B5EF4-FFF2-40B4-BE49-F238E27FC236}">
                <a16:creationId xmlns:a16="http://schemas.microsoft.com/office/drawing/2014/main" id="{80E42580-DFBF-464D-A44E-B4CC3DEEBC83}"/>
              </a:ext>
            </a:extLst>
          </p:cNvPr>
          <p:cNvPicPr>
            <a:picLocks noGrp="1" noChangeAspect="1"/>
          </p:cNvPicPr>
          <p:nvPr>
            <p:ph idx="1"/>
          </p:nvPr>
        </p:nvPicPr>
        <p:blipFill>
          <a:blip r:embed="rId2"/>
          <a:stretch>
            <a:fillRect/>
          </a:stretch>
        </p:blipFill>
        <p:spPr>
          <a:xfrm>
            <a:off x="6532563" y="1248568"/>
            <a:ext cx="5407646" cy="4542631"/>
          </a:xfrm>
          <a:prstGeom prst="rect">
            <a:avLst/>
          </a:prstGeom>
        </p:spPr>
      </p:pic>
      <p:sp>
        <p:nvSpPr>
          <p:cNvPr id="4" name="Text Placeholder 3">
            <a:extLst>
              <a:ext uri="{FF2B5EF4-FFF2-40B4-BE49-F238E27FC236}">
                <a16:creationId xmlns:a16="http://schemas.microsoft.com/office/drawing/2014/main" id="{E0616617-BBA4-48D9-8E6D-2C5B6A11C3E9}"/>
              </a:ext>
            </a:extLst>
          </p:cNvPr>
          <p:cNvSpPr>
            <a:spLocks noGrp="1"/>
          </p:cNvSpPr>
          <p:nvPr>
            <p:ph type="body" sz="half" idx="2"/>
          </p:nvPr>
        </p:nvSpPr>
        <p:spPr>
          <a:xfrm>
            <a:off x="384314" y="1598612"/>
            <a:ext cx="5710098" cy="5106987"/>
          </a:xfrm>
        </p:spPr>
        <p:txBody>
          <a:bodyPr/>
          <a:lstStyle/>
          <a:p>
            <a:pPr marL="342900" indent="-342900" algn="just">
              <a:buFont typeface="Courier New" panose="02070309020205020404" pitchFamily="49" charset="0"/>
              <a:buChar char="o"/>
            </a:pPr>
            <a:r>
              <a:rPr lang="en-IN" sz="2000" b="0" i="0" dirty="0">
                <a:solidFill>
                  <a:srgbClr val="333333"/>
                </a:solidFill>
                <a:effectLst/>
                <a:latin typeface="Times New Roman" panose="02020603050405020304" pitchFamily="18" charset="0"/>
                <a:cs typeface="Times New Roman" panose="02020603050405020304" pitchFamily="18" charset="0"/>
              </a:rPr>
              <a:t>Private cloud is also known as an </a:t>
            </a:r>
            <a:r>
              <a:rPr lang="en-IN" sz="2000" b="1" i="0" dirty="0">
                <a:solidFill>
                  <a:srgbClr val="333333"/>
                </a:solidFill>
                <a:effectLst/>
                <a:latin typeface="Times New Roman" panose="02020603050405020304" pitchFamily="18" charset="0"/>
                <a:cs typeface="Times New Roman" panose="02020603050405020304" pitchFamily="18" charset="0"/>
              </a:rPr>
              <a:t>internal cloud</a:t>
            </a:r>
            <a:r>
              <a:rPr lang="en-IN" sz="2000" b="0" i="0" dirty="0">
                <a:solidFill>
                  <a:srgbClr val="333333"/>
                </a:solidFill>
                <a:effectLst/>
                <a:latin typeface="Times New Roman" panose="02020603050405020304" pitchFamily="18" charset="0"/>
                <a:cs typeface="Times New Roman" panose="02020603050405020304" pitchFamily="18" charset="0"/>
              </a:rPr>
              <a:t> or </a:t>
            </a:r>
            <a:r>
              <a:rPr lang="en-IN" sz="2000" b="1" i="0" dirty="0">
                <a:solidFill>
                  <a:srgbClr val="333333"/>
                </a:solidFill>
                <a:effectLst/>
                <a:latin typeface="Times New Roman" panose="02020603050405020304" pitchFamily="18" charset="0"/>
                <a:cs typeface="Times New Roman" panose="02020603050405020304" pitchFamily="18" charset="0"/>
              </a:rPr>
              <a:t>corporate cloud</a:t>
            </a:r>
            <a:r>
              <a:rPr lang="en-IN" sz="2000" b="0" i="0" dirty="0">
                <a:solidFill>
                  <a:srgbClr val="333333"/>
                </a:solidFill>
                <a:effectLst/>
                <a:latin typeface="Times New Roman" panose="02020603050405020304" pitchFamily="18" charset="0"/>
                <a:cs typeface="Times New Roman" panose="02020603050405020304" pitchFamily="18" charset="0"/>
              </a:rPr>
              <a:t>. </a:t>
            </a:r>
          </a:p>
          <a:p>
            <a:pPr marL="342900" indent="-342900" algn="just">
              <a:buFont typeface="Courier New" panose="02070309020205020404" pitchFamily="49" charset="0"/>
              <a:buChar char="o"/>
            </a:pPr>
            <a:r>
              <a:rPr lang="en-IN" sz="2000" b="0" i="0" dirty="0">
                <a:solidFill>
                  <a:srgbClr val="333333"/>
                </a:solidFill>
                <a:effectLst/>
                <a:latin typeface="Times New Roman" panose="02020603050405020304" pitchFamily="18" charset="0"/>
                <a:cs typeface="Times New Roman" panose="02020603050405020304" pitchFamily="18" charset="0"/>
              </a:rPr>
              <a:t>It is used by organizations to build and manage their own data centres internally or by the third party. It can be deployed using Opensource tools such as Open stack and Eucalyptus.</a:t>
            </a:r>
          </a:p>
          <a:p>
            <a:pPr marL="342900" indent="-342900" algn="just">
              <a:buFont typeface="Courier New" panose="02070309020205020404" pitchFamily="49" charset="0"/>
              <a:buChar char="o"/>
            </a:pPr>
            <a:r>
              <a:rPr lang="en-IN" sz="2000" b="0" i="0" dirty="0">
                <a:solidFill>
                  <a:srgbClr val="333333"/>
                </a:solidFill>
                <a:effectLst/>
                <a:latin typeface="Times New Roman" panose="02020603050405020304" pitchFamily="18" charset="0"/>
                <a:cs typeface="Times New Roman" panose="02020603050405020304" pitchFamily="18" charset="0"/>
              </a:rPr>
              <a:t>Based on the location and management, National Institute of Standards and Technology</a:t>
            </a:r>
          </a:p>
          <a:p>
            <a:pPr marL="342900" indent="-342900" algn="just">
              <a:buFont typeface="Courier New" panose="02070309020205020404" pitchFamily="49" charset="0"/>
              <a:buChar char="o"/>
            </a:pPr>
            <a:endParaRPr lang="en-IN" sz="2000" b="0" i="0" dirty="0">
              <a:solidFill>
                <a:srgbClr val="333333"/>
              </a:solidFill>
              <a:effectLst/>
              <a:latin typeface="Times New Roman" panose="02020603050405020304" pitchFamily="18" charset="0"/>
              <a:cs typeface="Times New Roman" panose="02020603050405020304" pitchFamily="18" charset="0"/>
            </a:endParaRPr>
          </a:p>
          <a:p>
            <a:pPr marL="342900" indent="-342900" algn="just">
              <a:buFont typeface="Courier New" panose="02070309020205020404" pitchFamily="49" charset="0"/>
              <a:buChar char="o"/>
            </a:pPr>
            <a:r>
              <a:rPr lang="en-IN" sz="2000" b="0" i="0" dirty="0">
                <a:solidFill>
                  <a:srgbClr val="333333"/>
                </a:solidFill>
                <a:effectLst/>
                <a:latin typeface="Times New Roman" panose="02020603050405020304" pitchFamily="18" charset="0"/>
                <a:cs typeface="Times New Roman" panose="02020603050405020304" pitchFamily="18" charset="0"/>
              </a:rPr>
              <a:t> (NIST) divide private cloud into the following two parts-</a:t>
            </a:r>
          </a:p>
          <a:p>
            <a:pPr marL="342900" indent="-342900" algn="just">
              <a:buFont typeface="Courier New" panose="02070309020205020404" pitchFamily="49" charset="0"/>
              <a:buChar char="o"/>
            </a:pPr>
            <a:r>
              <a:rPr lang="en-IN" sz="2000" b="0" i="0" dirty="0">
                <a:solidFill>
                  <a:srgbClr val="000000"/>
                </a:solidFill>
                <a:effectLst/>
                <a:latin typeface="Times New Roman" panose="02020603050405020304" pitchFamily="18" charset="0"/>
                <a:cs typeface="Times New Roman" panose="02020603050405020304" pitchFamily="18" charset="0"/>
              </a:rPr>
              <a:t>On-premise private cloud</a:t>
            </a:r>
          </a:p>
          <a:p>
            <a:pPr marL="342900" indent="-342900" algn="just">
              <a:buFont typeface="Courier New" panose="02070309020205020404" pitchFamily="49" charset="0"/>
              <a:buChar char="o"/>
            </a:pPr>
            <a:r>
              <a:rPr lang="en-IN" sz="2000" b="0" i="0" dirty="0">
                <a:solidFill>
                  <a:srgbClr val="000000"/>
                </a:solidFill>
                <a:effectLst/>
                <a:latin typeface="Times New Roman" panose="02020603050405020304" pitchFamily="18" charset="0"/>
                <a:cs typeface="Times New Roman" panose="02020603050405020304" pitchFamily="18" charset="0"/>
              </a:rPr>
              <a:t>Outsourced private cloud</a:t>
            </a:r>
          </a:p>
          <a:p>
            <a:endParaRPr lang="en-IN" dirty="0"/>
          </a:p>
        </p:txBody>
      </p:sp>
    </p:spTree>
    <p:extLst>
      <p:ext uri="{BB962C8B-B14F-4D97-AF65-F5344CB8AC3E}">
        <p14:creationId xmlns:p14="http://schemas.microsoft.com/office/powerpoint/2010/main" val="1856118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36651-62C6-4029-9BA7-FE18C25F7ED3}"/>
              </a:ext>
            </a:extLst>
          </p:cNvPr>
          <p:cNvSpPr>
            <a:spLocks noGrp="1"/>
          </p:cNvSpPr>
          <p:nvPr>
            <p:ph type="title"/>
          </p:nvPr>
        </p:nvSpPr>
        <p:spPr>
          <a:xfrm>
            <a:off x="1674957" y="258417"/>
            <a:ext cx="10045148" cy="780620"/>
          </a:xfrm>
        </p:spPr>
        <p:txBody>
          <a:bodyPr>
            <a:noAutofit/>
          </a:bodyPr>
          <a:lstStyle/>
          <a:p>
            <a:pPr algn="ctr"/>
            <a:r>
              <a:rPr lang="en-IN" sz="4000" b="0" i="0" dirty="0">
                <a:solidFill>
                  <a:srgbClr val="610B4B"/>
                </a:solidFill>
                <a:effectLst/>
                <a:latin typeface="Times New Roman" panose="02020603050405020304" pitchFamily="18" charset="0"/>
                <a:cs typeface="Times New Roman" panose="02020603050405020304" pitchFamily="18" charset="0"/>
              </a:rPr>
              <a:t>Advantages &amp; Disadvantages of Private Cloud</a:t>
            </a:r>
            <a:br>
              <a:rPr lang="en-IN" sz="4000" b="0" i="0" dirty="0">
                <a:solidFill>
                  <a:srgbClr val="610B4B"/>
                </a:solidFill>
                <a:effectLst/>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6725DB-5282-42BE-9411-908950674C48}"/>
              </a:ext>
            </a:extLst>
          </p:cNvPr>
          <p:cNvSpPr>
            <a:spLocks noGrp="1"/>
          </p:cNvSpPr>
          <p:nvPr>
            <p:ph sz="half" idx="1"/>
          </p:nvPr>
        </p:nvSpPr>
        <p:spPr>
          <a:xfrm>
            <a:off x="477078" y="1497496"/>
            <a:ext cx="6425998" cy="5102087"/>
          </a:xfrm>
        </p:spPr>
        <p:txBody>
          <a:bodyPr>
            <a:normAutofit lnSpcReduction="10000"/>
          </a:bodyPr>
          <a:lstStyle/>
          <a:p>
            <a:pPr algn="just"/>
            <a:r>
              <a:rPr lang="en-IN" sz="2000" b="0" i="0" dirty="0">
                <a:solidFill>
                  <a:srgbClr val="610B4B"/>
                </a:solidFill>
                <a:effectLst/>
                <a:latin typeface="Times New Roman" panose="02020603050405020304" pitchFamily="18" charset="0"/>
                <a:cs typeface="Times New Roman" panose="02020603050405020304" pitchFamily="18" charset="0"/>
              </a:rPr>
              <a:t>Advantages of Private Cloud</a:t>
            </a:r>
          </a:p>
          <a:p>
            <a:pPr marL="0" indent="0" algn="just">
              <a:buNone/>
            </a:pPr>
            <a:endParaRPr lang="en-IN" sz="2000" b="0" i="0" dirty="0">
              <a:solidFill>
                <a:srgbClr val="610B4B"/>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Private cloud provides a high level of security and privacy to the users.</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Private cloud offers better performance with improved speed and space capacity.</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It allows the IT team to quickly allocate and deliver on-demand IT resources.</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The organization has full control over the cloud because it is managed by the organization itself. So, there is no need for the organization to depends on anybody.</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It is suitable for organizations that require a separate cloud for their personal use and data security is the first priority.</a:t>
            </a:r>
          </a:p>
          <a:p>
            <a:endParaRPr lang="en-IN" dirty="0"/>
          </a:p>
        </p:txBody>
      </p:sp>
      <p:sp>
        <p:nvSpPr>
          <p:cNvPr id="4" name="Content Placeholder 3">
            <a:extLst>
              <a:ext uri="{FF2B5EF4-FFF2-40B4-BE49-F238E27FC236}">
                <a16:creationId xmlns:a16="http://schemas.microsoft.com/office/drawing/2014/main" id="{AC619699-CA2E-4B78-84EB-4C93C74BDEDC}"/>
              </a:ext>
            </a:extLst>
          </p:cNvPr>
          <p:cNvSpPr>
            <a:spLocks noGrp="1"/>
          </p:cNvSpPr>
          <p:nvPr>
            <p:ph sz="half" idx="2"/>
          </p:nvPr>
        </p:nvSpPr>
        <p:spPr>
          <a:xfrm>
            <a:off x="7190746" y="1497496"/>
            <a:ext cx="4868731" cy="5102087"/>
          </a:xfrm>
        </p:spPr>
        <p:txBody>
          <a:bodyPr>
            <a:normAutofit lnSpcReduction="10000"/>
          </a:bodyPr>
          <a:lstStyle/>
          <a:p>
            <a:pPr algn="just"/>
            <a:r>
              <a:rPr lang="en-IN" sz="2000" b="0" i="0" dirty="0">
                <a:solidFill>
                  <a:srgbClr val="610B4B"/>
                </a:solidFill>
                <a:effectLst/>
                <a:latin typeface="Times New Roman" panose="02020603050405020304" pitchFamily="18" charset="0"/>
                <a:cs typeface="Times New Roman" panose="02020603050405020304" pitchFamily="18" charset="0"/>
              </a:rPr>
              <a:t>Disadvantages of Private Cloud</a:t>
            </a:r>
          </a:p>
          <a:p>
            <a:pPr marL="0" indent="0" algn="just">
              <a:buNone/>
            </a:pPr>
            <a:endParaRPr lang="en-IN" sz="2000" b="0" i="0" dirty="0">
              <a:solidFill>
                <a:srgbClr val="610B4B"/>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Skilled people are required to manage and operate cloud services.</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Private cloud is accessible within the organization, so the area of operations is limited.</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Private cloud is not suitable for organizations that have a high user base, and organizations that do not have the prebuilt infrastructure, sufficient manpower to maintain and manage the cloud.</a:t>
            </a:r>
          </a:p>
          <a:p>
            <a:endParaRPr lang="en-IN" dirty="0"/>
          </a:p>
        </p:txBody>
      </p:sp>
    </p:spTree>
    <p:extLst>
      <p:ext uri="{BB962C8B-B14F-4D97-AF65-F5344CB8AC3E}">
        <p14:creationId xmlns:p14="http://schemas.microsoft.com/office/powerpoint/2010/main" val="18281015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AC61-C14B-48B5-8BAF-77A9D678EDDD}"/>
              </a:ext>
            </a:extLst>
          </p:cNvPr>
          <p:cNvSpPr>
            <a:spLocks noGrp="1"/>
          </p:cNvSpPr>
          <p:nvPr>
            <p:ph type="title"/>
          </p:nvPr>
        </p:nvSpPr>
        <p:spPr>
          <a:xfrm>
            <a:off x="1285462" y="357809"/>
            <a:ext cx="10219150" cy="728869"/>
          </a:xfrm>
        </p:spPr>
        <p:txBody>
          <a:bodyPr>
            <a:normAutofit fontScale="90000"/>
          </a:bodyPr>
          <a:lstStyle/>
          <a:p>
            <a:pPr algn="ctr"/>
            <a:r>
              <a:rPr lang="en-IN" sz="4000" b="1" i="0" dirty="0">
                <a:solidFill>
                  <a:srgbClr val="610B38"/>
                </a:solidFill>
                <a:effectLst/>
                <a:latin typeface="Times New Roman" panose="02020603050405020304" pitchFamily="18" charset="0"/>
                <a:cs typeface="Times New Roman" panose="02020603050405020304" pitchFamily="18" charset="0"/>
              </a:rPr>
              <a:t>Hybrid Cloud</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D8B8B97E-6B8F-4C6E-BA54-EEA2F536495B}"/>
              </a:ext>
            </a:extLst>
          </p:cNvPr>
          <p:cNvSpPr>
            <a:spLocks noGrp="1"/>
          </p:cNvSpPr>
          <p:nvPr>
            <p:ph sz="half" idx="1"/>
          </p:nvPr>
        </p:nvSpPr>
        <p:spPr>
          <a:xfrm>
            <a:off x="477078" y="1272209"/>
            <a:ext cx="6425998" cy="5393634"/>
          </a:xfrm>
        </p:spPr>
        <p:txBody>
          <a:bodyPr>
            <a:normAutofit fontScale="92500" lnSpcReduction="10000"/>
          </a:bodyPr>
          <a:lstStyle/>
          <a:p>
            <a:pPr marL="0" indent="0" algn="just">
              <a:buNone/>
            </a:pPr>
            <a:endParaRPr lang="en-IN" b="0" i="0" dirty="0">
              <a:solidFill>
                <a:srgbClr val="610B38"/>
              </a:solidFill>
              <a:effectLst/>
              <a:latin typeface="erdana"/>
            </a:endParaRPr>
          </a:p>
          <a:p>
            <a:pPr algn="just"/>
            <a:r>
              <a:rPr lang="en-IN" sz="2200" b="0" i="0" dirty="0">
                <a:solidFill>
                  <a:srgbClr val="333333"/>
                </a:solidFill>
                <a:effectLst/>
                <a:latin typeface="Times New Roman" panose="02020603050405020304" pitchFamily="18" charset="0"/>
                <a:cs typeface="Times New Roman" panose="02020603050405020304" pitchFamily="18" charset="0"/>
              </a:rPr>
              <a:t>Hybrid Cloud is a combination of the public cloud and the private cloud. we can say:</a:t>
            </a:r>
          </a:p>
          <a:p>
            <a:pPr marL="0" indent="0" algn="just">
              <a:buNone/>
            </a:pPr>
            <a:endParaRPr lang="en-IN" sz="2200" b="0" i="0" dirty="0">
              <a:solidFill>
                <a:srgbClr val="333333"/>
              </a:solidFill>
              <a:effectLst/>
              <a:latin typeface="Times New Roman" panose="02020603050405020304" pitchFamily="18" charset="0"/>
              <a:cs typeface="Times New Roman" panose="02020603050405020304" pitchFamily="18" charset="0"/>
            </a:endParaRPr>
          </a:p>
          <a:p>
            <a:pPr algn="just"/>
            <a:r>
              <a:rPr lang="en-IN" sz="2200" b="1" i="1" dirty="0">
                <a:solidFill>
                  <a:srgbClr val="333333"/>
                </a:solidFill>
                <a:effectLst/>
                <a:latin typeface="Times New Roman" panose="02020603050405020304" pitchFamily="18" charset="0"/>
                <a:cs typeface="Times New Roman" panose="02020603050405020304" pitchFamily="18" charset="0"/>
              </a:rPr>
              <a:t>Hybrid Cloud = Public Cloud + Private Cloud</a:t>
            </a:r>
          </a:p>
          <a:p>
            <a:pPr marL="0" indent="0" algn="just">
              <a:buNone/>
            </a:pPr>
            <a:endParaRPr lang="en-IN" sz="2200" b="0" i="0" dirty="0">
              <a:solidFill>
                <a:srgbClr val="333333"/>
              </a:solidFill>
              <a:effectLst/>
              <a:latin typeface="Times New Roman" panose="02020603050405020304" pitchFamily="18" charset="0"/>
              <a:cs typeface="Times New Roman" panose="02020603050405020304" pitchFamily="18" charset="0"/>
            </a:endParaRPr>
          </a:p>
          <a:p>
            <a:pPr algn="just"/>
            <a:r>
              <a:rPr lang="en-IN" sz="2200" b="0" i="0" dirty="0">
                <a:solidFill>
                  <a:srgbClr val="333333"/>
                </a:solidFill>
                <a:effectLst/>
                <a:latin typeface="Times New Roman" panose="02020603050405020304" pitchFamily="18" charset="0"/>
                <a:cs typeface="Times New Roman" panose="02020603050405020304" pitchFamily="18" charset="0"/>
              </a:rPr>
              <a:t>Hybrid cloud is partially secure because the services which are running on the public cloud can be accessed by anyone, while the services which are running on a private cloud can be accessed only by the organization's users.</a:t>
            </a:r>
          </a:p>
          <a:p>
            <a:pPr marL="0" indent="0" algn="just">
              <a:buNone/>
            </a:pPr>
            <a:endParaRPr lang="en-IN" sz="2200" b="0" i="0" dirty="0">
              <a:solidFill>
                <a:srgbClr val="333333"/>
              </a:solidFill>
              <a:effectLst/>
              <a:latin typeface="Times New Roman" panose="02020603050405020304" pitchFamily="18" charset="0"/>
              <a:cs typeface="Times New Roman" panose="02020603050405020304" pitchFamily="18" charset="0"/>
            </a:endParaRPr>
          </a:p>
          <a:p>
            <a:pPr algn="just"/>
            <a:r>
              <a:rPr lang="en-IN" sz="2200" b="1" i="0" dirty="0">
                <a:solidFill>
                  <a:srgbClr val="333333"/>
                </a:solidFill>
                <a:effectLst/>
                <a:latin typeface="Times New Roman" panose="02020603050405020304" pitchFamily="18" charset="0"/>
                <a:cs typeface="Times New Roman" panose="02020603050405020304" pitchFamily="18" charset="0"/>
              </a:rPr>
              <a:t>Example:</a:t>
            </a:r>
            <a:r>
              <a:rPr lang="en-IN" sz="2200" b="0" i="0" dirty="0">
                <a:solidFill>
                  <a:srgbClr val="333333"/>
                </a:solidFill>
                <a:effectLst/>
                <a:latin typeface="Times New Roman" panose="02020603050405020304" pitchFamily="18" charset="0"/>
                <a:cs typeface="Times New Roman" panose="02020603050405020304" pitchFamily="18" charset="0"/>
              </a:rPr>
              <a:t> Google Application Suite (Gmail, Google Apps, and Google Drive), Office 365 (MS Office on the Web and One Drive), Amazon Web Services.</a:t>
            </a:r>
          </a:p>
          <a:p>
            <a:pPr marL="0" indent="0">
              <a:buNone/>
            </a:pPr>
            <a:br>
              <a:rPr lang="en-IN" dirty="0"/>
            </a:br>
            <a:endParaRPr lang="en-IN" dirty="0"/>
          </a:p>
        </p:txBody>
      </p:sp>
      <p:pic>
        <p:nvPicPr>
          <p:cNvPr id="5" name="Content Placeholder 4">
            <a:extLst>
              <a:ext uri="{FF2B5EF4-FFF2-40B4-BE49-F238E27FC236}">
                <a16:creationId xmlns:a16="http://schemas.microsoft.com/office/drawing/2014/main" id="{7FA021C7-777A-4F62-A366-DD6C35238FA3}"/>
              </a:ext>
            </a:extLst>
          </p:cNvPr>
          <p:cNvPicPr>
            <a:picLocks noGrp="1" noChangeAspect="1"/>
          </p:cNvPicPr>
          <p:nvPr>
            <p:ph sz="half" idx="2"/>
          </p:nvPr>
        </p:nvPicPr>
        <p:blipFill>
          <a:blip r:embed="rId2"/>
          <a:stretch>
            <a:fillRect/>
          </a:stretch>
        </p:blipFill>
        <p:spPr>
          <a:xfrm>
            <a:off x="7191374" y="1709530"/>
            <a:ext cx="4701873" cy="4200940"/>
          </a:xfrm>
          <a:prstGeom prst="rect">
            <a:avLst/>
          </a:prstGeom>
        </p:spPr>
      </p:pic>
    </p:spTree>
    <p:extLst>
      <p:ext uri="{BB962C8B-B14F-4D97-AF65-F5344CB8AC3E}">
        <p14:creationId xmlns:p14="http://schemas.microsoft.com/office/powerpoint/2010/main" val="1170867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3162-07A1-4F8D-9C75-B09EC19CFDCB}"/>
              </a:ext>
            </a:extLst>
          </p:cNvPr>
          <p:cNvSpPr>
            <a:spLocks noGrp="1"/>
          </p:cNvSpPr>
          <p:nvPr>
            <p:ph type="title"/>
          </p:nvPr>
        </p:nvSpPr>
        <p:spPr>
          <a:xfrm>
            <a:off x="1470992" y="106017"/>
            <a:ext cx="10033620" cy="840761"/>
          </a:xfrm>
        </p:spPr>
        <p:txBody>
          <a:bodyPr>
            <a:normAutofit fontScale="90000"/>
          </a:bodyPr>
          <a:lstStyle/>
          <a:p>
            <a:pPr algn="ctr"/>
            <a:r>
              <a:rPr lang="en-IN" sz="4000" b="0" i="0" dirty="0">
                <a:solidFill>
                  <a:srgbClr val="610B4B"/>
                </a:solidFill>
                <a:effectLst/>
                <a:latin typeface="Times New Roman" panose="02020603050405020304" pitchFamily="18" charset="0"/>
                <a:cs typeface="Times New Roman" panose="02020603050405020304" pitchFamily="18" charset="0"/>
              </a:rPr>
              <a:t>Advantages &amp; Disadvantages of Hybrid Cloud</a:t>
            </a:r>
            <a:br>
              <a:rPr lang="en-IN"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id="{6758BB7A-C23B-4085-A0BF-4DBB84954645}"/>
              </a:ext>
            </a:extLst>
          </p:cNvPr>
          <p:cNvSpPr>
            <a:spLocks noGrp="1"/>
          </p:cNvSpPr>
          <p:nvPr>
            <p:ph sz="half" idx="1"/>
          </p:nvPr>
        </p:nvSpPr>
        <p:spPr>
          <a:xfrm>
            <a:off x="556592" y="1351722"/>
            <a:ext cx="6082748" cy="5234608"/>
          </a:xfrm>
        </p:spPr>
        <p:txBody>
          <a:bodyPr>
            <a:normAutofit/>
          </a:bodyPr>
          <a:lstStyle/>
          <a:p>
            <a:pPr algn="just"/>
            <a:r>
              <a:rPr lang="en-IN" sz="2000" b="0" i="0" dirty="0">
                <a:solidFill>
                  <a:srgbClr val="610B4B"/>
                </a:solidFill>
                <a:effectLst/>
                <a:latin typeface="Times New Roman" panose="02020603050405020304" pitchFamily="18" charset="0"/>
                <a:cs typeface="Times New Roman" panose="02020603050405020304" pitchFamily="18" charset="0"/>
              </a:rPr>
              <a:t>Advantages of Hybrid Cloud</a:t>
            </a:r>
          </a:p>
          <a:p>
            <a:pPr marL="0" indent="0" algn="just">
              <a:buNone/>
            </a:pPr>
            <a:endParaRPr lang="en-IN" sz="2000" b="0" i="0" dirty="0">
              <a:solidFill>
                <a:srgbClr val="333333"/>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Hybrid cloud is suitable for organizations that require more security than the public cloud.</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Hybrid cloud helps you to deliver new products and services more quickly.</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Hybrid cloud provides an excellent way to reduce the risk.</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Hybrid cloud offers flexible resources because of the public cloud and secure resources because of the private cloud</a:t>
            </a:r>
            <a:r>
              <a:rPr lang="en-IN" b="0" i="0" dirty="0">
                <a:solidFill>
                  <a:srgbClr val="000000"/>
                </a:solidFill>
                <a:effectLst/>
                <a:latin typeface="inter-regular"/>
              </a:rPr>
              <a:t>.</a:t>
            </a:r>
          </a:p>
          <a:p>
            <a:endParaRPr lang="en-IN" dirty="0"/>
          </a:p>
        </p:txBody>
      </p:sp>
      <p:sp>
        <p:nvSpPr>
          <p:cNvPr id="4" name="Content Placeholder 3">
            <a:extLst>
              <a:ext uri="{FF2B5EF4-FFF2-40B4-BE49-F238E27FC236}">
                <a16:creationId xmlns:a16="http://schemas.microsoft.com/office/drawing/2014/main" id="{2231A8C3-72B4-4724-83DF-EC5A6EB39CBD}"/>
              </a:ext>
            </a:extLst>
          </p:cNvPr>
          <p:cNvSpPr>
            <a:spLocks noGrp="1"/>
          </p:cNvSpPr>
          <p:nvPr>
            <p:ph sz="half" idx="2"/>
          </p:nvPr>
        </p:nvSpPr>
        <p:spPr>
          <a:xfrm>
            <a:off x="7190747" y="1351721"/>
            <a:ext cx="4895236" cy="5400261"/>
          </a:xfrm>
        </p:spPr>
        <p:txBody>
          <a:bodyPr>
            <a:normAutofit/>
          </a:bodyPr>
          <a:lstStyle/>
          <a:p>
            <a:pPr algn="just"/>
            <a:r>
              <a:rPr lang="en-IN" sz="2000" b="0" i="0" dirty="0">
                <a:solidFill>
                  <a:srgbClr val="610B4B"/>
                </a:solidFill>
                <a:effectLst/>
                <a:latin typeface="Times New Roman" panose="02020603050405020304" pitchFamily="18" charset="0"/>
                <a:cs typeface="Times New Roman" panose="02020603050405020304" pitchFamily="18" charset="0"/>
              </a:rPr>
              <a:t>Disadvantages of Hybrid Cloud</a:t>
            </a:r>
          </a:p>
          <a:p>
            <a:pPr marL="0" indent="0" algn="just">
              <a:buNone/>
            </a:pPr>
            <a:endParaRPr lang="en-IN" sz="2000" b="0" i="0" dirty="0">
              <a:solidFill>
                <a:srgbClr val="610B4B"/>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In Hybrid Cloud, security feature is not as good as the private cloud.</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Managing a hybrid cloud is complex because it is difficult to manage more than one type of deployment model.</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In the hybrid cloud, the reliability of the services depends on cloud service providers.</a:t>
            </a:r>
          </a:p>
          <a:p>
            <a:endParaRPr lang="en-IN" dirty="0"/>
          </a:p>
        </p:txBody>
      </p:sp>
    </p:spTree>
    <p:extLst>
      <p:ext uri="{BB962C8B-B14F-4D97-AF65-F5344CB8AC3E}">
        <p14:creationId xmlns:p14="http://schemas.microsoft.com/office/powerpoint/2010/main" val="1134530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7413D-8086-47BF-9575-ECE5A1415798}"/>
              </a:ext>
            </a:extLst>
          </p:cNvPr>
          <p:cNvSpPr>
            <a:spLocks noGrp="1"/>
          </p:cNvSpPr>
          <p:nvPr>
            <p:ph type="title"/>
          </p:nvPr>
        </p:nvSpPr>
        <p:spPr>
          <a:xfrm>
            <a:off x="1722783" y="172278"/>
            <a:ext cx="9952381" cy="1033670"/>
          </a:xfrm>
        </p:spPr>
        <p:txBody>
          <a:bodyPr>
            <a:normAutofit fontScale="90000"/>
          </a:bodyPr>
          <a:lstStyle/>
          <a:p>
            <a:pPr algn="ctr"/>
            <a:r>
              <a:rPr lang="en-IN" sz="4400" b="1" i="0" dirty="0">
                <a:solidFill>
                  <a:srgbClr val="610B38"/>
                </a:solidFill>
                <a:effectLst/>
                <a:latin typeface="Times New Roman" panose="02020603050405020304" pitchFamily="18" charset="0"/>
                <a:cs typeface="Times New Roman" panose="02020603050405020304" pitchFamily="18" charset="0"/>
              </a:rPr>
              <a:t>Community Cloud</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B168852E-6A3E-48E0-8D57-D518E6A9C553}"/>
              </a:ext>
            </a:extLst>
          </p:cNvPr>
          <p:cNvSpPr>
            <a:spLocks noGrp="1"/>
          </p:cNvSpPr>
          <p:nvPr>
            <p:ph sz="half" idx="1"/>
          </p:nvPr>
        </p:nvSpPr>
        <p:spPr>
          <a:xfrm>
            <a:off x="687389" y="1298713"/>
            <a:ext cx="6215687" cy="5387009"/>
          </a:xfrm>
        </p:spPr>
        <p:txBody>
          <a:bodyPr/>
          <a:lstStyle/>
          <a:p>
            <a:pPr algn="just"/>
            <a:r>
              <a:rPr lang="en-IN" sz="2000" b="0" i="0" dirty="0">
                <a:solidFill>
                  <a:srgbClr val="333333"/>
                </a:solidFill>
                <a:effectLst/>
                <a:latin typeface="Times New Roman" panose="02020603050405020304" pitchFamily="18" charset="0"/>
                <a:cs typeface="Times New Roman" panose="02020603050405020304" pitchFamily="18" charset="0"/>
              </a:rPr>
              <a:t>Community cloud allows systems and services to be accessible by a group of several organizations to share the information between the organization and a specific community.</a:t>
            </a:r>
          </a:p>
          <a:p>
            <a:pPr marL="0" indent="0" algn="just">
              <a:buNone/>
            </a:pPr>
            <a:endParaRPr lang="en-IN" sz="2000" b="0" i="0" dirty="0">
              <a:solidFill>
                <a:srgbClr val="333333"/>
              </a:solidFill>
              <a:effectLst/>
              <a:latin typeface="Times New Roman" panose="02020603050405020304" pitchFamily="18" charset="0"/>
              <a:cs typeface="Times New Roman" panose="02020603050405020304" pitchFamily="18" charset="0"/>
            </a:endParaRPr>
          </a:p>
          <a:p>
            <a:pPr algn="just"/>
            <a:r>
              <a:rPr lang="en-IN" sz="2000" b="0" i="0" dirty="0">
                <a:solidFill>
                  <a:srgbClr val="333333"/>
                </a:solidFill>
                <a:effectLst/>
                <a:latin typeface="Times New Roman" panose="02020603050405020304" pitchFamily="18" charset="0"/>
                <a:cs typeface="Times New Roman" panose="02020603050405020304" pitchFamily="18" charset="0"/>
              </a:rPr>
              <a:t> It is owned, managed, and operated by one or more organizations in the community, a third party, or a combination of them.</a:t>
            </a:r>
          </a:p>
          <a:p>
            <a:pPr marL="0" indent="0" algn="just">
              <a:buNone/>
            </a:pPr>
            <a:endParaRPr lang="en-IN" sz="2000" b="0" i="0" dirty="0">
              <a:solidFill>
                <a:srgbClr val="333333"/>
              </a:solidFill>
              <a:effectLst/>
              <a:latin typeface="Times New Roman" panose="02020603050405020304" pitchFamily="18" charset="0"/>
              <a:cs typeface="Times New Roman" panose="02020603050405020304" pitchFamily="18" charset="0"/>
            </a:endParaRPr>
          </a:p>
          <a:p>
            <a:pPr algn="just"/>
            <a:r>
              <a:rPr lang="en-IN" sz="2000" b="1" i="0" dirty="0">
                <a:solidFill>
                  <a:srgbClr val="333333"/>
                </a:solidFill>
                <a:effectLst/>
                <a:latin typeface="Times New Roman" panose="02020603050405020304" pitchFamily="18" charset="0"/>
                <a:cs typeface="Times New Roman" panose="02020603050405020304" pitchFamily="18" charset="0"/>
              </a:rPr>
              <a:t>Example:</a:t>
            </a:r>
            <a:r>
              <a:rPr lang="en-IN" sz="2000" b="0" i="0" dirty="0">
                <a:solidFill>
                  <a:srgbClr val="333333"/>
                </a:solidFill>
                <a:effectLst/>
                <a:latin typeface="Times New Roman" panose="02020603050405020304" pitchFamily="18" charset="0"/>
                <a:cs typeface="Times New Roman" panose="02020603050405020304" pitchFamily="18" charset="0"/>
              </a:rPr>
              <a:t> Health Care community cloud</a:t>
            </a:r>
          </a:p>
          <a:p>
            <a:endParaRPr lang="en-IN" dirty="0"/>
          </a:p>
        </p:txBody>
      </p:sp>
      <p:pic>
        <p:nvPicPr>
          <p:cNvPr id="5" name="Content Placeholder 4">
            <a:extLst>
              <a:ext uri="{FF2B5EF4-FFF2-40B4-BE49-F238E27FC236}">
                <a16:creationId xmlns:a16="http://schemas.microsoft.com/office/drawing/2014/main" id="{41355C64-B471-4010-AD1D-FA8D88D5A79B}"/>
              </a:ext>
            </a:extLst>
          </p:cNvPr>
          <p:cNvPicPr>
            <a:picLocks noGrp="1" noChangeAspect="1"/>
          </p:cNvPicPr>
          <p:nvPr>
            <p:ph sz="half" idx="2"/>
          </p:nvPr>
        </p:nvPicPr>
        <p:blipFill>
          <a:blip r:embed="rId2"/>
          <a:stretch>
            <a:fillRect/>
          </a:stretch>
        </p:blipFill>
        <p:spPr>
          <a:xfrm>
            <a:off x="7191375" y="2565540"/>
            <a:ext cx="4801842" cy="3623225"/>
          </a:xfrm>
          <a:prstGeom prst="rect">
            <a:avLst/>
          </a:prstGeom>
        </p:spPr>
      </p:pic>
    </p:spTree>
    <p:extLst>
      <p:ext uri="{BB962C8B-B14F-4D97-AF65-F5344CB8AC3E}">
        <p14:creationId xmlns:p14="http://schemas.microsoft.com/office/powerpoint/2010/main" val="4309337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48E60-009B-49D8-A301-082490017CC0}"/>
              </a:ext>
            </a:extLst>
          </p:cNvPr>
          <p:cNvSpPr>
            <a:spLocks noGrp="1"/>
          </p:cNvSpPr>
          <p:nvPr>
            <p:ph type="title"/>
          </p:nvPr>
        </p:nvSpPr>
        <p:spPr>
          <a:xfrm>
            <a:off x="1205948" y="132522"/>
            <a:ext cx="10853530" cy="821634"/>
          </a:xfrm>
        </p:spPr>
        <p:txBody>
          <a:bodyPr>
            <a:noAutofit/>
          </a:bodyPr>
          <a:lstStyle/>
          <a:p>
            <a:pPr algn="ctr"/>
            <a:r>
              <a:rPr lang="en-IN" sz="4000" b="0" i="0" dirty="0">
                <a:solidFill>
                  <a:srgbClr val="610B4B"/>
                </a:solidFill>
                <a:effectLst/>
                <a:latin typeface="Times New Roman" panose="02020603050405020304" pitchFamily="18" charset="0"/>
                <a:cs typeface="Times New Roman" panose="02020603050405020304" pitchFamily="18" charset="0"/>
              </a:rPr>
              <a:t>Advantages &amp; Disadvantages of </a:t>
            </a:r>
            <a:r>
              <a:rPr lang="en-IN" sz="4000" b="0" i="0" dirty="0">
                <a:solidFill>
                  <a:srgbClr val="610B4B"/>
                </a:solidFill>
                <a:effectLst/>
                <a:latin typeface="erdana"/>
              </a:rPr>
              <a:t>Community Cloud</a:t>
            </a:r>
            <a:br>
              <a:rPr lang="en-IN" sz="4000" b="0" i="0" dirty="0">
                <a:solidFill>
                  <a:srgbClr val="610B4B"/>
                </a:solidFill>
                <a:effectLst/>
                <a:latin typeface="erdana"/>
              </a:rPr>
            </a:br>
            <a:endParaRPr lang="en-IN" sz="4000" dirty="0"/>
          </a:p>
        </p:txBody>
      </p:sp>
      <p:sp>
        <p:nvSpPr>
          <p:cNvPr id="3" name="Content Placeholder 2">
            <a:extLst>
              <a:ext uri="{FF2B5EF4-FFF2-40B4-BE49-F238E27FC236}">
                <a16:creationId xmlns:a16="http://schemas.microsoft.com/office/drawing/2014/main" id="{A978C0CD-2834-45AB-AA2B-C9B9CF72476B}"/>
              </a:ext>
            </a:extLst>
          </p:cNvPr>
          <p:cNvSpPr>
            <a:spLocks noGrp="1"/>
          </p:cNvSpPr>
          <p:nvPr>
            <p:ph sz="half" idx="1"/>
          </p:nvPr>
        </p:nvSpPr>
        <p:spPr>
          <a:xfrm>
            <a:off x="490330" y="1537252"/>
            <a:ext cx="6412746" cy="5188226"/>
          </a:xfrm>
        </p:spPr>
        <p:txBody>
          <a:bodyPr>
            <a:normAutofit/>
          </a:bodyPr>
          <a:lstStyle/>
          <a:p>
            <a:pPr algn="just"/>
            <a:r>
              <a:rPr lang="en-IN" sz="2000" b="0" i="0" dirty="0">
                <a:solidFill>
                  <a:srgbClr val="610B4B"/>
                </a:solidFill>
                <a:effectLst/>
                <a:latin typeface="Times New Roman" panose="02020603050405020304" pitchFamily="18" charset="0"/>
                <a:cs typeface="Times New Roman" panose="02020603050405020304" pitchFamily="18" charset="0"/>
              </a:rPr>
              <a:t>Advantages of Community Cloud</a:t>
            </a:r>
          </a:p>
          <a:p>
            <a:pPr marL="0" indent="0" algn="just">
              <a:buNone/>
            </a:pPr>
            <a:endParaRPr lang="en-IN" sz="2000" b="0" i="0" dirty="0">
              <a:solidFill>
                <a:srgbClr val="610B4B"/>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Community cloud is cost-effective because the whole cloud is being shared by several organizations or communities.</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Community cloud is suitable for organizations that want to have a collaborative cloud with more security features than the public cloud.</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It provides better security than the public cloud.</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It </a:t>
            </a:r>
            <a:r>
              <a:rPr lang="en-IN" sz="2000" b="0" i="0" dirty="0" err="1">
                <a:solidFill>
                  <a:srgbClr val="000000"/>
                </a:solidFill>
                <a:effectLst/>
                <a:latin typeface="Times New Roman" panose="02020603050405020304" pitchFamily="18" charset="0"/>
                <a:cs typeface="Times New Roman" panose="02020603050405020304" pitchFamily="18" charset="0"/>
              </a:rPr>
              <a:t>provdes</a:t>
            </a:r>
            <a:r>
              <a:rPr lang="en-IN" sz="2000" b="0" i="0" dirty="0">
                <a:solidFill>
                  <a:srgbClr val="000000"/>
                </a:solidFill>
                <a:effectLst/>
                <a:latin typeface="Times New Roman" panose="02020603050405020304" pitchFamily="18" charset="0"/>
                <a:cs typeface="Times New Roman" panose="02020603050405020304" pitchFamily="18" charset="0"/>
              </a:rPr>
              <a:t> collaborative and distributive environment.</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Community cloud allows us to share cloud resources, infrastructure, and other capabilities among various organizations.</a:t>
            </a:r>
          </a:p>
          <a:p>
            <a:endParaRPr lang="en-IN" dirty="0"/>
          </a:p>
        </p:txBody>
      </p:sp>
      <p:sp>
        <p:nvSpPr>
          <p:cNvPr id="4" name="Content Placeholder 3">
            <a:extLst>
              <a:ext uri="{FF2B5EF4-FFF2-40B4-BE49-F238E27FC236}">
                <a16:creationId xmlns:a16="http://schemas.microsoft.com/office/drawing/2014/main" id="{643801E8-8FDE-4DAE-8AEB-8B597E620CBB}"/>
              </a:ext>
            </a:extLst>
          </p:cNvPr>
          <p:cNvSpPr>
            <a:spLocks noGrp="1"/>
          </p:cNvSpPr>
          <p:nvPr>
            <p:ph sz="half" idx="2"/>
          </p:nvPr>
        </p:nvSpPr>
        <p:spPr>
          <a:xfrm>
            <a:off x="7190746" y="1537251"/>
            <a:ext cx="4868731" cy="5188225"/>
          </a:xfrm>
        </p:spPr>
        <p:txBody>
          <a:bodyPr>
            <a:normAutofit/>
          </a:bodyPr>
          <a:lstStyle/>
          <a:p>
            <a:pPr algn="just"/>
            <a:r>
              <a:rPr lang="en-IN" sz="2000" b="0" i="0" dirty="0">
                <a:solidFill>
                  <a:srgbClr val="610B4B"/>
                </a:solidFill>
                <a:effectLst/>
                <a:latin typeface="Times New Roman" panose="02020603050405020304" pitchFamily="18" charset="0"/>
                <a:cs typeface="Times New Roman" panose="02020603050405020304" pitchFamily="18" charset="0"/>
              </a:rPr>
              <a:t>Disadvantages of Community Cloud</a:t>
            </a:r>
          </a:p>
          <a:p>
            <a:pPr marL="0" indent="0" algn="just">
              <a:buNone/>
            </a:pPr>
            <a:endParaRPr lang="en-IN" sz="2000" b="0" i="0" dirty="0">
              <a:solidFill>
                <a:srgbClr val="610B4B"/>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Community cloud is not a good choice for every organization.</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Security features are not as good as the private cloud.</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It is not suitable if there is no collaboration.</a:t>
            </a:r>
          </a:p>
          <a:p>
            <a:pPr algn="just">
              <a:buFont typeface="Arial" panose="020B0604020202020204" pitchFamily="34" charset="0"/>
              <a:buChar char="•"/>
            </a:pPr>
            <a:r>
              <a:rPr lang="en-IN" sz="2000" b="0" i="0" dirty="0">
                <a:solidFill>
                  <a:srgbClr val="000000"/>
                </a:solidFill>
                <a:effectLst/>
                <a:latin typeface="Times New Roman" panose="02020603050405020304" pitchFamily="18" charset="0"/>
                <a:cs typeface="Times New Roman" panose="02020603050405020304" pitchFamily="18" charset="0"/>
              </a:rPr>
              <a:t>The fixed amount of data storage and bandwidth is shared among all community members.</a:t>
            </a:r>
          </a:p>
          <a:p>
            <a:endParaRPr lang="en-IN" dirty="0"/>
          </a:p>
        </p:txBody>
      </p:sp>
    </p:spTree>
    <p:extLst>
      <p:ext uri="{BB962C8B-B14F-4D97-AF65-F5344CB8AC3E}">
        <p14:creationId xmlns:p14="http://schemas.microsoft.com/office/powerpoint/2010/main" val="3367406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1729E-E109-4D1D-A286-F09B8AF77920}"/>
              </a:ext>
            </a:extLst>
          </p:cNvPr>
          <p:cNvSpPr>
            <a:spLocks noGrp="1"/>
          </p:cNvSpPr>
          <p:nvPr>
            <p:ph type="title"/>
          </p:nvPr>
        </p:nvSpPr>
        <p:spPr>
          <a:xfrm>
            <a:off x="1537252" y="132522"/>
            <a:ext cx="10442713" cy="1772478"/>
          </a:xfrm>
        </p:spPr>
        <p:txBody>
          <a:bodyPr>
            <a:normAutofit fontScale="90000"/>
          </a:bodyPr>
          <a:lstStyle/>
          <a:p>
            <a:pPr algn="ctr"/>
            <a:r>
              <a:rPr lang="en-IN" sz="4000" b="0" i="0" dirty="0">
                <a:solidFill>
                  <a:srgbClr val="610B4B"/>
                </a:solidFill>
                <a:effectLst/>
                <a:latin typeface="Times New Roman" panose="02020603050405020304" pitchFamily="18" charset="0"/>
                <a:cs typeface="Times New Roman" panose="02020603050405020304" pitchFamily="18" charset="0"/>
              </a:rPr>
              <a:t>Difference between public cloud, private cloud, hybrid cloud, and community cloud -</a:t>
            </a:r>
            <a:br>
              <a:rPr lang="en-IN" b="0" i="0" dirty="0">
                <a:solidFill>
                  <a:srgbClr val="610B4B"/>
                </a:solidFill>
                <a:effectLst/>
                <a:latin typeface="erdana"/>
              </a:rPr>
            </a:br>
            <a:endParaRPr lang="en-IN" dirty="0"/>
          </a:p>
        </p:txBody>
      </p:sp>
      <p:pic>
        <p:nvPicPr>
          <p:cNvPr id="5" name="Content Placeholder 4">
            <a:extLst>
              <a:ext uri="{FF2B5EF4-FFF2-40B4-BE49-F238E27FC236}">
                <a16:creationId xmlns:a16="http://schemas.microsoft.com/office/drawing/2014/main" id="{E287CEB4-9CA9-4152-9C93-D23346D584B5}"/>
              </a:ext>
            </a:extLst>
          </p:cNvPr>
          <p:cNvPicPr>
            <a:picLocks noGrp="1" noChangeAspect="1"/>
          </p:cNvPicPr>
          <p:nvPr>
            <p:ph idx="1"/>
          </p:nvPr>
        </p:nvPicPr>
        <p:blipFill>
          <a:blip r:embed="rId2"/>
          <a:stretch>
            <a:fillRect/>
          </a:stretch>
        </p:blipFill>
        <p:spPr>
          <a:xfrm>
            <a:off x="834887" y="1457740"/>
            <a:ext cx="10959548" cy="5115338"/>
          </a:xfrm>
        </p:spPr>
      </p:pic>
    </p:spTree>
    <p:extLst>
      <p:ext uri="{BB962C8B-B14F-4D97-AF65-F5344CB8AC3E}">
        <p14:creationId xmlns:p14="http://schemas.microsoft.com/office/powerpoint/2010/main" val="306506617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594</TotalTime>
  <Words>3156</Words>
  <Application>Microsoft Office PowerPoint</Application>
  <PresentationFormat>Widescreen</PresentationFormat>
  <Paragraphs>264</Paragraphs>
  <Slides>30</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Arial</vt:lpstr>
      <vt:lpstr>Arial</vt:lpstr>
      <vt:lpstr>Century Gothic</vt:lpstr>
      <vt:lpstr>Courier New</vt:lpstr>
      <vt:lpstr>erdana</vt:lpstr>
      <vt:lpstr>inter-bold</vt:lpstr>
      <vt:lpstr>inter-regular</vt:lpstr>
      <vt:lpstr>Open Sans</vt:lpstr>
      <vt:lpstr>Times New Roman</vt:lpstr>
      <vt:lpstr>Wingdings</vt:lpstr>
      <vt:lpstr>Wingdings 3</vt:lpstr>
      <vt:lpstr>Wisp</vt:lpstr>
      <vt:lpstr>  PRE – REREQUISITE FOR THE COURES</vt:lpstr>
      <vt:lpstr>Computer</vt:lpstr>
      <vt:lpstr>Software</vt:lpstr>
      <vt:lpstr>Computer N/W</vt:lpstr>
      <vt:lpstr>IP address </vt:lpstr>
      <vt:lpstr>File management system / DBMS</vt:lpstr>
      <vt:lpstr>Server</vt:lpstr>
      <vt:lpstr>Client server architecture</vt:lpstr>
      <vt:lpstr>2 - TIER / 3 - TIER / n - TIER</vt:lpstr>
      <vt:lpstr>Protocol / Router /Port </vt:lpstr>
      <vt:lpstr>HTTP / HTTPS / SSL / DNS / ISP </vt:lpstr>
      <vt:lpstr>Localhost / JDK /JRE  </vt:lpstr>
      <vt:lpstr>URL / URI / GUI  </vt:lpstr>
      <vt:lpstr>S/W environment </vt:lpstr>
      <vt:lpstr>Virtualization</vt:lpstr>
      <vt:lpstr>Cloud</vt:lpstr>
      <vt:lpstr>Infrastructure as a Service (IaaS) </vt:lpstr>
      <vt:lpstr>Platform as a Service (PaaS) </vt:lpstr>
      <vt:lpstr>Software as a Service (SaaS) </vt:lpstr>
      <vt:lpstr>Difference between IaaS, PaaS, and SaaS </vt:lpstr>
      <vt:lpstr> Cloud Deployment Models </vt:lpstr>
      <vt:lpstr>Public Cloud </vt:lpstr>
      <vt:lpstr>PowerPoint Presentation</vt:lpstr>
      <vt:lpstr>Private Cloud </vt:lpstr>
      <vt:lpstr>Advantages &amp; Disadvantages of Private Cloud </vt:lpstr>
      <vt:lpstr>Hybrid Cloud </vt:lpstr>
      <vt:lpstr>Advantages &amp; Disadvantages of Hybrid Cloud </vt:lpstr>
      <vt:lpstr>Community Cloud </vt:lpstr>
      <vt:lpstr>Advantages &amp; Disadvantages of Community Cloud </vt:lpstr>
      <vt:lpstr>Difference between public cloud, private cloud, hybrid cloud, and community cloud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PRE – REREQUISITE FOR THE COURES</dc:title>
  <dc:creator>Chethuprasad</dc:creator>
  <cp:lastModifiedBy>Chethuprasad</cp:lastModifiedBy>
  <cp:revision>23</cp:revision>
  <dcterms:created xsi:type="dcterms:W3CDTF">2022-04-21T17:02:01Z</dcterms:created>
  <dcterms:modified xsi:type="dcterms:W3CDTF">2022-04-27T11:40:33Z</dcterms:modified>
</cp:coreProperties>
</file>
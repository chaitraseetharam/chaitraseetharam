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5" r:id="rId1"/>
  </p:sldMasterIdLst>
  <p:sldIdLst>
    <p:sldId id="259" r:id="rId2"/>
    <p:sldId id="258" r:id="rId3"/>
    <p:sldId id="260" r:id="rId4"/>
    <p:sldId id="261" r:id="rId5"/>
    <p:sldId id="262" r:id="rId6"/>
    <p:sldId id="263" r:id="rId7"/>
    <p:sldId id="264" r:id="rId8"/>
    <p:sldId id="265" r:id="rId9"/>
    <p:sldId id="266" r:id="rId10"/>
    <p:sldId id="267" r:id="rId11"/>
    <p:sldId id="268" r:id="rId12"/>
    <p:sldId id="269" r:id="rId13"/>
    <p:sldId id="270" r:id="rId14"/>
    <p:sldId id="271" r:id="rId15"/>
    <p:sldId id="272" r:id="rId16"/>
    <p:sldId id="273"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DA147"/>
    <a:srgbClr val="B54C2D"/>
    <a:srgbClr val="B66952"/>
    <a:srgbClr val="B56D45"/>
    <a:srgbClr val="DF985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2" d="100"/>
          <a:sy n="72" d="100"/>
        </p:scale>
        <p:origin x="66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AA20905-3954-474B-A606-562BCA026DC1}" type="doc">
      <dgm:prSet loTypeId="urn:microsoft.com/office/officeart/2016/7/layout/LinearBlockProcessNumbered" loCatId="process" qsTypeId="urn:microsoft.com/office/officeart/2005/8/quickstyle/simple1" qsCatId="simple" csTypeId="urn:microsoft.com/office/officeart/2005/8/colors/colorful1" csCatId="colorful" phldr="1"/>
      <dgm:spPr/>
      <dgm:t>
        <a:bodyPr/>
        <a:lstStyle/>
        <a:p>
          <a:endParaRPr lang="en-US"/>
        </a:p>
      </dgm:t>
    </dgm:pt>
    <dgm:pt modelId="{DC13AB6D-DEA2-4CBB-AC69-1EF1A6AD1512}">
      <dgm:prSet/>
      <dgm:spPr/>
      <dgm:t>
        <a:bodyPr/>
        <a:lstStyle/>
        <a:p>
          <a:pPr>
            <a:defRPr cap="all"/>
          </a:pPr>
          <a:r>
            <a:rPr lang="en-IN" b="0" i="0" dirty="0">
              <a:solidFill>
                <a:schemeClr val="tx1"/>
              </a:solidFill>
              <a:effectLst/>
              <a:latin typeface="Times New Roman" panose="02020603050405020304" pitchFamily="18" charset="0"/>
              <a:cs typeface="Times New Roman" panose="02020603050405020304" pitchFamily="18" charset="0"/>
            </a:rPr>
            <a:t>What is Git ?                                                        Basic Git Commands</a:t>
          </a:r>
          <a:endParaRPr lang="en-US" dirty="0"/>
        </a:p>
      </dgm:t>
    </dgm:pt>
    <dgm:pt modelId="{2C752582-D9FF-4E04-A92F-827DB4BB5C48}" type="parTrans" cxnId="{4B888393-351D-4489-90C9-5A68061AB236}">
      <dgm:prSet/>
      <dgm:spPr/>
      <dgm:t>
        <a:bodyPr/>
        <a:lstStyle/>
        <a:p>
          <a:endParaRPr lang="en-US"/>
        </a:p>
      </dgm:t>
    </dgm:pt>
    <dgm:pt modelId="{9C64CC83-643C-4E12-8F97-BC19DC031190}" type="sibTrans" cxnId="{4B888393-351D-4489-90C9-5A68061AB236}">
      <dgm:prSet phldrT="01" phldr="0"/>
      <dgm:spPr/>
      <dgm:t>
        <a:bodyPr/>
        <a:lstStyle/>
        <a:p>
          <a:r>
            <a:rPr lang="en-US"/>
            <a:t>01</a:t>
          </a:r>
          <a:endParaRPr lang="en-US" dirty="0"/>
        </a:p>
      </dgm:t>
    </dgm:pt>
    <dgm:pt modelId="{53742231-981F-480A-940F-203EC2F7423F}">
      <dgm:prSet/>
      <dgm:spPr/>
      <dgm:t>
        <a:bodyPr/>
        <a:lstStyle/>
        <a:p>
          <a:pPr>
            <a:defRPr cap="all"/>
          </a:pPr>
          <a:r>
            <a:rPr lang="en-IN" b="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What is a Git Merge Conflict?     </a:t>
          </a:r>
          <a:r>
            <a:rPr lang="en-IN" b="0" i="0" dirty="0">
              <a:solidFill>
                <a:schemeClr val="tx1"/>
              </a:solidFill>
              <a:effectLst/>
              <a:latin typeface="Times New Roman" panose="02020603050405020304" pitchFamily="18" charset="0"/>
              <a:cs typeface="Times New Roman" panose="02020603050405020304" pitchFamily="18" charset="0"/>
            </a:rPr>
            <a:t>Basic Git Commands</a:t>
          </a:r>
          <a:endParaRPr lang="en-US" dirty="0"/>
        </a:p>
      </dgm:t>
    </dgm:pt>
    <dgm:pt modelId="{2FC75195-FBA1-43DE-85DD-40B4B3A2F1F3}" type="parTrans" cxnId="{F226B1C2-5D99-403A-8240-EAD6BD4D8534}">
      <dgm:prSet/>
      <dgm:spPr/>
      <dgm:t>
        <a:bodyPr/>
        <a:lstStyle/>
        <a:p>
          <a:endParaRPr lang="en-US"/>
        </a:p>
      </dgm:t>
    </dgm:pt>
    <dgm:pt modelId="{EF449C32-A7AE-4099-9E9B-9E2F736A89CE}" type="sibTrans" cxnId="{F226B1C2-5D99-403A-8240-EAD6BD4D8534}">
      <dgm:prSet phldrT="02" phldr="0"/>
      <dgm:spPr/>
      <dgm:t>
        <a:bodyPr/>
        <a:lstStyle/>
        <a:p>
          <a:r>
            <a:rPr lang="en-US"/>
            <a:t>02</a:t>
          </a:r>
        </a:p>
      </dgm:t>
    </dgm:pt>
    <dgm:pt modelId="{9EF41CC5-EF3B-4A6D-8229-3F1333EADFB3}">
      <dgm:prSet/>
      <dgm:spPr/>
      <dgm:t>
        <a:bodyPr/>
        <a:lstStyle/>
        <a:p>
          <a:pPr>
            <a:defRPr cap="all"/>
          </a:pPr>
          <a:r>
            <a:rPr lang="en-IN" b="0" i="0" dirty="0">
              <a:solidFill>
                <a:schemeClr val="tx1"/>
              </a:solidFill>
              <a:effectLst/>
              <a:latin typeface="Times New Roman" panose="02020603050405020304" pitchFamily="18" charset="0"/>
              <a:cs typeface="Times New Roman" panose="02020603050405020304" pitchFamily="18" charset="0"/>
            </a:rPr>
            <a:t>How to Resolve Merge Conflicts in Git?                                                                                                                                                                                                                                                                                                           How to Resolve Merge Conflicts in Git?</a:t>
          </a:r>
          <a:br>
            <a:rPr lang="en-IN" b="0" i="0" dirty="0">
              <a:solidFill>
                <a:srgbClr val="272C37"/>
              </a:solidFill>
              <a:effectLst/>
              <a:latin typeface="Roboto" panose="02000000000000000000" pitchFamily="2" charset="0"/>
            </a:rPr>
          </a:br>
          <a:endParaRPr lang="en-US" dirty="0"/>
        </a:p>
      </dgm:t>
    </dgm:pt>
    <dgm:pt modelId="{DAEF1C7D-B0C5-46FA-BED3-8A54E918D3E0}" type="parTrans" cxnId="{E476EEBC-7C9F-4E07-BD58-1044B9769B64}">
      <dgm:prSet/>
      <dgm:spPr/>
      <dgm:t>
        <a:bodyPr/>
        <a:lstStyle/>
        <a:p>
          <a:endParaRPr lang="en-US"/>
        </a:p>
      </dgm:t>
    </dgm:pt>
    <dgm:pt modelId="{98E6DD7C-B953-4119-9F64-9914E467ECBF}" type="sibTrans" cxnId="{E476EEBC-7C9F-4E07-BD58-1044B9769B64}">
      <dgm:prSet phldrT="03" phldr="0"/>
      <dgm:spPr/>
      <dgm:t>
        <a:bodyPr/>
        <a:lstStyle/>
        <a:p>
          <a:r>
            <a:rPr lang="en-US"/>
            <a:t>03</a:t>
          </a:r>
        </a:p>
      </dgm:t>
    </dgm:pt>
    <dgm:pt modelId="{579698BD-D232-4926-8D7B-29A69B90858B}" type="pres">
      <dgm:prSet presAssocID="{8AA20905-3954-474B-A606-562BCA026DC1}" presName="Name0" presStyleCnt="0">
        <dgm:presLayoutVars>
          <dgm:animLvl val="lvl"/>
          <dgm:resizeHandles val="exact"/>
        </dgm:presLayoutVars>
      </dgm:prSet>
      <dgm:spPr/>
    </dgm:pt>
    <dgm:pt modelId="{3DD5B223-886E-4FC7-BDA1-ECA869A474EC}" type="pres">
      <dgm:prSet presAssocID="{DC13AB6D-DEA2-4CBB-AC69-1EF1A6AD1512}" presName="compositeNode" presStyleCnt="0">
        <dgm:presLayoutVars>
          <dgm:bulletEnabled val="1"/>
        </dgm:presLayoutVars>
      </dgm:prSet>
      <dgm:spPr/>
    </dgm:pt>
    <dgm:pt modelId="{DA3A6BD4-857F-4C66-97FA-B1E1C180A950}" type="pres">
      <dgm:prSet presAssocID="{DC13AB6D-DEA2-4CBB-AC69-1EF1A6AD1512}" presName="bgRect" presStyleLbl="alignNode1" presStyleIdx="0" presStyleCnt="3"/>
      <dgm:spPr/>
    </dgm:pt>
    <dgm:pt modelId="{BBA91679-4684-4A04-8AEB-03038C78A75C}" type="pres">
      <dgm:prSet presAssocID="{9C64CC83-643C-4E12-8F97-BC19DC031190}" presName="sibTransNodeRect" presStyleLbl="alignNode1" presStyleIdx="0" presStyleCnt="3">
        <dgm:presLayoutVars>
          <dgm:chMax val="0"/>
          <dgm:bulletEnabled val="1"/>
        </dgm:presLayoutVars>
      </dgm:prSet>
      <dgm:spPr/>
    </dgm:pt>
    <dgm:pt modelId="{5F398AEE-BC0F-4F30-99FA-92D67A176C2D}" type="pres">
      <dgm:prSet presAssocID="{DC13AB6D-DEA2-4CBB-AC69-1EF1A6AD1512}" presName="nodeRect" presStyleLbl="alignNode1" presStyleIdx="0" presStyleCnt="3">
        <dgm:presLayoutVars>
          <dgm:bulletEnabled val="1"/>
        </dgm:presLayoutVars>
      </dgm:prSet>
      <dgm:spPr/>
    </dgm:pt>
    <dgm:pt modelId="{3C27A223-AC17-40BD-B7C5-0447661C2934}" type="pres">
      <dgm:prSet presAssocID="{9C64CC83-643C-4E12-8F97-BC19DC031190}" presName="sibTrans" presStyleCnt="0"/>
      <dgm:spPr/>
    </dgm:pt>
    <dgm:pt modelId="{0864151C-845B-4A50-9755-7EE613694D81}" type="pres">
      <dgm:prSet presAssocID="{53742231-981F-480A-940F-203EC2F7423F}" presName="compositeNode" presStyleCnt="0">
        <dgm:presLayoutVars>
          <dgm:bulletEnabled val="1"/>
        </dgm:presLayoutVars>
      </dgm:prSet>
      <dgm:spPr/>
    </dgm:pt>
    <dgm:pt modelId="{00AE7F27-0E5D-4AFB-ACD6-B5A19E79EA42}" type="pres">
      <dgm:prSet presAssocID="{53742231-981F-480A-940F-203EC2F7423F}" presName="bgRect" presStyleLbl="alignNode1" presStyleIdx="1" presStyleCnt="3"/>
      <dgm:spPr/>
    </dgm:pt>
    <dgm:pt modelId="{975C752B-C37A-4BA6-A3AE-2202A141404A}" type="pres">
      <dgm:prSet presAssocID="{EF449C32-A7AE-4099-9E9B-9E2F736A89CE}" presName="sibTransNodeRect" presStyleLbl="alignNode1" presStyleIdx="1" presStyleCnt="3">
        <dgm:presLayoutVars>
          <dgm:chMax val="0"/>
          <dgm:bulletEnabled val="1"/>
        </dgm:presLayoutVars>
      </dgm:prSet>
      <dgm:spPr/>
    </dgm:pt>
    <dgm:pt modelId="{C5BDCA19-B754-421E-A6CC-628F80FC74CB}" type="pres">
      <dgm:prSet presAssocID="{53742231-981F-480A-940F-203EC2F7423F}" presName="nodeRect" presStyleLbl="alignNode1" presStyleIdx="1" presStyleCnt="3">
        <dgm:presLayoutVars>
          <dgm:bulletEnabled val="1"/>
        </dgm:presLayoutVars>
      </dgm:prSet>
      <dgm:spPr/>
    </dgm:pt>
    <dgm:pt modelId="{3E36C1DA-E751-469B-91D5-B7ADF3790DAB}" type="pres">
      <dgm:prSet presAssocID="{EF449C32-A7AE-4099-9E9B-9E2F736A89CE}" presName="sibTrans" presStyleCnt="0"/>
      <dgm:spPr/>
    </dgm:pt>
    <dgm:pt modelId="{19974A3A-09A4-40DE-BB0F-D9AED1ACB06E}" type="pres">
      <dgm:prSet presAssocID="{9EF41CC5-EF3B-4A6D-8229-3F1333EADFB3}" presName="compositeNode" presStyleCnt="0">
        <dgm:presLayoutVars>
          <dgm:bulletEnabled val="1"/>
        </dgm:presLayoutVars>
      </dgm:prSet>
      <dgm:spPr/>
    </dgm:pt>
    <dgm:pt modelId="{CAD62F17-E99D-4FEF-B376-961CA4CB20EB}" type="pres">
      <dgm:prSet presAssocID="{9EF41CC5-EF3B-4A6D-8229-3F1333EADFB3}" presName="bgRect" presStyleLbl="alignNode1" presStyleIdx="2" presStyleCnt="3"/>
      <dgm:spPr/>
    </dgm:pt>
    <dgm:pt modelId="{E20811D6-E5D4-4C9E-AABF-9E0E1902CA2C}" type="pres">
      <dgm:prSet presAssocID="{98E6DD7C-B953-4119-9F64-9914E467ECBF}" presName="sibTransNodeRect" presStyleLbl="alignNode1" presStyleIdx="2" presStyleCnt="3">
        <dgm:presLayoutVars>
          <dgm:chMax val="0"/>
          <dgm:bulletEnabled val="1"/>
        </dgm:presLayoutVars>
      </dgm:prSet>
      <dgm:spPr/>
    </dgm:pt>
    <dgm:pt modelId="{67D48337-9200-42EF-A956-8FC92E9B78D2}" type="pres">
      <dgm:prSet presAssocID="{9EF41CC5-EF3B-4A6D-8229-3F1333EADFB3}" presName="nodeRect" presStyleLbl="alignNode1" presStyleIdx="2" presStyleCnt="3">
        <dgm:presLayoutVars>
          <dgm:bulletEnabled val="1"/>
        </dgm:presLayoutVars>
      </dgm:prSet>
      <dgm:spPr/>
    </dgm:pt>
  </dgm:ptLst>
  <dgm:cxnLst>
    <dgm:cxn modelId="{43B61840-F115-4174-96B9-DA0C0E83489E}" type="presOf" srcId="{9EF41CC5-EF3B-4A6D-8229-3F1333EADFB3}" destId="{CAD62F17-E99D-4FEF-B376-961CA4CB20EB}" srcOrd="0" destOrd="0" presId="urn:microsoft.com/office/officeart/2016/7/layout/LinearBlockProcessNumbered"/>
    <dgm:cxn modelId="{0439566F-A180-439C-8FAE-14E400EF2DCF}" type="presOf" srcId="{8AA20905-3954-474B-A606-562BCA026DC1}" destId="{579698BD-D232-4926-8D7B-29A69B90858B}" srcOrd="0" destOrd="0" presId="urn:microsoft.com/office/officeart/2016/7/layout/LinearBlockProcessNumbered"/>
    <dgm:cxn modelId="{29280853-1A86-48A7-BA30-A3847B3BBF6D}" type="presOf" srcId="{98E6DD7C-B953-4119-9F64-9914E467ECBF}" destId="{E20811D6-E5D4-4C9E-AABF-9E0E1902CA2C}" srcOrd="0" destOrd="0" presId="urn:microsoft.com/office/officeart/2016/7/layout/LinearBlockProcessNumbered"/>
    <dgm:cxn modelId="{F6B1598F-1951-460F-BB68-54B32A798437}" type="presOf" srcId="{DC13AB6D-DEA2-4CBB-AC69-1EF1A6AD1512}" destId="{5F398AEE-BC0F-4F30-99FA-92D67A176C2D}" srcOrd="1" destOrd="0" presId="urn:microsoft.com/office/officeart/2016/7/layout/LinearBlockProcessNumbered"/>
    <dgm:cxn modelId="{4B888393-351D-4489-90C9-5A68061AB236}" srcId="{8AA20905-3954-474B-A606-562BCA026DC1}" destId="{DC13AB6D-DEA2-4CBB-AC69-1EF1A6AD1512}" srcOrd="0" destOrd="0" parTransId="{2C752582-D9FF-4E04-A92F-827DB4BB5C48}" sibTransId="{9C64CC83-643C-4E12-8F97-BC19DC031190}"/>
    <dgm:cxn modelId="{BA068B95-2DA2-453B-8162-90B6AB26C20F}" type="presOf" srcId="{DC13AB6D-DEA2-4CBB-AC69-1EF1A6AD1512}" destId="{DA3A6BD4-857F-4C66-97FA-B1E1C180A950}" srcOrd="0" destOrd="0" presId="urn:microsoft.com/office/officeart/2016/7/layout/LinearBlockProcessNumbered"/>
    <dgm:cxn modelId="{07D44DA2-D4CF-4582-A029-20843D5E0F23}" type="presOf" srcId="{53742231-981F-480A-940F-203EC2F7423F}" destId="{C5BDCA19-B754-421E-A6CC-628F80FC74CB}" srcOrd="1" destOrd="0" presId="urn:microsoft.com/office/officeart/2016/7/layout/LinearBlockProcessNumbered"/>
    <dgm:cxn modelId="{E476EEBC-7C9F-4E07-BD58-1044B9769B64}" srcId="{8AA20905-3954-474B-A606-562BCA026DC1}" destId="{9EF41CC5-EF3B-4A6D-8229-3F1333EADFB3}" srcOrd="2" destOrd="0" parTransId="{DAEF1C7D-B0C5-46FA-BED3-8A54E918D3E0}" sibTransId="{98E6DD7C-B953-4119-9F64-9914E467ECBF}"/>
    <dgm:cxn modelId="{FDD130C2-CD74-4EFB-A226-A939177EE674}" type="presOf" srcId="{53742231-981F-480A-940F-203EC2F7423F}" destId="{00AE7F27-0E5D-4AFB-ACD6-B5A19E79EA42}" srcOrd="0" destOrd="0" presId="urn:microsoft.com/office/officeart/2016/7/layout/LinearBlockProcessNumbered"/>
    <dgm:cxn modelId="{F226B1C2-5D99-403A-8240-EAD6BD4D8534}" srcId="{8AA20905-3954-474B-A606-562BCA026DC1}" destId="{53742231-981F-480A-940F-203EC2F7423F}" srcOrd="1" destOrd="0" parTransId="{2FC75195-FBA1-43DE-85DD-40B4B3A2F1F3}" sibTransId="{EF449C32-A7AE-4099-9E9B-9E2F736A89CE}"/>
    <dgm:cxn modelId="{714928C7-F07E-48C4-BE9E-4842896AB09C}" type="presOf" srcId="{9C64CC83-643C-4E12-8F97-BC19DC031190}" destId="{BBA91679-4684-4A04-8AEB-03038C78A75C}" srcOrd="0" destOrd="0" presId="urn:microsoft.com/office/officeart/2016/7/layout/LinearBlockProcessNumbered"/>
    <dgm:cxn modelId="{7D7B6CF4-1A1D-4E61-B5FE-C95185EF2648}" type="presOf" srcId="{9EF41CC5-EF3B-4A6D-8229-3F1333EADFB3}" destId="{67D48337-9200-42EF-A956-8FC92E9B78D2}" srcOrd="1" destOrd="0" presId="urn:microsoft.com/office/officeart/2016/7/layout/LinearBlockProcessNumbered"/>
    <dgm:cxn modelId="{B9FDDAF6-ABE3-43D5-A54F-4A0002D3FD47}" type="presOf" srcId="{EF449C32-A7AE-4099-9E9B-9E2F736A89CE}" destId="{975C752B-C37A-4BA6-A3AE-2202A141404A}" srcOrd="0" destOrd="0" presId="urn:microsoft.com/office/officeart/2016/7/layout/LinearBlockProcessNumbered"/>
    <dgm:cxn modelId="{6A5BED3A-71F8-4A71-9E51-1F50D58497B5}" type="presParOf" srcId="{579698BD-D232-4926-8D7B-29A69B90858B}" destId="{3DD5B223-886E-4FC7-BDA1-ECA869A474EC}" srcOrd="0" destOrd="0" presId="urn:microsoft.com/office/officeart/2016/7/layout/LinearBlockProcessNumbered"/>
    <dgm:cxn modelId="{50ED9B3F-B939-4662-8866-7D833C2E0794}" type="presParOf" srcId="{3DD5B223-886E-4FC7-BDA1-ECA869A474EC}" destId="{DA3A6BD4-857F-4C66-97FA-B1E1C180A950}" srcOrd="0" destOrd="0" presId="urn:microsoft.com/office/officeart/2016/7/layout/LinearBlockProcessNumbered"/>
    <dgm:cxn modelId="{0D013F25-1B82-4F7B-AEF4-E93C2E95B0C3}" type="presParOf" srcId="{3DD5B223-886E-4FC7-BDA1-ECA869A474EC}" destId="{BBA91679-4684-4A04-8AEB-03038C78A75C}" srcOrd="1" destOrd="0" presId="urn:microsoft.com/office/officeart/2016/7/layout/LinearBlockProcessNumbered"/>
    <dgm:cxn modelId="{1E713196-E09A-42B0-BC2D-5294D0D9C36F}" type="presParOf" srcId="{3DD5B223-886E-4FC7-BDA1-ECA869A474EC}" destId="{5F398AEE-BC0F-4F30-99FA-92D67A176C2D}" srcOrd="2" destOrd="0" presId="urn:microsoft.com/office/officeart/2016/7/layout/LinearBlockProcessNumbered"/>
    <dgm:cxn modelId="{F8935481-B234-48A2-8E9B-6F423817537E}" type="presParOf" srcId="{579698BD-D232-4926-8D7B-29A69B90858B}" destId="{3C27A223-AC17-40BD-B7C5-0447661C2934}" srcOrd="1" destOrd="0" presId="urn:microsoft.com/office/officeart/2016/7/layout/LinearBlockProcessNumbered"/>
    <dgm:cxn modelId="{2A71550B-14EE-4B95-A40C-E132F64E84DB}" type="presParOf" srcId="{579698BD-D232-4926-8D7B-29A69B90858B}" destId="{0864151C-845B-4A50-9755-7EE613694D81}" srcOrd="2" destOrd="0" presId="urn:microsoft.com/office/officeart/2016/7/layout/LinearBlockProcessNumbered"/>
    <dgm:cxn modelId="{819F34FD-11F2-459D-B90D-FA1539737ADA}" type="presParOf" srcId="{0864151C-845B-4A50-9755-7EE613694D81}" destId="{00AE7F27-0E5D-4AFB-ACD6-B5A19E79EA42}" srcOrd="0" destOrd="0" presId="urn:microsoft.com/office/officeart/2016/7/layout/LinearBlockProcessNumbered"/>
    <dgm:cxn modelId="{FAA4A22E-63A9-40D7-AF37-15573F3C350A}" type="presParOf" srcId="{0864151C-845B-4A50-9755-7EE613694D81}" destId="{975C752B-C37A-4BA6-A3AE-2202A141404A}" srcOrd="1" destOrd="0" presId="urn:microsoft.com/office/officeart/2016/7/layout/LinearBlockProcessNumbered"/>
    <dgm:cxn modelId="{ABA4B620-C848-4944-B91E-2E492EED893C}" type="presParOf" srcId="{0864151C-845B-4A50-9755-7EE613694D81}" destId="{C5BDCA19-B754-421E-A6CC-628F80FC74CB}" srcOrd="2" destOrd="0" presId="urn:microsoft.com/office/officeart/2016/7/layout/LinearBlockProcessNumbered"/>
    <dgm:cxn modelId="{981D06A1-F8EB-4C14-9C2A-EA505D9C81FA}" type="presParOf" srcId="{579698BD-D232-4926-8D7B-29A69B90858B}" destId="{3E36C1DA-E751-469B-91D5-B7ADF3790DAB}" srcOrd="3" destOrd="0" presId="urn:microsoft.com/office/officeart/2016/7/layout/LinearBlockProcessNumbered"/>
    <dgm:cxn modelId="{D7BB022A-2504-497B-9672-D97F4CB95B15}" type="presParOf" srcId="{579698BD-D232-4926-8D7B-29A69B90858B}" destId="{19974A3A-09A4-40DE-BB0F-D9AED1ACB06E}" srcOrd="4" destOrd="0" presId="urn:microsoft.com/office/officeart/2016/7/layout/LinearBlockProcessNumbered"/>
    <dgm:cxn modelId="{A085F843-0169-43CB-B042-74EAB6E1674B}" type="presParOf" srcId="{19974A3A-09A4-40DE-BB0F-D9AED1ACB06E}" destId="{CAD62F17-E99D-4FEF-B376-961CA4CB20EB}" srcOrd="0" destOrd="0" presId="urn:microsoft.com/office/officeart/2016/7/layout/LinearBlockProcessNumbered"/>
    <dgm:cxn modelId="{A179DBCD-25F3-44B6-BAA7-26EBC7B29448}" type="presParOf" srcId="{19974A3A-09A4-40DE-BB0F-D9AED1ACB06E}" destId="{E20811D6-E5D4-4C9E-AABF-9E0E1902CA2C}" srcOrd="1" destOrd="0" presId="urn:microsoft.com/office/officeart/2016/7/layout/LinearBlockProcessNumbered"/>
    <dgm:cxn modelId="{7429BDE6-E17F-4E08-960D-D62B256C81F6}" type="presParOf" srcId="{19974A3A-09A4-40DE-BB0F-D9AED1ACB06E}" destId="{67D48337-9200-42EF-A956-8FC92E9B78D2}"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3A6BD4-857F-4C66-97FA-B1E1C180A950}">
      <dsp:nvSpPr>
        <dsp:cNvPr id="0" name=""/>
        <dsp:cNvSpPr/>
      </dsp:nvSpPr>
      <dsp:spPr>
        <a:xfrm>
          <a:off x="808" y="0"/>
          <a:ext cx="3275967" cy="3714750"/>
        </a:xfrm>
        <a:prstGeom prst="rect">
          <a:avLst/>
        </a:prstGeom>
        <a:solidFill>
          <a:schemeClr val="accent2">
            <a:hueOff val="0"/>
            <a:satOff val="0"/>
            <a:lumOff val="0"/>
            <a:alphaOff val="0"/>
          </a:schemeClr>
        </a:solidFill>
        <a:ln w="15875" cap="rnd"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889000">
            <a:lnSpc>
              <a:spcPct val="90000"/>
            </a:lnSpc>
            <a:spcBef>
              <a:spcPct val="0"/>
            </a:spcBef>
            <a:spcAft>
              <a:spcPct val="35000"/>
            </a:spcAft>
            <a:buNone/>
            <a:defRPr cap="all"/>
          </a:pPr>
          <a:r>
            <a:rPr lang="en-IN" sz="2000" b="0" i="0" kern="1200" dirty="0">
              <a:solidFill>
                <a:schemeClr val="tx1"/>
              </a:solidFill>
              <a:effectLst/>
              <a:latin typeface="Times New Roman" panose="02020603050405020304" pitchFamily="18" charset="0"/>
              <a:cs typeface="Times New Roman" panose="02020603050405020304" pitchFamily="18" charset="0"/>
            </a:rPr>
            <a:t>What is Git ?                                                        Basic Git Commands</a:t>
          </a:r>
          <a:endParaRPr lang="en-US" sz="2000" kern="1200" dirty="0"/>
        </a:p>
      </dsp:txBody>
      <dsp:txXfrm>
        <a:off x="808" y="1485900"/>
        <a:ext cx="3275967" cy="2228850"/>
      </dsp:txXfrm>
    </dsp:sp>
    <dsp:sp modelId="{BBA91679-4684-4A04-8AEB-03038C78A75C}">
      <dsp:nvSpPr>
        <dsp:cNvPr id="0" name=""/>
        <dsp:cNvSpPr/>
      </dsp:nvSpPr>
      <dsp:spPr>
        <a:xfrm>
          <a:off x="808" y="0"/>
          <a:ext cx="3275967" cy="148590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01</a:t>
          </a:r>
          <a:endParaRPr lang="en-US" sz="6600" kern="1200" dirty="0"/>
        </a:p>
      </dsp:txBody>
      <dsp:txXfrm>
        <a:off x="808" y="0"/>
        <a:ext cx="3275967" cy="1485900"/>
      </dsp:txXfrm>
    </dsp:sp>
    <dsp:sp modelId="{00AE7F27-0E5D-4AFB-ACD6-B5A19E79EA42}">
      <dsp:nvSpPr>
        <dsp:cNvPr id="0" name=""/>
        <dsp:cNvSpPr/>
      </dsp:nvSpPr>
      <dsp:spPr>
        <a:xfrm>
          <a:off x="3538853" y="0"/>
          <a:ext cx="3275967" cy="3714750"/>
        </a:xfrm>
        <a:prstGeom prst="rect">
          <a:avLst/>
        </a:prstGeom>
        <a:solidFill>
          <a:schemeClr val="accent3">
            <a:hueOff val="0"/>
            <a:satOff val="0"/>
            <a:lumOff val="0"/>
            <a:alphaOff val="0"/>
          </a:schemeClr>
        </a:solidFill>
        <a:ln w="15875" cap="rnd"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889000">
            <a:lnSpc>
              <a:spcPct val="90000"/>
            </a:lnSpc>
            <a:spcBef>
              <a:spcPct val="0"/>
            </a:spcBef>
            <a:spcAft>
              <a:spcPct val="35000"/>
            </a:spcAft>
            <a:buNone/>
            <a:defRPr cap="all"/>
          </a:pPr>
          <a:r>
            <a:rPr lang="en-IN" sz="2000" b="0" i="0" kern="120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What is a Git Merge Conflict?     </a:t>
          </a:r>
          <a:r>
            <a:rPr lang="en-IN" sz="2000" b="0" i="0" kern="1200" dirty="0">
              <a:solidFill>
                <a:schemeClr val="tx1"/>
              </a:solidFill>
              <a:effectLst/>
              <a:latin typeface="Times New Roman" panose="02020603050405020304" pitchFamily="18" charset="0"/>
              <a:cs typeface="Times New Roman" panose="02020603050405020304" pitchFamily="18" charset="0"/>
            </a:rPr>
            <a:t>Basic Git Commands</a:t>
          </a:r>
          <a:endParaRPr lang="en-US" sz="2000" kern="1200" dirty="0"/>
        </a:p>
      </dsp:txBody>
      <dsp:txXfrm>
        <a:off x="3538853" y="1485900"/>
        <a:ext cx="3275967" cy="2228850"/>
      </dsp:txXfrm>
    </dsp:sp>
    <dsp:sp modelId="{975C752B-C37A-4BA6-A3AE-2202A141404A}">
      <dsp:nvSpPr>
        <dsp:cNvPr id="0" name=""/>
        <dsp:cNvSpPr/>
      </dsp:nvSpPr>
      <dsp:spPr>
        <a:xfrm>
          <a:off x="3538853" y="0"/>
          <a:ext cx="3275967" cy="148590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02</a:t>
          </a:r>
        </a:p>
      </dsp:txBody>
      <dsp:txXfrm>
        <a:off x="3538853" y="0"/>
        <a:ext cx="3275967" cy="1485900"/>
      </dsp:txXfrm>
    </dsp:sp>
    <dsp:sp modelId="{CAD62F17-E99D-4FEF-B376-961CA4CB20EB}">
      <dsp:nvSpPr>
        <dsp:cNvPr id="0" name=""/>
        <dsp:cNvSpPr/>
      </dsp:nvSpPr>
      <dsp:spPr>
        <a:xfrm>
          <a:off x="7076898" y="0"/>
          <a:ext cx="3275967" cy="3714750"/>
        </a:xfrm>
        <a:prstGeom prst="rect">
          <a:avLst/>
        </a:prstGeom>
        <a:solidFill>
          <a:schemeClr val="accent4">
            <a:hueOff val="0"/>
            <a:satOff val="0"/>
            <a:lumOff val="0"/>
            <a:alphaOff val="0"/>
          </a:schemeClr>
        </a:solidFill>
        <a:ln w="15875" cap="rnd"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23593" tIns="0" rIns="323593" bIns="330200" numCol="1" spcCol="1270" anchor="t" anchorCtr="0">
          <a:noAutofit/>
        </a:bodyPr>
        <a:lstStyle/>
        <a:p>
          <a:pPr marL="0" lvl="0" indent="0" algn="l" defTabSz="889000">
            <a:lnSpc>
              <a:spcPct val="90000"/>
            </a:lnSpc>
            <a:spcBef>
              <a:spcPct val="0"/>
            </a:spcBef>
            <a:spcAft>
              <a:spcPct val="35000"/>
            </a:spcAft>
            <a:buNone/>
            <a:defRPr cap="all"/>
          </a:pPr>
          <a:r>
            <a:rPr lang="en-IN" sz="2000" b="0" i="0" kern="1200" dirty="0">
              <a:solidFill>
                <a:schemeClr val="tx1"/>
              </a:solidFill>
              <a:effectLst/>
              <a:latin typeface="Times New Roman" panose="02020603050405020304" pitchFamily="18" charset="0"/>
              <a:cs typeface="Times New Roman" panose="02020603050405020304" pitchFamily="18" charset="0"/>
            </a:rPr>
            <a:t>How to Resolve Merge Conflicts in Git?                                                                                                                                                                                                                                                                                                           How to Resolve Merge Conflicts in Git?</a:t>
          </a:r>
          <a:br>
            <a:rPr lang="en-IN" sz="2000" b="0" i="0" kern="1200" dirty="0">
              <a:solidFill>
                <a:srgbClr val="272C37"/>
              </a:solidFill>
              <a:effectLst/>
              <a:latin typeface="Roboto" panose="02000000000000000000" pitchFamily="2" charset="0"/>
            </a:rPr>
          </a:br>
          <a:endParaRPr lang="en-US" sz="2000" kern="1200" dirty="0"/>
        </a:p>
      </dsp:txBody>
      <dsp:txXfrm>
        <a:off x="7076898" y="1485900"/>
        <a:ext cx="3275967" cy="2228850"/>
      </dsp:txXfrm>
    </dsp:sp>
    <dsp:sp modelId="{E20811D6-E5D4-4C9E-AABF-9E0E1902CA2C}">
      <dsp:nvSpPr>
        <dsp:cNvPr id="0" name=""/>
        <dsp:cNvSpPr/>
      </dsp:nvSpPr>
      <dsp:spPr>
        <a:xfrm>
          <a:off x="7076898" y="0"/>
          <a:ext cx="3275967" cy="1485900"/>
        </a:xfrm>
        <a:prstGeom prst="rect">
          <a:avLst/>
        </a:prstGeom>
        <a:noFill/>
        <a:ln w="15875" cap="rnd" cmpd="sng" algn="ctr">
          <a:noFill/>
          <a:prstDash val="solid"/>
        </a:ln>
        <a:effectLst/>
        <a:sp3d/>
      </dsp:spPr>
      <dsp:style>
        <a:lnRef idx="2">
          <a:scrgbClr r="0" g="0" b="0"/>
        </a:lnRef>
        <a:fillRef idx="1">
          <a:scrgbClr r="0" g="0" b="0"/>
        </a:fillRef>
        <a:effectRef idx="0">
          <a:scrgbClr r="0" g="0" b="0"/>
        </a:effectRef>
        <a:fontRef idx="minor">
          <a:schemeClr val="lt1"/>
        </a:fontRef>
      </dsp:style>
      <dsp:txBody>
        <a:bodyPr spcFirstLastPara="0" vert="horz" wrap="square" lIns="323593" tIns="165100" rIns="323593" bIns="165100" numCol="1" spcCol="1270" anchor="ctr" anchorCtr="0">
          <a:noAutofit/>
        </a:bodyPr>
        <a:lstStyle/>
        <a:p>
          <a:pPr marL="0" lvl="0" indent="0" algn="l" defTabSz="2933700">
            <a:lnSpc>
              <a:spcPct val="90000"/>
            </a:lnSpc>
            <a:spcBef>
              <a:spcPct val="0"/>
            </a:spcBef>
            <a:spcAft>
              <a:spcPct val="35000"/>
            </a:spcAft>
            <a:buNone/>
          </a:pPr>
          <a:r>
            <a:rPr lang="en-US" sz="6600" kern="1200"/>
            <a:t>03</a:t>
          </a:r>
        </a:p>
      </dsp:txBody>
      <dsp:txXfrm>
        <a:off x="7076898" y="0"/>
        <a:ext cx="3275967" cy="1485900"/>
      </dsp:txXfrm>
    </dsp:sp>
  </dsp:spTree>
</dsp:drawing>
</file>

<file path=ppt/diagrams/layout1.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370693" y="1769540"/>
            <a:ext cx="9440034" cy="1828801"/>
          </a:xfrm>
        </p:spPr>
        <p:txBody>
          <a:bodyPr anchor="b">
            <a:normAutofit/>
          </a:bodyPr>
          <a:lstStyle>
            <a:lvl1pPr algn="ctr">
              <a:defRPr sz="5400"/>
            </a:lvl1pPr>
          </a:lstStyle>
          <a:p>
            <a:r>
              <a:rPr lang="en-US"/>
              <a:t>Click to edit Master title style</a:t>
            </a:r>
            <a:endParaRPr lang="en-US" dirty="0"/>
          </a:p>
        </p:txBody>
      </p:sp>
      <p:sp>
        <p:nvSpPr>
          <p:cNvPr id="3" name="Subtitle 2"/>
          <p:cNvSpPr>
            <a:spLocks noGrp="1"/>
          </p:cNvSpPr>
          <p:nvPr>
            <p:ph type="subTitle" idx="1"/>
          </p:nvPr>
        </p:nvSpPr>
        <p:spPr>
          <a:xfrm>
            <a:off x="1370693" y="3773489"/>
            <a:ext cx="9440034" cy="1049867"/>
          </a:xfrm>
        </p:spPr>
        <p:txBody>
          <a:bodyPr anchor="t"/>
          <a:lstStyle>
            <a:lvl1pPr marL="0" indent="0" algn="ctr">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88D38747-4367-4BD2-8D51-C97E202738E2}" type="datetime1">
              <a:rPr lang="en-US" smtClean="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3852525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73C55A3C-5767-4844-A0A3-83778C2E5409}" type="datetime1">
              <a:rPr lang="en-US" smtClean="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7858651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95401" y="1761067"/>
            <a:ext cx="9590550" cy="1828813"/>
          </a:xfrm>
        </p:spPr>
        <p:txBody>
          <a:bodyPr anchor="b"/>
          <a:lstStyle>
            <a:lvl1pPr algn="ct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295401" y="3763439"/>
            <a:ext cx="9590550" cy="1333494"/>
          </a:xfrm>
        </p:spPr>
        <p:txBody>
          <a:bodyPr anchor="t"/>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AE507A8-A5CF-4D38-AB86-7EDDA87A85D4}" type="datetime1">
              <a:rPr lang="en-US" smtClean="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122648687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1261872"/>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76450"/>
            <a:ext cx="4856841" cy="3622671"/>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0716" y="2076451"/>
            <a:ext cx="4856841" cy="3622672"/>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DFCD27C-8599-43EF-BA1D-14DDC1946E06}" type="datetime1">
              <a:rPr lang="en-US" smtClean="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7517566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20" name="Picture 19" descr="Slate-V2-HD-compPhotoInset.png">
            <a:extLst>
              <a:ext uri="{FF2B5EF4-FFF2-40B4-BE49-F238E27FC236}">
                <a16:creationId xmlns:a16="http://schemas.microsoft.com/office/drawing/2014/main" id="{37B721FF-D609-4D98-9D19-CF75AA8A54F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3795" y="1734506"/>
            <a:ext cx="5029200" cy="4099959"/>
          </a:xfrm>
          <a:prstGeom prst="rect">
            <a:avLst/>
          </a:prstGeom>
        </p:spPr>
      </p:pic>
      <p:pic>
        <p:nvPicPr>
          <p:cNvPr id="21" name="Picture 20" descr="Slate-V2-HD-compPhotoInset.png">
            <a:extLst>
              <a:ext uri="{FF2B5EF4-FFF2-40B4-BE49-F238E27FC236}">
                <a16:creationId xmlns:a16="http://schemas.microsoft.com/office/drawing/2014/main" id="{073936BD-C868-433F-8E84-D6DD8E640E3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238357" y="1734506"/>
            <a:ext cx="5029200" cy="4099959"/>
          </a:xfrm>
          <a:prstGeom prst="rect">
            <a:avLst/>
          </a:prstGeom>
        </p:spPr>
      </p:pic>
      <p:sp>
        <p:nvSpPr>
          <p:cNvPr id="2" name="Title 1"/>
          <p:cNvSpPr>
            <a:spLocks noGrp="1"/>
          </p:cNvSpPr>
          <p:nvPr>
            <p:ph type="title"/>
          </p:nvPr>
        </p:nvSpPr>
        <p:spPr>
          <a:xfrm>
            <a:off x="913795" y="609600"/>
            <a:ext cx="10353762" cy="970450"/>
          </a:xfrm>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046013" y="1855153"/>
            <a:ext cx="4764764" cy="692494"/>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046013" y="2702103"/>
            <a:ext cx="4764764"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363166" y="1855152"/>
            <a:ext cx="4779582" cy="692495"/>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363167" y="2702103"/>
            <a:ext cx="4779581" cy="3043533"/>
          </a:xfrm>
        </p:spPr>
        <p:txBody>
          <a:bodyPr anchor="t">
            <a:normAutofit/>
          </a:bodyPr>
          <a:lstStyle>
            <a:lvl1pPr>
              <a:defRPr sz="1800"/>
            </a:lvl1pPr>
            <a:lvl2pPr>
              <a:defRPr sz="1600"/>
            </a:lvl2pPr>
            <a:lvl3pPr>
              <a:defRPr sz="1400"/>
            </a:lvl3pPr>
            <a:lvl4pPr>
              <a:defRPr sz="1200"/>
            </a:lvl4pPr>
            <a:lvl5pPr>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49343D99-809A-49C0-96E5-4250D0B498EE}" type="datetime1">
              <a:rPr lang="en-US" smtClean="0"/>
              <a:t>7/1/2022</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6088870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A143DE9B-B678-4EFB-BB7D-A4370204A0B0}" type="datetime1">
              <a:rPr lang="en-US" smtClean="0"/>
              <a:t>7/1/2022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1648886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68812DA-F765-4142-A6A3-A8ED7235E082}" type="datetime1">
              <a:rPr lang="en-US" smtClean="0"/>
              <a:t>7/1/2022</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76591663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3706889" cy="1821918"/>
          </a:xfrm>
        </p:spPr>
        <p:txBody>
          <a:bodyPr anchor="b">
            <a:normAutofit/>
          </a:bodyPr>
          <a:lstStyle>
            <a:lvl1pPr algn="ctr">
              <a:defRPr sz="2800" b="0"/>
            </a:lvl1pPr>
          </a:lstStyle>
          <a:p>
            <a:r>
              <a:rPr lang="en-US"/>
              <a:t>Click to edit Master title style</a:t>
            </a:r>
            <a:endParaRPr lang="en-US" dirty="0"/>
          </a:p>
        </p:txBody>
      </p:sp>
      <p:sp>
        <p:nvSpPr>
          <p:cNvPr id="3" name="Content Placeholder 2"/>
          <p:cNvSpPr>
            <a:spLocks noGrp="1"/>
          </p:cNvSpPr>
          <p:nvPr>
            <p:ph idx="1"/>
          </p:nvPr>
        </p:nvSpPr>
        <p:spPr>
          <a:xfrm>
            <a:off x="4855633" y="609600"/>
            <a:ext cx="6411924" cy="5080001"/>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3795" y="2673351"/>
            <a:ext cx="3706889" cy="3016250"/>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3E0277FD-7DE6-41D4-930D-AC99F5AFE54E}" type="datetime1">
              <a:rPr lang="en-US" smtClean="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pPr/>
              <a:t>‹#›</a:t>
            </a:fld>
            <a:endParaRPr lang="en-US" dirty="0"/>
          </a:p>
        </p:txBody>
      </p:sp>
    </p:spTree>
    <p:extLst>
      <p:ext uri="{BB962C8B-B14F-4D97-AF65-F5344CB8AC3E}">
        <p14:creationId xmlns:p14="http://schemas.microsoft.com/office/powerpoint/2010/main" val="5964791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22" name="Picture 21" descr="Slate-V2-HD-vertPhotoInset.png">
            <a:extLst>
              <a:ext uri="{FF2B5EF4-FFF2-40B4-BE49-F238E27FC236}">
                <a16:creationId xmlns:a16="http://schemas.microsoft.com/office/drawing/2014/main" id="{4D06E496-ACBA-4063-B4A1-C5C484EE5A7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293665" y="609600"/>
            <a:ext cx="3584166" cy="5204832"/>
          </a:xfrm>
          <a:prstGeom prst="rect">
            <a:avLst/>
          </a:prstGeom>
        </p:spPr>
      </p:pic>
      <p:sp>
        <p:nvSpPr>
          <p:cNvPr id="2" name="Title 1"/>
          <p:cNvSpPr>
            <a:spLocks noGrp="1"/>
          </p:cNvSpPr>
          <p:nvPr>
            <p:ph type="title"/>
          </p:nvPr>
        </p:nvSpPr>
        <p:spPr>
          <a:xfrm>
            <a:off x="913795" y="763701"/>
            <a:ext cx="5707899" cy="1675559"/>
          </a:xfrm>
        </p:spPr>
        <p:txBody>
          <a:bodyPr anchor="b">
            <a:noAutofit/>
          </a:bodyPr>
          <a:lstStyle>
            <a:lvl1pPr algn="ctr">
              <a:defRPr sz="32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42551" y="763702"/>
            <a:ext cx="3275751" cy="4912822"/>
          </a:xfr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473698" y="2679699"/>
            <a:ext cx="4588094" cy="3135695"/>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EA15526-7079-4B7B-987C-1B5FAE11A0FF}" type="datetime1">
              <a:rPr lang="en-US" smtClean="0"/>
              <a:t>7/1/2022</a:t>
            </a:fld>
            <a:endParaRPr lang="en-US" dirty="0"/>
          </a:p>
        </p:txBody>
      </p:sp>
      <p:sp>
        <p:nvSpPr>
          <p:cNvPr id="6" name="Footer Placeholder 5"/>
          <p:cNvSpPr>
            <a:spLocks noGrp="1"/>
          </p:cNvSpPr>
          <p:nvPr>
            <p:ph type="ftr" sz="quarter" idx="11"/>
          </p:nvPr>
        </p:nvSpPr>
        <p:spPr/>
        <p:txBody>
          <a:bodyPr/>
          <a:lstStyle/>
          <a:p>
            <a:pPr algn="l"/>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2637870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6" name="Picture 15" descr="Slate-V2-HD-panoPhotoInset.png">
            <a:extLst>
              <a:ext uri="{FF2B5EF4-FFF2-40B4-BE49-F238E27FC236}">
                <a16:creationId xmlns:a16="http://schemas.microsoft.com/office/drawing/2014/main" id="{CE39118B-B3AD-4BD4-BA22-DEFF4E76CE9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13883" y="547807"/>
            <a:ext cx="10141799" cy="3816806"/>
          </a:xfrm>
          <a:prstGeom prst="rect">
            <a:avLst/>
          </a:prstGeom>
        </p:spPr>
      </p:pic>
      <p:sp>
        <p:nvSpPr>
          <p:cNvPr id="2" name="Title 1"/>
          <p:cNvSpPr>
            <a:spLocks noGrp="1"/>
          </p:cNvSpPr>
          <p:nvPr>
            <p:ph type="title"/>
          </p:nvPr>
        </p:nvSpPr>
        <p:spPr>
          <a:xfrm>
            <a:off x="913806" y="4565255"/>
            <a:ext cx="10355326" cy="543472"/>
          </a:xfrm>
        </p:spPr>
        <p:txBody>
          <a:bodyPr anchor="b">
            <a:normAutofit/>
          </a:bodyPr>
          <a:lstStyle>
            <a:lvl1pPr algn="ct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69349" y="695009"/>
            <a:ext cx="9845346" cy="3525671"/>
          </a:xfrm>
          <a:effectLst>
            <a:outerShdw blurRad="38100" dist="25400" dir="4440000">
              <a:srgbClr val="000000">
                <a:alpha val="36000"/>
              </a:srgbClr>
            </a:outerShdw>
          </a:effectLst>
        </p:spPr>
        <p:txBody>
          <a:bodyPr anchor="t">
            <a:normAutofit/>
          </a:bodyPr>
          <a:lstStyle>
            <a:lvl1pPr marL="0" indent="0" algn="ctr">
              <a:buNone/>
              <a:defRPr sz="2000"/>
            </a:lvl1pPr>
            <a:lvl2pPr marL="457200" indent="0">
              <a:buNone/>
              <a:defRPr sz="2000"/>
            </a:lvl2pPr>
            <a:lvl3pPr marL="914400" indent="0">
              <a:buNone/>
              <a:defRPr sz="20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247728"/>
            <a:ext cx="10353762" cy="543472"/>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1F1B079-7EF0-44EE-B798-BCC497C9F3B2}" type="datetime1">
              <a:rPr lang="en-US" smtClean="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21466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8437"/>
            <a:ext cx="10353762" cy="3534344"/>
          </a:xfrm>
        </p:spPr>
        <p:txBody>
          <a:bodyPr anchor="ctr">
            <a:normAutofit/>
          </a:bodyPr>
          <a:lstStyle>
            <a:lvl1pPr>
              <a:defRPr sz="4000"/>
            </a:lvl1pPr>
          </a:lstStyle>
          <a:p>
            <a:r>
              <a:rPr lang="en-US"/>
              <a:t>Click to edit Master title style</a:t>
            </a:r>
            <a:endParaRPr lang="en-US" dirty="0"/>
          </a:p>
        </p:txBody>
      </p:sp>
      <p:sp>
        <p:nvSpPr>
          <p:cNvPr id="4" name="Text Placeholder 3"/>
          <p:cNvSpPr>
            <a:spLocks noGrp="1"/>
          </p:cNvSpPr>
          <p:nvPr>
            <p:ph type="body" sz="half" idx="2"/>
          </p:nvPr>
        </p:nvSpPr>
        <p:spPr>
          <a:xfrm>
            <a:off x="913794" y="4295180"/>
            <a:ext cx="10353763" cy="150182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8FF70A8-1D13-4657-95F0-A9EA54967B8D}" type="datetime1">
              <a:rPr lang="en-US" smtClean="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58120556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532749"/>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304353"/>
            <a:ext cx="10353763" cy="1489496"/>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1EB90AC-71BD-4C7F-8ACA-7B3F18292E63}" type="datetime1">
              <a:rPr lang="en-US" smtClean="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
        <p:nvSpPr>
          <p:cNvPr id="11" name="TextBox 10">
            <a:extLst>
              <a:ext uri="{FF2B5EF4-FFF2-40B4-BE49-F238E27FC236}">
                <a16:creationId xmlns:a16="http://schemas.microsoft.com/office/drawing/2014/main" id="{223F0D53-0705-41B7-8554-09D21E7807F9}"/>
              </a:ext>
            </a:extLst>
          </p:cNvPr>
          <p:cNvSpPr txBox="1"/>
          <p:nvPr/>
        </p:nvSpPr>
        <p:spPr>
          <a:xfrm>
            <a:off x="990600" y="88479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a:extLst>
              <a:ext uri="{FF2B5EF4-FFF2-40B4-BE49-F238E27FC236}">
                <a16:creationId xmlns:a16="http://schemas.microsoft.com/office/drawing/2014/main" id="{C7F647CD-0F1A-4BB3-89E0-A74F1E1B098D}"/>
              </a:ext>
            </a:extLst>
          </p:cNvPr>
          <p:cNvSpPr txBox="1"/>
          <p:nvPr/>
        </p:nvSpPr>
        <p:spPr>
          <a:xfrm>
            <a:off x="10504716" y="292825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148059434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794" y="2126942"/>
            <a:ext cx="10353763"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84" y="4650556"/>
            <a:ext cx="10352199"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E6EFC2C-8905-46F0-B443-CE905B76BA01}" type="datetime1">
              <a:rPr lang="en-US" smtClean="0"/>
              <a:t>7/1/2022</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315883623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5" y="609600"/>
            <a:ext cx="10353762" cy="970450"/>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5"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6711" y="1885949"/>
            <a:ext cx="3300984" cy="764783"/>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1435" y="2768112"/>
            <a:ext cx="3300984" cy="302308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66572" y="1885950"/>
            <a:ext cx="3300984" cy="764782"/>
          </a:xfrm>
        </p:spPr>
        <p:txBody>
          <a:bodyPr anchor="b">
            <a:noAutofit/>
          </a:bodyPr>
          <a:lstStyle>
            <a:lvl1pPr marL="0" indent="0" algn="ctr">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66572" y="2768110"/>
            <a:ext cx="3300984" cy="302308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D9079DC3-C9B5-499E-9140-0DC28B7074E2}" type="datetime1">
              <a:rPr lang="en-US" smtClean="0"/>
              <a:t>7/1/2022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238740690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2" name="Picture 1" descr="Slate-V2-HD-3colPhotoInset.png">
            <a:extLst>
              <a:ext uri="{FF2B5EF4-FFF2-40B4-BE49-F238E27FC236}">
                <a16:creationId xmlns:a16="http://schemas.microsoft.com/office/drawing/2014/main" id="{7E87C569-D426-4615-ADA7-B370EA98340A}"/>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7962" y="1818214"/>
            <a:ext cx="3339972" cy="1847851"/>
          </a:xfrm>
          <a:prstGeom prst="rect">
            <a:avLst/>
          </a:prstGeom>
        </p:spPr>
      </p:pic>
      <p:pic>
        <p:nvPicPr>
          <p:cNvPr id="36" name="Picture 35" descr="Slate-V2-HD-3colPhotoInset.png">
            <a:extLst>
              <a:ext uri="{FF2B5EF4-FFF2-40B4-BE49-F238E27FC236}">
                <a16:creationId xmlns:a16="http://schemas.microsoft.com/office/drawing/2014/main" id="{7B353ED4-7AD0-46C9-88ED-1A16B1433AF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03800" y="1818214"/>
            <a:ext cx="3339972" cy="1847851"/>
          </a:xfrm>
          <a:prstGeom prst="rect">
            <a:avLst/>
          </a:prstGeom>
        </p:spPr>
      </p:pic>
      <p:pic>
        <p:nvPicPr>
          <p:cNvPr id="37" name="Picture 36" descr="Slate-V2-HD-3colPhotoInset.png">
            <a:extLst>
              <a:ext uri="{FF2B5EF4-FFF2-40B4-BE49-F238E27FC236}">
                <a16:creationId xmlns:a16="http://schemas.microsoft.com/office/drawing/2014/main" id="{F561D985-AD57-459A-B3A6-EBF29603976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7936051" y="1818214"/>
            <a:ext cx="3339972" cy="1847851"/>
          </a:xfrm>
          <a:prstGeom prst="rect">
            <a:avLst/>
          </a:prstGeom>
        </p:spPr>
      </p:pic>
      <p:sp>
        <p:nvSpPr>
          <p:cNvPr id="30" name="Title 1"/>
          <p:cNvSpPr>
            <a:spLocks noGrp="1"/>
          </p:cNvSpPr>
          <p:nvPr>
            <p:ph type="title"/>
          </p:nvPr>
        </p:nvSpPr>
        <p:spPr>
          <a:xfrm>
            <a:off x="913794" y="609600"/>
            <a:ext cx="10353763" cy="97045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18102" y="1938918"/>
            <a:ext cx="3092368" cy="160295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572443"/>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88"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45743" y="1939094"/>
            <a:ext cx="3092368" cy="160816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435"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66697" y="3904106"/>
            <a:ext cx="3300984" cy="576262"/>
          </a:xfrm>
        </p:spPr>
        <p:txBody>
          <a:bodyPr anchor="b">
            <a:noAutofit/>
          </a:bodyPr>
          <a:lstStyle>
            <a:lvl1pPr marL="0" indent="0" algn="ctr">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075698" y="1934432"/>
            <a:ext cx="3092368" cy="1607294"/>
          </a:xfrm>
          <a:prstGeom prst="roundRect">
            <a:avLst>
              <a:gd name="adj" fmla="val 1858"/>
            </a:avLst>
          </a:prstGeom>
          <a:effectLst>
            <a:outerShdw blurRad="38100" dist="25400" dir="4440000">
              <a:srgbClr val="000000">
                <a:alpha val="36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66572" y="4572442"/>
            <a:ext cx="3300984" cy="121875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30BB33EA-E472-4D22-9C03-A9C14AA21CED}" type="datetime1">
              <a:rPr lang="en-US" smtClean="0"/>
              <a:t>7/1/2022</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462302683"/>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17E833E-1B6D-415F-AD29-75AE8C43BD0D}" type="datetime1">
              <a:rPr lang="en-US" smtClean="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409415868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83068" y="609599"/>
            <a:ext cx="228448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6" y="609599"/>
            <a:ext cx="7916872" cy="5181601"/>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452596F-08A7-4B70-989A-F2B1CF31E66B}" type="datetime1">
              <a:rPr lang="en-US" smtClean="0"/>
              <a:t>7/1/2022</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3A98EE3D-8CD1-4C3F-BD1C-C98C9596463C}" type="slidenum">
              <a:rPr lang="en-US" smtClean="0"/>
              <a:t>‹#›</a:t>
            </a:fld>
            <a:endParaRPr lang="en-US" dirty="0"/>
          </a:p>
        </p:txBody>
      </p:sp>
    </p:spTree>
    <p:extLst>
      <p:ext uri="{BB962C8B-B14F-4D97-AF65-F5344CB8AC3E}">
        <p14:creationId xmlns:p14="http://schemas.microsoft.com/office/powerpoint/2010/main" val="153452774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2" cy="1257300"/>
          </a:xfrm>
          <a:prstGeom prst="rect">
            <a:avLst/>
          </a:prstGeom>
          <a:effectLst>
            <a:outerShdw blurRad="25400" dir="17880000">
              <a:srgbClr val="000000">
                <a:alpha val="46000"/>
              </a:srgbClr>
            </a:outerShdw>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76450"/>
            <a:ext cx="10353762" cy="3714749"/>
          </a:xfrm>
          <a:prstGeom prst="rect">
            <a:avLst/>
          </a:prstGeom>
          <a:effectLst>
            <a:outerShdw blurRad="25400" dir="17880000">
              <a:srgbClr val="000000">
                <a:alpha val="46000"/>
              </a:srgbClr>
            </a:outerShdw>
          </a:effectLst>
        </p:spPr>
        <p:txBody>
          <a:bodyPr vert="horz" lIns="91440" tIns="45720" rIns="91440" bIns="45720" rtlCol="0"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6000749"/>
            <a:ext cx="2743200"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073ED0CC-082F-4160-86E5-0D6041F12778}" type="datetime1">
              <a:rPr lang="en-US" smtClean="0"/>
              <a:t>7/1/2022</a:t>
            </a:fld>
            <a:endParaRPr lang="en-US" dirty="0"/>
          </a:p>
        </p:txBody>
      </p:sp>
      <p:sp>
        <p:nvSpPr>
          <p:cNvPr id="5" name="Footer Placeholder 4"/>
          <p:cNvSpPr>
            <a:spLocks noGrp="1"/>
          </p:cNvSpPr>
          <p:nvPr>
            <p:ph type="ftr" sz="quarter" idx="3"/>
          </p:nvPr>
        </p:nvSpPr>
        <p:spPr>
          <a:xfrm>
            <a:off x="913795" y="6000749"/>
            <a:ext cx="6672865" cy="365125"/>
          </a:xfrm>
          <a:prstGeom prst="rect">
            <a:avLst/>
          </a:prstGeom>
        </p:spPr>
        <p:txBody>
          <a:bodyPr vert="horz" lIns="91440" tIns="45720" rIns="91440" bIns="45720" rtlCol="0" anchor="ctr"/>
          <a:lstStyle>
            <a:lvl1pPr algn="l">
              <a:defRPr sz="1100">
                <a:solidFill>
                  <a:schemeClr val="tx1">
                    <a:lumMod val="95000"/>
                  </a:schemeClr>
                </a:solidFill>
                <a:effectLst>
                  <a:outerShdw blurRad="50800" dist="38100" dir="2700000" algn="tl" rotWithShape="0">
                    <a:schemeClr val="bg1">
                      <a:alpha val="43000"/>
                    </a:schemeClr>
                  </a:outerShdw>
                </a:effectLst>
              </a:defRPr>
            </a:lvl1pPr>
          </a:lstStyle>
          <a:p>
            <a:endParaRPr lang="en-US" dirty="0"/>
          </a:p>
        </p:txBody>
      </p:sp>
      <p:sp>
        <p:nvSpPr>
          <p:cNvPr id="6" name="Slide Number Placeholder 5"/>
          <p:cNvSpPr>
            <a:spLocks noGrp="1"/>
          </p:cNvSpPr>
          <p:nvPr>
            <p:ph type="sldNum" sz="quarter" idx="4"/>
          </p:nvPr>
        </p:nvSpPr>
        <p:spPr>
          <a:xfrm>
            <a:off x="10514011" y="6000749"/>
            <a:ext cx="753545" cy="365125"/>
          </a:xfrm>
          <a:prstGeom prst="rect">
            <a:avLst/>
          </a:prstGeom>
        </p:spPr>
        <p:txBody>
          <a:bodyPr vert="horz" lIns="91440" tIns="45720" rIns="91440" bIns="45720" rtlCol="0" anchor="ctr"/>
          <a:lstStyle>
            <a:lvl1pPr algn="r">
              <a:defRPr sz="1100">
                <a:solidFill>
                  <a:schemeClr val="tx1">
                    <a:lumMod val="95000"/>
                  </a:schemeClr>
                </a:solidFill>
                <a:effectLst>
                  <a:outerShdw blurRad="50800" dist="38100" dir="2700000" algn="tl" rotWithShape="0">
                    <a:schemeClr val="bg1">
                      <a:alpha val="43000"/>
                    </a:schemeClr>
                  </a:outerShdw>
                </a:effectLst>
              </a:defRPr>
            </a:lvl1pPr>
          </a:lstStyle>
          <a:p>
            <a:fld id="{3A98EE3D-8CD1-4C3F-BD1C-C98C9596463C}" type="slidenum">
              <a:rPr lang="en-US" smtClean="0"/>
              <a:t>‹#›</a:t>
            </a:fld>
            <a:endParaRPr lang="en-US" dirty="0"/>
          </a:p>
        </p:txBody>
      </p:sp>
    </p:spTree>
    <p:extLst>
      <p:ext uri="{BB962C8B-B14F-4D97-AF65-F5344CB8AC3E}">
        <p14:creationId xmlns:p14="http://schemas.microsoft.com/office/powerpoint/2010/main" val="1069802776"/>
      </p:ext>
    </p:extLst>
  </p:cSld>
  <p:clrMap bg1="dk1" tx1="lt1" bg2="dk2" tx2="lt2" accent1="accent1" accent2="accent2" accent3="accent3" accent4="accent4" accent5="accent5" accent6="accent6" hlink="hlink" folHlink="folHlink"/>
  <p:sldLayoutIdLst>
    <p:sldLayoutId id="2147483713" r:id="rId1"/>
    <p:sldLayoutId id="2147483715" r:id="rId2"/>
    <p:sldLayoutId id="2147483716" r:id="rId3"/>
    <p:sldLayoutId id="2147483714" r:id="rId4"/>
    <p:sldLayoutId id="2147483710" r:id="rId5"/>
    <p:sldLayoutId id="2147483694" r:id="rId6"/>
    <p:sldLayoutId id="2147483695" r:id="rId7"/>
    <p:sldLayoutId id="2147483696" r:id="rId8"/>
    <p:sldLayoutId id="2147483697" r:id="rId9"/>
    <p:sldLayoutId id="2147483699" r:id="rId10"/>
    <p:sldLayoutId id="2147483693" r:id="rId11"/>
    <p:sldLayoutId id="2147483700" r:id="rId12"/>
    <p:sldLayoutId id="2147483701" r:id="rId13"/>
    <p:sldLayoutId id="2147483703" r:id="rId14"/>
    <p:sldLayoutId id="2147483704" r:id="rId15"/>
    <p:sldLayoutId id="2147483702" r:id="rId16"/>
    <p:sldLayoutId id="2147483698" r:id="rId17"/>
  </p:sldLayoutIdLst>
  <p:hf sldNum="0" hdr="0" ftr="0" dt="0"/>
  <p:txStyles>
    <p:titleStyle>
      <a:lvl1pPr algn="ctr" defTabSz="457200" rtl="0" eaLnBrk="1" latinLnBrk="0" hangingPunct="1">
        <a:lnSpc>
          <a:spcPct val="90000"/>
        </a:lnSpc>
        <a:spcBef>
          <a:spcPct val="0"/>
        </a:spcBef>
        <a:buNone/>
        <a:defRPr sz="4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j-lt"/>
          <a:ea typeface="+mj-ea"/>
          <a:cs typeface="Trebuchet M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06000" algn="l" defTabSz="457200" rtl="0" eaLnBrk="1" latinLnBrk="0" hangingPunct="1">
        <a:lnSpc>
          <a:spcPct val="110000"/>
        </a:lnSpc>
        <a:spcBef>
          <a:spcPct val="20000"/>
        </a:spcBef>
        <a:spcAft>
          <a:spcPts val="600"/>
        </a:spcAft>
        <a:buClr>
          <a:schemeClr val="tx2"/>
        </a:buClr>
        <a:buSzPct val="70000"/>
        <a:buFont typeface="Wingdings 2" charset="2"/>
        <a:buChar char=""/>
        <a:defRPr sz="23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1pPr>
      <a:lvl2pPr marL="720000" indent="-270000" algn="l" defTabSz="457200" rtl="0" eaLnBrk="1" latinLnBrk="0" hangingPunct="1">
        <a:spcBef>
          <a:spcPct val="20000"/>
        </a:spcBef>
        <a:spcAft>
          <a:spcPts val="600"/>
        </a:spcAft>
        <a:buClr>
          <a:schemeClr val="tx2"/>
        </a:buClr>
        <a:buSzPct val="70000"/>
        <a:buFont typeface="Wingdings 2" charset="2"/>
        <a:buChar char=""/>
        <a:defRPr sz="21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2pPr>
      <a:lvl3pPr marL="1026000" indent="-216000" algn="l" defTabSz="457200" rtl="0" eaLnBrk="1" latinLnBrk="0" hangingPunct="1">
        <a:spcBef>
          <a:spcPct val="20000"/>
        </a:spcBef>
        <a:spcAft>
          <a:spcPts val="600"/>
        </a:spcAft>
        <a:buClr>
          <a:schemeClr val="tx2"/>
        </a:buClr>
        <a:buSzPct val="70000"/>
        <a:buFont typeface="Wingdings 2" charset="2"/>
        <a:buChar char=""/>
        <a:defRPr sz="18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3pPr>
      <a:lvl4pPr marL="1386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4pPr>
      <a:lvl5pPr marL="1674000" indent="-216000" algn="l" defTabSz="457200" rtl="0" eaLnBrk="1" latinLnBrk="0" hangingPunct="1">
        <a:spcBef>
          <a:spcPct val="20000"/>
        </a:spcBef>
        <a:spcAft>
          <a:spcPts val="600"/>
        </a:spcAft>
        <a:buClr>
          <a:schemeClr val="tx2"/>
        </a:buClr>
        <a:buSzPct val="70000"/>
        <a:buFont typeface="Wingdings 2" charset="2"/>
        <a:buChar char=""/>
        <a:defRPr sz="16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5pPr>
      <a:lvl6pPr marL="20146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6pPr>
      <a:lvl7pPr marL="24018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7pPr>
      <a:lvl8pPr marL="27890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8pPr>
      <a:lvl9pPr marL="3106200" indent="-228600" algn="l" defTabSz="457200" rtl="0" eaLnBrk="1" latinLnBrk="0" hangingPunct="1">
        <a:spcBef>
          <a:spcPct val="20000"/>
        </a:spcBef>
        <a:spcAft>
          <a:spcPts val="600"/>
        </a:spcAft>
        <a:buClr>
          <a:schemeClr val="tx2"/>
        </a:buClr>
        <a:buSzPct val="70000"/>
        <a:buFont typeface="Wingdings 2" charset="2"/>
        <a:buChar char=""/>
        <a:defRPr sz="1400" kern="1200">
          <a:ln>
            <a:solidFill>
              <a:schemeClr val="bg1">
                <a:lumMod val="75000"/>
                <a:lumOff val="25000"/>
                <a:alpha val="10000"/>
              </a:schemeClr>
            </a:solidFill>
          </a:ln>
          <a:solidFill>
            <a:schemeClr val="tx2"/>
          </a:solidFill>
          <a:effectLst>
            <a:outerShdw blurRad="9525" dist="25400" dir="14640000" algn="tl" rotWithShape="0">
              <a:schemeClr val="bg1">
                <a:alpha val="30000"/>
              </a:scheme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image" Target="../media/image1.jpeg"/><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simplilearn.com/free-and-low-cost-online-resources-for-practicing-code-article" TargetMode="Externa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s://www.simplilearn.com/tutorials/git-tutorial/git-pull-request" TargetMode="External"/><Relationship Id="rId2" Type="http://schemas.openxmlformats.org/officeDocument/2006/relationships/hyperlink" Target="https://www.simplilearn.com/tutorials/git-tutorial/git-push-command" TargetMode="Externa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hyperlink" Target="https://www.simplilearn.com/tutorials/git-tutorial/git-commands" TargetMode="Externa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7.jpeg"/><Relationship Id="rId2" Type="http://schemas.openxmlformats.org/officeDocument/2006/relationships/image" Target="../media/image16.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9.jpeg"/><Relationship Id="rId2" Type="http://schemas.openxmlformats.org/officeDocument/2006/relationships/image" Target="../media/image18.jpeg"/><Relationship Id="rId1" Type="http://schemas.openxmlformats.org/officeDocument/2006/relationships/slideLayout" Target="../slideLayouts/slideLayout2.xml"/><Relationship Id="rId4" Type="http://schemas.openxmlformats.org/officeDocument/2006/relationships/image" Target="../media/image20.jpeg"/></Relationships>
</file>

<file path=ppt/slides/_rels/slide15.xml.rels><?xml version="1.0" encoding="UTF-8" standalone="yes"?>
<Relationships xmlns="http://schemas.openxmlformats.org/package/2006/relationships"><Relationship Id="rId3" Type="http://schemas.openxmlformats.org/officeDocument/2006/relationships/image" Target="../media/image22.jpeg"/><Relationship Id="rId2" Type="http://schemas.openxmlformats.org/officeDocument/2006/relationships/image" Target="../media/image21.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4.jpeg"/><Relationship Id="rId2" Type="http://schemas.openxmlformats.org/officeDocument/2006/relationships/image" Target="../media/image23.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pic>
        <p:nvPicPr>
          <p:cNvPr id="5" name="Picture 4" descr="A picture containing cup, coffee, food, beverage&#10;&#10;Description automatically generated">
            <a:extLst>
              <a:ext uri="{FF2B5EF4-FFF2-40B4-BE49-F238E27FC236}">
                <a16:creationId xmlns:a16="http://schemas.microsoft.com/office/drawing/2014/main" id="{91BC5572-FC33-4C1C-8DEE-C2CF75A75641}"/>
              </a:ext>
            </a:extLst>
          </p:cNvPr>
          <p:cNvPicPr>
            <a:picLocks noChangeAspect="1"/>
          </p:cNvPicPr>
          <p:nvPr/>
        </p:nvPicPr>
        <p:blipFill rotWithShape="1">
          <a:blip r:embed="rId3">
            <a:alphaModFix amt="35000"/>
            <a:extLst>
              <a:ext uri="{28A0092B-C50C-407E-A947-70E740481C1C}">
                <a14:useLocalDpi xmlns:a14="http://schemas.microsoft.com/office/drawing/2010/main" val="0"/>
              </a:ext>
            </a:extLst>
          </a:blip>
          <a:src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D1F047C-C727-42A7-85C5-68C5AA1B1A93}"/>
              </a:ext>
            </a:extLst>
          </p:cNvPr>
          <p:cNvSpPr>
            <a:spLocks noGrp="1"/>
          </p:cNvSpPr>
          <p:nvPr>
            <p:ph type="ctrTitle"/>
          </p:nvPr>
        </p:nvSpPr>
        <p:spPr>
          <a:xfrm>
            <a:off x="185530" y="1087120"/>
            <a:ext cx="11794435" cy="2648381"/>
          </a:xfrm>
        </p:spPr>
        <p:txBody>
          <a:bodyPr>
            <a:normAutofit/>
          </a:bodyPr>
          <a:lstStyle/>
          <a:p>
            <a:r>
              <a:rPr lang="en-US" sz="13800" dirty="0">
                <a:latin typeface="Monotype Corsiva" panose="03010101010201010101" pitchFamily="66" charset="0"/>
                <a:cs typeface="Times New Roman" panose="02020603050405020304" pitchFamily="18" charset="0"/>
              </a:rPr>
              <a:t>Basics of GIT</a:t>
            </a:r>
          </a:p>
        </p:txBody>
      </p:sp>
      <p:sp>
        <p:nvSpPr>
          <p:cNvPr id="3" name="Subtitle 2">
            <a:extLst>
              <a:ext uri="{FF2B5EF4-FFF2-40B4-BE49-F238E27FC236}">
                <a16:creationId xmlns:a16="http://schemas.microsoft.com/office/drawing/2014/main" id="{DB93FB3F-A8D4-46D3-A1C6-C79C64563729}"/>
              </a:ext>
            </a:extLst>
          </p:cNvPr>
          <p:cNvSpPr>
            <a:spLocks noGrp="1"/>
          </p:cNvSpPr>
          <p:nvPr>
            <p:ph type="subTitle" idx="1"/>
          </p:nvPr>
        </p:nvSpPr>
        <p:spPr>
          <a:xfrm>
            <a:off x="6581844" y="5770880"/>
            <a:ext cx="5490886" cy="1028148"/>
          </a:xfrm>
        </p:spPr>
        <p:txBody>
          <a:bodyPr>
            <a:normAutofit fontScale="92500" lnSpcReduction="10000"/>
          </a:bodyPr>
          <a:lstStyle/>
          <a:p>
            <a:r>
              <a:rPr lang="en-US" sz="6600" dirty="0">
                <a:latin typeface="French Script MT" panose="03020402040607040605" pitchFamily="66" charset="0"/>
              </a:rPr>
              <a:t>Chaitra</a:t>
            </a:r>
          </a:p>
        </p:txBody>
      </p:sp>
    </p:spTree>
    <p:extLst>
      <p:ext uri="{BB962C8B-B14F-4D97-AF65-F5344CB8AC3E}">
        <p14:creationId xmlns:p14="http://schemas.microsoft.com/office/powerpoint/2010/main" val="6337383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2">
            <a:duotone>
              <a:schemeClr val="bg1">
                <a:shade val="80000"/>
                <a:lumMod val="80000"/>
              </a:schemeClr>
              <a:schemeClr val="bg1">
                <a:tint val="98000"/>
              </a:schemeClr>
            </a:duotone>
          </a:blip>
          <a:stretch/>
        </a:blip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6A748D-BEEC-43A4-BFF3-B31C0275A5D9}"/>
              </a:ext>
            </a:extLst>
          </p:cNvPr>
          <p:cNvSpPr>
            <a:spLocks noGrp="1"/>
          </p:cNvSpPr>
          <p:nvPr>
            <p:ph type="title"/>
          </p:nvPr>
        </p:nvSpPr>
        <p:spPr>
          <a:xfrm>
            <a:off x="1019812" y="596348"/>
            <a:ext cx="10353762" cy="1257300"/>
          </a:xfrm>
        </p:spPr>
        <p:txBody>
          <a:bodyPr>
            <a:normAutofit fontScale="90000"/>
          </a:bodyPr>
          <a:lstStyle/>
          <a:p>
            <a:r>
              <a:rPr lang="en-IN" sz="10700" b="0" i="0" dirty="0">
                <a:solidFill>
                  <a:schemeClr val="tx1"/>
                </a:solidFill>
                <a:effectLst/>
                <a:latin typeface="Monotype Corsiva" panose="03010101010201010101" pitchFamily="66" charset="0"/>
              </a:rPr>
              <a:t> </a:t>
            </a:r>
            <a:r>
              <a:rPr lang="en-IN" sz="4900" b="0" i="0" dirty="0">
                <a:solidFill>
                  <a:schemeClr val="tx1"/>
                </a:solidFill>
                <a:effectLst/>
                <a:latin typeface="Monotype Corsiva" panose="03010101010201010101" pitchFamily="66" charset="0"/>
              </a:rPr>
              <a:t>How to Resolve Merge Conflicts in Git</a:t>
            </a:r>
            <a:br>
              <a:rPr lang="en-IN" sz="2000" b="0" i="0" dirty="0">
                <a:solidFill>
                  <a:srgbClr val="272C37"/>
                </a:solidFill>
                <a:effectLst/>
                <a:latin typeface="Roboto" panose="02000000000000000000" pitchFamily="2" charset="0"/>
              </a:rPr>
            </a:br>
            <a:endParaRPr lang="en-US" sz="5400" dirty="0">
              <a:solidFill>
                <a:schemeClr val="tx1"/>
              </a:solidFill>
              <a:latin typeface="Monotype Corsiva" panose="03010101010201010101" pitchFamily="66" charset="0"/>
            </a:endParaRPr>
          </a:p>
        </p:txBody>
      </p:sp>
      <p:graphicFrame>
        <p:nvGraphicFramePr>
          <p:cNvPr id="4" name="Content Placeholder 2">
            <a:extLst>
              <a:ext uri="{FF2B5EF4-FFF2-40B4-BE49-F238E27FC236}">
                <a16:creationId xmlns:a16="http://schemas.microsoft.com/office/drawing/2014/main" id="{AED04DAF-1E3F-4397-8834-E64118E9B2CD}"/>
              </a:ext>
            </a:extLst>
          </p:cNvPr>
          <p:cNvGraphicFramePr>
            <a:graphicFrameLocks noGrp="1"/>
          </p:cNvGraphicFramePr>
          <p:nvPr>
            <p:ph idx="1"/>
            <p:extLst>
              <p:ext uri="{D42A27DB-BD31-4B8C-83A1-F6EECF244321}">
                <p14:modId xmlns:p14="http://schemas.microsoft.com/office/powerpoint/2010/main" val="4041466469"/>
              </p:ext>
            </p:extLst>
          </p:nvPr>
        </p:nvGraphicFramePr>
        <p:xfrm>
          <a:off x="914400" y="2076450"/>
          <a:ext cx="10353675" cy="371475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68908979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B8FA24-C901-AF21-98E1-D85D31D6D95C}"/>
              </a:ext>
            </a:extLst>
          </p:cNvPr>
          <p:cNvSpPr>
            <a:spLocks noGrp="1"/>
          </p:cNvSpPr>
          <p:nvPr>
            <p:ph type="title"/>
          </p:nvPr>
        </p:nvSpPr>
        <p:spPr>
          <a:xfrm>
            <a:off x="866110" y="755374"/>
            <a:ext cx="10353762" cy="92765"/>
          </a:xfrm>
        </p:spPr>
        <p:txBody>
          <a:bodyPr>
            <a:normAutofit fontScale="90000"/>
          </a:bodyPr>
          <a:lstStyle/>
          <a:p>
            <a:r>
              <a:rPr lang="en-IN" b="0" i="0" dirty="0">
                <a:solidFill>
                  <a:schemeClr val="tx1"/>
                </a:solidFill>
                <a:effectLst/>
                <a:latin typeface="Times New Roman" panose="02020603050405020304" pitchFamily="18" charset="0"/>
                <a:cs typeface="Times New Roman" panose="02020603050405020304" pitchFamily="18" charset="0"/>
              </a:rPr>
              <a:t>What is Git?</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9B812FFF-58A6-22C6-D72A-C7692BB56BC5}"/>
              </a:ext>
            </a:extLst>
          </p:cNvPr>
          <p:cNvSpPr>
            <a:spLocks noGrp="1"/>
          </p:cNvSpPr>
          <p:nvPr>
            <p:ph idx="1"/>
          </p:nvPr>
        </p:nvSpPr>
        <p:spPr>
          <a:xfrm>
            <a:off x="106017" y="848139"/>
            <a:ext cx="11873948" cy="5897217"/>
          </a:xfrm>
        </p:spPr>
        <p:txBody>
          <a:bodyPr>
            <a:normAutofit/>
          </a:bodyPr>
          <a:lstStyle/>
          <a:p>
            <a:r>
              <a:rPr lang="en-IN" sz="2400" b="0" i="0" dirty="0">
                <a:solidFill>
                  <a:schemeClr val="tx1"/>
                </a:solidFill>
                <a:effectLst/>
                <a:latin typeface="Times New Roman" panose="02020603050405020304" pitchFamily="18" charset="0"/>
                <a:cs typeface="Times New Roman" panose="02020603050405020304" pitchFamily="18" charset="0"/>
              </a:rPr>
              <a:t>Git is an open-source, distributed version control system (VCS), which has a remote repository on the server-side and a local repository on the client-side. </a:t>
            </a:r>
          </a:p>
          <a:p>
            <a:r>
              <a:rPr lang="en-IN" sz="2400" b="0" i="0" dirty="0">
                <a:solidFill>
                  <a:schemeClr val="tx1"/>
                </a:solidFill>
                <a:effectLst/>
                <a:latin typeface="Times New Roman" panose="02020603050405020304" pitchFamily="18" charset="0"/>
                <a:cs typeface="Times New Roman" panose="02020603050405020304" pitchFamily="18" charset="0"/>
              </a:rPr>
              <a:t>This means that the file or </a:t>
            </a:r>
            <a:r>
              <a:rPr lang="en-IN" sz="2400" b="0" i="0" strike="noStrike" dirty="0">
                <a:solidFill>
                  <a:srgbClr val="C00000"/>
                </a:solidFill>
                <a:effectLst/>
                <a:latin typeface="Times New Roman" panose="02020603050405020304" pitchFamily="18" charset="0"/>
                <a:cs typeface="Times New Roman" panose="02020603050405020304" pitchFamily="18" charset="0"/>
                <a:hlinkClick r:id="rId2" tooltip="code">
                  <a:extLst>
                    <a:ext uri="{A12FA001-AC4F-418D-AE19-62706E023703}">
                      <ahyp:hlinkClr xmlns:ahyp="http://schemas.microsoft.com/office/drawing/2018/hyperlinkcolor" val="tx"/>
                    </a:ext>
                  </a:extLst>
                </a:hlinkClick>
              </a:rPr>
              <a:t>code</a:t>
            </a:r>
            <a:r>
              <a:rPr lang="en-IN" sz="2400" b="0" i="0" dirty="0">
                <a:solidFill>
                  <a:schemeClr val="tx1"/>
                </a:solidFill>
                <a:effectLst/>
                <a:latin typeface="Times New Roman" panose="02020603050405020304" pitchFamily="18" charset="0"/>
                <a:cs typeface="Times New Roman" panose="02020603050405020304" pitchFamily="18" charset="0"/>
              </a:rPr>
              <a:t> is not present in a central server, but there is a copy of the file stored on the client’s computer. </a:t>
            </a:r>
            <a:endParaRPr lang="en-IN" sz="2400" dirty="0">
              <a:solidFill>
                <a:schemeClr val="tx1"/>
              </a:solidFill>
              <a:effectLst/>
              <a:latin typeface="Times New Roman" panose="02020603050405020304" pitchFamily="18" charset="0"/>
              <a:cs typeface="Times New Roman" panose="02020603050405020304" pitchFamily="18" charset="0"/>
            </a:endParaRPr>
          </a:p>
          <a:p>
            <a:pPr algn="l"/>
            <a:r>
              <a:rPr lang="en-IN" sz="2400" b="0" i="0" dirty="0">
                <a:solidFill>
                  <a:schemeClr val="tx1"/>
                </a:solidFill>
                <a:effectLst/>
                <a:latin typeface="Times New Roman" panose="02020603050405020304" pitchFamily="18" charset="0"/>
                <a:cs typeface="Times New Roman" panose="02020603050405020304" pitchFamily="18" charset="0"/>
              </a:rPr>
              <a:t>A distributed version control system enables multiple developers to work in parallel with each other without any code conflicts.</a:t>
            </a:r>
          </a:p>
          <a:p>
            <a:pPr algn="l"/>
            <a:r>
              <a:rPr lang="en-IN" sz="2400" b="0" i="0" dirty="0">
                <a:solidFill>
                  <a:schemeClr val="tx1"/>
                </a:solidFill>
                <a:effectLst/>
                <a:latin typeface="Times New Roman" panose="02020603050405020304" pitchFamily="18" charset="0"/>
                <a:cs typeface="Times New Roman" panose="02020603050405020304" pitchFamily="18" charset="0"/>
              </a:rPr>
              <a:t> Git enables developers to revert and go back to an older version of the code whenever necessary. </a:t>
            </a:r>
          </a:p>
          <a:p>
            <a:pPr algn="l"/>
            <a:r>
              <a:rPr lang="en-IN" sz="2400" b="0" i="0" dirty="0">
                <a:solidFill>
                  <a:schemeClr val="tx1"/>
                </a:solidFill>
                <a:effectLst/>
                <a:latin typeface="Times New Roman" panose="02020603050405020304" pitchFamily="18" charset="0"/>
                <a:cs typeface="Times New Roman" panose="02020603050405020304" pitchFamily="18" charset="0"/>
              </a:rPr>
              <a:t>Git helps both developers and non-tech professionals by keeping track of their project files. It makes it easier for multiple individuals to work together, and it plays an extremely significant role in big projects that involve large teams.</a:t>
            </a:r>
          </a:p>
          <a:p>
            <a:endParaRPr lang="en-IN" sz="2400" dirty="0"/>
          </a:p>
        </p:txBody>
      </p:sp>
    </p:spTree>
    <p:extLst>
      <p:ext uri="{BB962C8B-B14F-4D97-AF65-F5344CB8AC3E}">
        <p14:creationId xmlns:p14="http://schemas.microsoft.com/office/powerpoint/2010/main" val="25393228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636CA7-7ABC-FDEC-0486-23EF834645DF}"/>
              </a:ext>
            </a:extLst>
          </p:cNvPr>
          <p:cNvSpPr>
            <a:spLocks noGrp="1"/>
          </p:cNvSpPr>
          <p:nvPr>
            <p:ph type="title"/>
          </p:nvPr>
        </p:nvSpPr>
        <p:spPr>
          <a:xfrm>
            <a:off x="913795" y="424070"/>
            <a:ext cx="10353762" cy="556591"/>
          </a:xfrm>
        </p:spPr>
        <p:txBody>
          <a:bodyPr>
            <a:normAutofit fontScale="90000"/>
          </a:bodyPr>
          <a:lstStyle/>
          <a:p>
            <a:r>
              <a:rPr lang="en-IN" b="0" i="0" dirty="0">
                <a:solidFill>
                  <a:schemeClr val="tx1"/>
                </a:solidFill>
                <a:effectLst/>
                <a:latin typeface="Times New Roman" panose="02020603050405020304" pitchFamily="18" charset="0"/>
                <a:cs typeface="Times New Roman" panose="02020603050405020304" pitchFamily="18" charset="0"/>
              </a:rPr>
              <a:t>Basic Git Commands</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8326659E-5723-54EA-6126-73F9D4EECA49}"/>
              </a:ext>
            </a:extLst>
          </p:cNvPr>
          <p:cNvSpPr>
            <a:spLocks noGrp="1"/>
          </p:cNvSpPr>
          <p:nvPr>
            <p:ph idx="1"/>
          </p:nvPr>
        </p:nvSpPr>
        <p:spPr>
          <a:xfrm>
            <a:off x="913795" y="1325217"/>
            <a:ext cx="10353762" cy="5406887"/>
          </a:xfrm>
        </p:spPr>
        <p:txBody>
          <a:bodyPr>
            <a:normAutofit/>
          </a:bodyPr>
          <a:lstStyle/>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config </a:t>
            </a: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a:t>
            </a:r>
            <a:r>
              <a:rPr lang="en-IN" b="0" i="0" dirty="0" err="1">
                <a:solidFill>
                  <a:schemeClr val="tx1"/>
                </a:solidFill>
                <a:effectLst/>
                <a:latin typeface="Times New Roman" panose="02020603050405020304" pitchFamily="18" charset="0"/>
                <a:cs typeface="Times New Roman" panose="02020603050405020304" pitchFamily="18" charset="0"/>
              </a:rPr>
              <a:t>init</a:t>
            </a:r>
            <a:endParaRPr lang="en-IN" b="0" i="0" dirty="0">
              <a:solidFill>
                <a:schemeClr val="tx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add </a:t>
            </a: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diff</a:t>
            </a: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commit</a:t>
            </a: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reset</a:t>
            </a: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status</a:t>
            </a:r>
          </a:p>
          <a:p>
            <a:pPr algn="l">
              <a:buFont typeface="Arial" panose="020B0604020202020204" pitchFamily="34" charset="0"/>
              <a:buChar char="•"/>
            </a:pPr>
            <a:r>
              <a:rPr lang="en-IN" b="0" i="0" dirty="0">
                <a:solidFill>
                  <a:schemeClr val="tx1"/>
                </a:solidFill>
                <a:effectLst/>
                <a:latin typeface="Times New Roman" panose="02020603050405020304" pitchFamily="18" charset="0"/>
                <a:cs typeface="Times New Roman" panose="02020603050405020304" pitchFamily="18" charset="0"/>
              </a:rPr>
              <a:t>git merge</a:t>
            </a:r>
          </a:p>
          <a:p>
            <a:pPr algn="l">
              <a:buFont typeface="Arial" panose="020B0604020202020204" pitchFamily="34" charset="0"/>
              <a:buChar char="•"/>
            </a:pPr>
            <a:r>
              <a:rPr lang="en-IN" b="0" i="0" u="none" strike="noStrike" dirty="0">
                <a:solidFill>
                  <a:schemeClr val="tx1"/>
                </a:solidFill>
                <a:effectLst/>
                <a:latin typeface="Times New Roman" panose="02020603050405020304" pitchFamily="18" charset="0"/>
                <a:cs typeface="Times New Roman" panose="02020603050405020304" pitchFamily="18" charset="0"/>
                <a:hlinkClick r:id="rId2" tooltip="git push">
                  <a:extLst>
                    <a:ext uri="{A12FA001-AC4F-418D-AE19-62706E023703}">
                      <ahyp:hlinkClr xmlns:ahyp="http://schemas.microsoft.com/office/drawing/2018/hyperlinkcolor" val="tx"/>
                    </a:ext>
                  </a:extLst>
                </a:hlinkClick>
              </a:rPr>
              <a:t>git push</a:t>
            </a:r>
            <a:endParaRPr lang="en-IN" b="0" i="0" dirty="0">
              <a:solidFill>
                <a:schemeClr val="tx1"/>
              </a:solidFill>
              <a:effectLst/>
              <a:latin typeface="Times New Roman" panose="02020603050405020304" pitchFamily="18" charset="0"/>
              <a:cs typeface="Times New Roman" panose="02020603050405020304" pitchFamily="18" charset="0"/>
            </a:endParaRPr>
          </a:p>
          <a:p>
            <a:pPr algn="l">
              <a:buFont typeface="Arial" panose="020B0604020202020204" pitchFamily="34" charset="0"/>
              <a:buChar char="•"/>
            </a:pPr>
            <a:r>
              <a:rPr lang="en-IN" b="0" i="0" u="none" strike="noStrike" dirty="0">
                <a:solidFill>
                  <a:schemeClr val="tx1"/>
                </a:solidFill>
                <a:effectLst/>
                <a:latin typeface="Times New Roman" panose="02020603050405020304" pitchFamily="18" charset="0"/>
                <a:cs typeface="Times New Roman" panose="02020603050405020304" pitchFamily="18" charset="0"/>
                <a:hlinkClick r:id="rId3" tooltip="git pull">
                  <a:extLst>
                    <a:ext uri="{A12FA001-AC4F-418D-AE19-62706E023703}">
                      <ahyp:hlinkClr xmlns:ahyp="http://schemas.microsoft.com/office/drawing/2018/hyperlinkcolor" val="tx"/>
                    </a:ext>
                  </a:extLst>
                </a:hlinkClick>
              </a:rPr>
              <a:t>git pull</a:t>
            </a:r>
            <a:endParaRPr lang="en-IN" b="0" i="0"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pic>
        <p:nvPicPr>
          <p:cNvPr id="4" name="Picture 3">
            <a:extLst>
              <a:ext uri="{FF2B5EF4-FFF2-40B4-BE49-F238E27FC236}">
                <a16:creationId xmlns:a16="http://schemas.microsoft.com/office/drawing/2014/main" id="{DA648E2D-5EBA-3CAD-1A0E-0A46DB52FC49}"/>
              </a:ext>
            </a:extLst>
          </p:cNvPr>
          <p:cNvPicPr>
            <a:picLocks noChangeAspect="1"/>
          </p:cNvPicPr>
          <p:nvPr/>
        </p:nvPicPr>
        <p:blipFill>
          <a:blip r:embed="rId4"/>
          <a:stretch>
            <a:fillRect/>
          </a:stretch>
        </p:blipFill>
        <p:spPr>
          <a:xfrm>
            <a:off x="7186198" y="2411896"/>
            <a:ext cx="3438525" cy="2908438"/>
          </a:xfrm>
          <a:prstGeom prst="rect">
            <a:avLst/>
          </a:prstGeom>
        </p:spPr>
      </p:pic>
    </p:spTree>
    <p:extLst>
      <p:ext uri="{BB962C8B-B14F-4D97-AF65-F5344CB8AC3E}">
        <p14:creationId xmlns:p14="http://schemas.microsoft.com/office/powerpoint/2010/main" val="17270270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14F64-A38A-0CBB-4DDA-DB93A33CB197}"/>
              </a:ext>
            </a:extLst>
          </p:cNvPr>
          <p:cNvSpPr>
            <a:spLocks noGrp="1"/>
          </p:cNvSpPr>
          <p:nvPr>
            <p:ph type="title"/>
          </p:nvPr>
        </p:nvSpPr>
        <p:spPr>
          <a:xfrm>
            <a:off x="913795" y="397565"/>
            <a:ext cx="10353762" cy="304800"/>
          </a:xfrm>
        </p:spPr>
        <p:txBody>
          <a:bodyPr>
            <a:normAutofit fontScale="90000"/>
          </a:bodyPr>
          <a:lstStyle/>
          <a:p>
            <a:r>
              <a:rPr lang="en-IN" b="0" i="0" dirty="0">
                <a:solidFill>
                  <a:schemeClr val="tx1"/>
                </a:solidFill>
                <a:effectLst/>
                <a:latin typeface="Times New Roman" panose="02020603050405020304" pitchFamily="18" charset="0"/>
                <a:ea typeface="Roboto" panose="02000000000000000000" pitchFamily="2" charset="0"/>
                <a:cs typeface="Times New Roman" panose="02020603050405020304" pitchFamily="18" charset="0"/>
              </a:rPr>
              <a:t>What is a Git Merge Conflict?</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07D7CFCE-B58E-22A8-C68D-113E2957A71F}"/>
              </a:ext>
            </a:extLst>
          </p:cNvPr>
          <p:cNvSpPr>
            <a:spLocks noGrp="1"/>
          </p:cNvSpPr>
          <p:nvPr>
            <p:ph idx="1"/>
          </p:nvPr>
        </p:nvSpPr>
        <p:spPr>
          <a:xfrm>
            <a:off x="0" y="503583"/>
            <a:ext cx="12191999" cy="6354417"/>
          </a:xfrm>
        </p:spPr>
        <p:txBody>
          <a:bodyPr/>
          <a:lstStyle/>
          <a:p>
            <a:pPr algn="l"/>
            <a:r>
              <a:rPr lang="en-IN" sz="2000" b="0" i="0" dirty="0">
                <a:solidFill>
                  <a:schemeClr val="tx1"/>
                </a:solidFill>
                <a:effectLst/>
                <a:latin typeface="Times New Roman" panose="02020603050405020304" pitchFamily="18" charset="0"/>
                <a:cs typeface="Times New Roman" panose="02020603050405020304" pitchFamily="18" charset="0"/>
              </a:rPr>
              <a:t>A merge conflict is an event that takes place when Git is unable to automatically resolve differences in code between two commits. Git can merge the changes automatically only if the commits are on different lines or branches.</a:t>
            </a:r>
          </a:p>
          <a:p>
            <a:pPr marL="36900" indent="0" algn="l">
              <a:buNone/>
            </a:pPr>
            <a:r>
              <a:rPr lang="en-IN" sz="2000" b="0" i="0" dirty="0">
                <a:solidFill>
                  <a:schemeClr val="tx1"/>
                </a:solidFill>
                <a:effectLst/>
                <a:latin typeface="Times New Roman" panose="02020603050405020304" pitchFamily="18" charset="0"/>
                <a:cs typeface="Times New Roman" panose="02020603050405020304" pitchFamily="18" charset="0"/>
              </a:rPr>
              <a:t>EX: Git merge conflict works:</a:t>
            </a:r>
          </a:p>
          <a:p>
            <a:pPr marL="36900" indent="0">
              <a:buNone/>
            </a:pPr>
            <a:endParaRPr lang="en-IN" dirty="0"/>
          </a:p>
        </p:txBody>
      </p:sp>
      <p:pic>
        <p:nvPicPr>
          <p:cNvPr id="5" name="Picture 4">
            <a:extLst>
              <a:ext uri="{FF2B5EF4-FFF2-40B4-BE49-F238E27FC236}">
                <a16:creationId xmlns:a16="http://schemas.microsoft.com/office/drawing/2014/main" id="{A6DD7C88-3CBE-169B-25A7-FB1491F1EDD7}"/>
              </a:ext>
            </a:extLst>
          </p:cNvPr>
          <p:cNvPicPr>
            <a:picLocks noChangeAspect="1"/>
          </p:cNvPicPr>
          <p:nvPr/>
        </p:nvPicPr>
        <p:blipFill>
          <a:blip r:embed="rId2"/>
          <a:stretch>
            <a:fillRect/>
          </a:stretch>
        </p:blipFill>
        <p:spPr>
          <a:xfrm>
            <a:off x="0" y="2685843"/>
            <a:ext cx="4426226" cy="2575270"/>
          </a:xfrm>
          <a:prstGeom prst="rect">
            <a:avLst/>
          </a:prstGeom>
        </p:spPr>
      </p:pic>
      <p:sp>
        <p:nvSpPr>
          <p:cNvPr id="11" name="TextBox 10">
            <a:extLst>
              <a:ext uri="{FF2B5EF4-FFF2-40B4-BE49-F238E27FC236}">
                <a16:creationId xmlns:a16="http://schemas.microsoft.com/office/drawing/2014/main" id="{26F5A8F8-347A-B734-9C96-A4C9E80F0D92}"/>
              </a:ext>
            </a:extLst>
          </p:cNvPr>
          <p:cNvSpPr txBox="1"/>
          <p:nvPr/>
        </p:nvSpPr>
        <p:spPr>
          <a:xfrm>
            <a:off x="4333462" y="1903969"/>
            <a:ext cx="7858538" cy="4832092"/>
          </a:xfrm>
          <a:prstGeom prst="rect">
            <a:avLst/>
          </a:prstGeom>
          <a:noFill/>
        </p:spPr>
        <p:txBody>
          <a:bodyPr wrap="square">
            <a:spAutoFit/>
          </a:bodyPr>
          <a:lstStyle/>
          <a:p>
            <a:pPr algn="l"/>
            <a:r>
              <a:rPr lang="en-IN" sz="2000" b="0" i="0" dirty="0">
                <a:effectLst/>
                <a:latin typeface="Times New Roman" panose="02020603050405020304" pitchFamily="18" charset="0"/>
                <a:cs typeface="Times New Roman" panose="02020603050405020304" pitchFamily="18" charset="0"/>
              </a:rPr>
              <a:t>Let’s assume there are two developers: </a:t>
            </a:r>
          </a:p>
          <a:p>
            <a:pPr marL="342900" indent="-342900" algn="l">
              <a:buFont typeface="Wingdings" panose="05000000000000000000" pitchFamily="2" charset="2"/>
              <a:buChar char="Ø"/>
            </a:pPr>
            <a:r>
              <a:rPr lang="en-IN" sz="2000" b="0" i="0" dirty="0">
                <a:effectLst/>
                <a:latin typeface="Times New Roman" panose="02020603050405020304" pitchFamily="18" charset="0"/>
                <a:cs typeface="Times New Roman" panose="02020603050405020304" pitchFamily="18" charset="0"/>
              </a:rPr>
              <a:t>Developer A and Developer B. </a:t>
            </a:r>
          </a:p>
          <a:p>
            <a:pPr marL="342900" indent="-342900" algn="l">
              <a:buFont typeface="Wingdings" panose="05000000000000000000" pitchFamily="2" charset="2"/>
              <a:buChar char="Ø"/>
            </a:pPr>
            <a:r>
              <a:rPr lang="en-IN" sz="2000" b="0" i="0" dirty="0">
                <a:effectLst/>
                <a:latin typeface="Times New Roman" panose="02020603050405020304" pitchFamily="18" charset="0"/>
                <a:cs typeface="Times New Roman" panose="02020603050405020304" pitchFamily="18" charset="0"/>
              </a:rPr>
              <a:t>Both of them pull the same code file from the remote repository and try to make various amendments in that file.</a:t>
            </a:r>
          </a:p>
          <a:p>
            <a:pPr marL="342900" indent="-342900" algn="l">
              <a:buFont typeface="Wingdings" panose="05000000000000000000" pitchFamily="2" charset="2"/>
              <a:buChar char="Ø"/>
            </a:pPr>
            <a:r>
              <a:rPr lang="en-IN" sz="2000" b="0" i="0" dirty="0">
                <a:effectLst/>
                <a:latin typeface="Times New Roman" panose="02020603050405020304" pitchFamily="18" charset="0"/>
                <a:cs typeface="Times New Roman" panose="02020603050405020304" pitchFamily="18" charset="0"/>
              </a:rPr>
              <a:t> After making the changes, Developer A pushes the file back to the remote repository from his local repository.</a:t>
            </a:r>
          </a:p>
          <a:p>
            <a:pPr marL="342900" indent="-342900" algn="l">
              <a:buFont typeface="Wingdings" panose="05000000000000000000" pitchFamily="2" charset="2"/>
              <a:buChar char="Ø"/>
            </a:pPr>
            <a:r>
              <a:rPr lang="en-IN" sz="2000" b="0" i="0" dirty="0">
                <a:effectLst/>
                <a:latin typeface="Times New Roman" panose="02020603050405020304" pitchFamily="18" charset="0"/>
                <a:cs typeface="Times New Roman" panose="02020603050405020304" pitchFamily="18" charset="0"/>
              </a:rPr>
              <a:t> Now, when Developer B tries to push that file after making the changes from his end, he is unable to do so, as the file has already been changed in the remote repository.</a:t>
            </a:r>
          </a:p>
          <a:p>
            <a:pPr marL="342900" indent="-342900" algn="l">
              <a:buFont typeface="Wingdings" panose="05000000000000000000" pitchFamily="2" charset="2"/>
              <a:buChar char="Ø"/>
            </a:pPr>
            <a:r>
              <a:rPr lang="en-IN" sz="2000" b="0" i="0" dirty="0">
                <a:effectLst/>
                <a:latin typeface="Times New Roman" panose="02020603050405020304" pitchFamily="18" charset="0"/>
                <a:cs typeface="Times New Roman" panose="02020603050405020304" pitchFamily="18" charset="0"/>
              </a:rPr>
              <a:t>To prevent such conflicts, developers work in separate isolated branches. </a:t>
            </a:r>
          </a:p>
          <a:p>
            <a:pPr marL="342900" indent="-342900" algn="l">
              <a:buFont typeface="Wingdings" panose="05000000000000000000" pitchFamily="2" charset="2"/>
              <a:buChar char="Ø"/>
            </a:pPr>
            <a:r>
              <a:rPr lang="en-IN" sz="2000" b="0" i="0" dirty="0">
                <a:effectLst/>
                <a:latin typeface="Times New Roman" panose="02020603050405020304" pitchFamily="18" charset="0"/>
                <a:cs typeface="Times New Roman" panose="02020603050405020304" pitchFamily="18" charset="0"/>
              </a:rPr>
              <a:t>The Git merge command combines separate branches and resolves any conflicting edits.</a:t>
            </a:r>
          </a:p>
          <a:p>
            <a:pPr marL="342900" indent="-342900" algn="l">
              <a:buFont typeface="Wingdings" panose="05000000000000000000" pitchFamily="2" charset="2"/>
              <a:buChar char="Ø"/>
            </a:pPr>
            <a:r>
              <a:rPr lang="en-IN" sz="2400" b="0" i="0" dirty="0">
                <a:effectLst/>
                <a:latin typeface="Times New Roman" panose="02020603050405020304" pitchFamily="18" charset="0"/>
                <a:cs typeface="Times New Roman" panose="02020603050405020304" pitchFamily="18" charset="0"/>
              </a:rPr>
              <a:t>N</a:t>
            </a:r>
            <a:r>
              <a:rPr lang="en-IN" sz="2000" b="0" i="0" dirty="0">
                <a:effectLst/>
                <a:latin typeface="Times New Roman" panose="02020603050405020304" pitchFamily="18" charset="0"/>
                <a:cs typeface="Times New Roman" panose="02020603050405020304" pitchFamily="18" charset="0"/>
              </a:rPr>
              <a:t>ow that we have gone through the basics of the Git merge conflict, let’s look at the various types of conflicts next</a:t>
            </a:r>
            <a:r>
              <a:rPr lang="en-IN" sz="2400" b="0" i="0" dirty="0">
                <a:effectLst/>
                <a:latin typeface="Times New Roman" panose="02020603050405020304" pitchFamily="18" charset="0"/>
                <a:cs typeface="Times New Roman" panose="02020603050405020304" pitchFamily="18" charset="0"/>
              </a:rPr>
              <a:t>.</a:t>
            </a:r>
          </a:p>
        </p:txBody>
      </p:sp>
    </p:spTree>
    <p:extLst>
      <p:ext uri="{BB962C8B-B14F-4D97-AF65-F5344CB8AC3E}">
        <p14:creationId xmlns:p14="http://schemas.microsoft.com/office/powerpoint/2010/main" val="338988072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698AAB-575C-F9AB-1343-E62E63AB6739}"/>
              </a:ext>
            </a:extLst>
          </p:cNvPr>
          <p:cNvSpPr>
            <a:spLocks noGrp="1"/>
          </p:cNvSpPr>
          <p:nvPr>
            <p:ph type="title"/>
          </p:nvPr>
        </p:nvSpPr>
        <p:spPr>
          <a:xfrm>
            <a:off x="919119" y="397565"/>
            <a:ext cx="10353762" cy="622852"/>
          </a:xfrm>
        </p:spPr>
        <p:txBody>
          <a:bodyPr>
            <a:normAutofit fontScale="90000"/>
          </a:bodyPr>
          <a:lstStyle/>
          <a:p>
            <a:r>
              <a:rPr lang="en-IN" b="0" i="0" dirty="0">
                <a:solidFill>
                  <a:schemeClr val="tx1"/>
                </a:solidFill>
                <a:effectLst/>
                <a:latin typeface="Times New Roman" panose="02020603050405020304" pitchFamily="18" charset="0"/>
                <a:cs typeface="Times New Roman" panose="02020603050405020304" pitchFamily="18" charset="0"/>
              </a:rPr>
              <a:t>Types of Git Merge Conflicts </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01C84540-BEB5-BC2B-22DE-895C05D0114B}"/>
              </a:ext>
            </a:extLst>
          </p:cNvPr>
          <p:cNvSpPr>
            <a:spLocks noGrp="1"/>
          </p:cNvSpPr>
          <p:nvPr>
            <p:ph idx="1"/>
          </p:nvPr>
        </p:nvSpPr>
        <p:spPr>
          <a:xfrm>
            <a:off x="92765" y="795130"/>
            <a:ext cx="12006470" cy="5963480"/>
          </a:xfrm>
        </p:spPr>
        <p:txBody>
          <a:bodyPr>
            <a:normAutofit lnSpcReduction="10000"/>
          </a:bodyPr>
          <a:lstStyle/>
          <a:p>
            <a:pPr marL="36900" indent="0" algn="l">
              <a:buNone/>
            </a:pPr>
            <a:r>
              <a:rPr lang="en-IN" sz="2400" b="0" i="0" dirty="0">
                <a:solidFill>
                  <a:schemeClr val="tx1"/>
                </a:solidFill>
                <a:effectLst/>
                <a:latin typeface="Times New Roman" panose="02020603050405020304" pitchFamily="18" charset="0"/>
                <a:cs typeface="Times New Roman" panose="02020603050405020304" pitchFamily="18" charset="0"/>
              </a:rPr>
              <a:t>1. Starting the Merge Process </a:t>
            </a:r>
          </a:p>
          <a:p>
            <a:pPr algn="l"/>
            <a:r>
              <a:rPr lang="en-IN" sz="2400" b="0" i="0" dirty="0">
                <a:solidFill>
                  <a:schemeClr val="tx1"/>
                </a:solidFill>
                <a:effectLst/>
                <a:latin typeface="Times New Roman" panose="02020603050405020304" pitchFamily="18" charset="0"/>
                <a:cs typeface="Times New Roman" panose="02020603050405020304" pitchFamily="18" charset="0"/>
              </a:rPr>
              <a:t>If there are changes in the working directory’s stage area for the current project, merging won’t start. </a:t>
            </a:r>
          </a:p>
          <a:p>
            <a:pPr algn="l"/>
            <a:r>
              <a:rPr lang="en-IN" sz="2400" b="0" i="0" dirty="0">
                <a:solidFill>
                  <a:schemeClr val="tx1"/>
                </a:solidFill>
                <a:effectLst/>
                <a:latin typeface="Times New Roman" panose="02020603050405020304" pitchFamily="18" charset="0"/>
                <a:cs typeface="Times New Roman" panose="02020603050405020304" pitchFamily="18" charset="0"/>
              </a:rPr>
              <a:t>In this case, conflicts happen due to pending changes that need to be stabilized using different </a:t>
            </a:r>
            <a:r>
              <a:rPr lang="en-IN" sz="2400" b="0" i="0" u="none" strike="noStrike" dirty="0">
                <a:solidFill>
                  <a:srgbClr val="1179EF"/>
                </a:solidFill>
                <a:effectLst/>
                <a:latin typeface="Times New Roman" panose="02020603050405020304" pitchFamily="18" charset="0"/>
                <a:cs typeface="Times New Roman" panose="02020603050405020304" pitchFamily="18" charset="0"/>
                <a:hlinkClick r:id="rId2" tooltip="Git commands"/>
              </a:rPr>
              <a:t>Git commands</a:t>
            </a:r>
            <a:r>
              <a:rPr lang="en-IN" sz="2400" b="0" i="0" dirty="0">
                <a:solidFill>
                  <a:srgbClr val="51565E"/>
                </a:solidFill>
                <a:effectLst/>
                <a:latin typeface="Times New Roman" panose="02020603050405020304" pitchFamily="18" charset="0"/>
                <a:cs typeface="Times New Roman" panose="02020603050405020304" pitchFamily="18" charset="0"/>
              </a:rPr>
              <a:t>.</a:t>
            </a:r>
          </a:p>
          <a:p>
            <a:pPr marL="36900" indent="0" algn="l">
              <a:buNone/>
            </a:pPr>
            <a:endParaRPr lang="en-IN" sz="2400" b="0" i="0" dirty="0">
              <a:solidFill>
                <a:srgbClr val="51565E"/>
              </a:solidFill>
              <a:effectLst/>
              <a:latin typeface="Times New Roman" panose="02020603050405020304" pitchFamily="18" charset="0"/>
              <a:cs typeface="Times New Roman" panose="02020603050405020304" pitchFamily="18" charset="0"/>
            </a:endParaRPr>
          </a:p>
          <a:p>
            <a:pPr marL="36900" indent="0" algn="l">
              <a:buNone/>
            </a:pPr>
            <a:r>
              <a:rPr lang="en-IN" sz="2400" b="0" i="0" dirty="0">
                <a:solidFill>
                  <a:schemeClr val="tx1"/>
                </a:solidFill>
                <a:effectLst/>
                <a:latin typeface="Times New Roman" panose="02020603050405020304" pitchFamily="18" charset="0"/>
                <a:cs typeface="Times New Roman" panose="02020603050405020304" pitchFamily="18" charset="0"/>
              </a:rPr>
              <a:t>2. During the Merge Process</a:t>
            </a:r>
          </a:p>
          <a:p>
            <a:pPr algn="l"/>
            <a:r>
              <a:rPr lang="en-IN" sz="2400" b="0" i="0" dirty="0">
                <a:solidFill>
                  <a:schemeClr val="tx1"/>
                </a:solidFill>
                <a:effectLst/>
                <a:latin typeface="Times New Roman" panose="02020603050405020304" pitchFamily="18" charset="0"/>
                <a:cs typeface="Times New Roman" panose="02020603050405020304" pitchFamily="18" charset="0"/>
              </a:rPr>
              <a:t>The failure during the merge process indicates that there is a conflict between the local branch and the branch being merged.</a:t>
            </a:r>
          </a:p>
          <a:p>
            <a:pPr algn="l"/>
            <a:r>
              <a:rPr lang="en-IN" sz="2400" b="0" i="0" dirty="0">
                <a:solidFill>
                  <a:schemeClr val="tx1"/>
                </a:solidFill>
                <a:effectLst/>
                <a:latin typeface="Times New Roman" panose="02020603050405020304" pitchFamily="18" charset="0"/>
                <a:cs typeface="Times New Roman" panose="02020603050405020304" pitchFamily="18" charset="0"/>
              </a:rPr>
              <a:t>In this case, Git resolves as much as possible, but there are things that have to be resolved manually in the conflicted files.</a:t>
            </a:r>
          </a:p>
          <a:p>
            <a:pPr algn="l"/>
            <a:r>
              <a:rPr lang="en-IN" sz="2400" b="0" i="0" dirty="0">
                <a:solidFill>
                  <a:schemeClr val="tx1"/>
                </a:solidFill>
                <a:effectLst/>
                <a:latin typeface="Times New Roman" panose="02020603050405020304" pitchFamily="18" charset="0"/>
                <a:cs typeface="Times New Roman" panose="02020603050405020304" pitchFamily="18" charset="0"/>
              </a:rPr>
              <a:t>We will now go over resolving merge conflicts in Git.</a:t>
            </a:r>
          </a:p>
          <a:p>
            <a:endParaRPr lang="en-IN" dirty="0"/>
          </a:p>
        </p:txBody>
      </p:sp>
    </p:spTree>
    <p:extLst>
      <p:ext uri="{BB962C8B-B14F-4D97-AF65-F5344CB8AC3E}">
        <p14:creationId xmlns:p14="http://schemas.microsoft.com/office/powerpoint/2010/main" val="347243930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EFC74-899B-12CC-C563-C3E2B41CA035}"/>
              </a:ext>
            </a:extLst>
          </p:cNvPr>
          <p:cNvSpPr>
            <a:spLocks noGrp="1"/>
          </p:cNvSpPr>
          <p:nvPr>
            <p:ph type="title"/>
          </p:nvPr>
        </p:nvSpPr>
        <p:spPr>
          <a:xfrm>
            <a:off x="919119" y="238540"/>
            <a:ext cx="10353762" cy="974036"/>
          </a:xfrm>
        </p:spPr>
        <p:txBody>
          <a:bodyPr>
            <a:normAutofit fontScale="90000"/>
          </a:bodyPr>
          <a:lstStyle/>
          <a:p>
            <a:r>
              <a:rPr lang="en-IN" b="0" i="0" dirty="0">
                <a:solidFill>
                  <a:schemeClr val="tx1"/>
                </a:solidFill>
                <a:effectLst/>
                <a:latin typeface="Times New Roman" panose="02020603050405020304" pitchFamily="18" charset="0"/>
                <a:cs typeface="Times New Roman" panose="02020603050405020304" pitchFamily="18" charset="0"/>
              </a:rPr>
              <a:t>How to Resolve Merge Conflicts in Git?</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90EF9A93-401A-BA5E-654D-929A6CD9DDFC}"/>
              </a:ext>
            </a:extLst>
          </p:cNvPr>
          <p:cNvSpPr>
            <a:spLocks noGrp="1"/>
          </p:cNvSpPr>
          <p:nvPr>
            <p:ph idx="1"/>
          </p:nvPr>
        </p:nvSpPr>
        <p:spPr>
          <a:xfrm>
            <a:off x="636104" y="1663150"/>
            <a:ext cx="11370365" cy="4790660"/>
          </a:xfrm>
        </p:spPr>
        <p:txBody>
          <a:bodyPr>
            <a:normAutofit/>
          </a:bodyPr>
          <a:lstStyle/>
          <a:p>
            <a:pPr algn="l">
              <a:buFont typeface="+mj-lt"/>
              <a:buAutoNum type="arabicPeriod"/>
            </a:pPr>
            <a:r>
              <a:rPr lang="en-IN" sz="2400" b="0" i="0" dirty="0">
                <a:solidFill>
                  <a:schemeClr val="tx1"/>
                </a:solidFill>
                <a:effectLst/>
                <a:latin typeface="Times New Roman" panose="02020603050405020304" pitchFamily="18" charset="0"/>
                <a:cs typeface="Times New Roman" panose="02020603050405020304" pitchFamily="18" charset="0"/>
              </a:rPr>
              <a:t>The easiest way to resolve a conflicted file is to open it and make any necessary changes</a:t>
            </a:r>
          </a:p>
          <a:p>
            <a:pPr algn="l">
              <a:buFont typeface="+mj-lt"/>
              <a:buAutoNum type="arabicPeriod"/>
            </a:pPr>
            <a:r>
              <a:rPr lang="en-IN" sz="2400" b="0" i="0" dirty="0">
                <a:solidFill>
                  <a:schemeClr val="tx1"/>
                </a:solidFill>
                <a:effectLst/>
                <a:latin typeface="Times New Roman" panose="02020603050405020304" pitchFamily="18" charset="0"/>
                <a:cs typeface="Times New Roman" panose="02020603050405020304" pitchFamily="18" charset="0"/>
              </a:rPr>
              <a:t>After editing the file, we can use the git add a command to stage the new merged content</a:t>
            </a:r>
          </a:p>
          <a:p>
            <a:pPr algn="l">
              <a:buFont typeface="+mj-lt"/>
              <a:buAutoNum type="arabicPeriod"/>
            </a:pPr>
            <a:r>
              <a:rPr lang="en-IN" sz="2400" b="0" i="0" dirty="0">
                <a:solidFill>
                  <a:schemeClr val="tx1"/>
                </a:solidFill>
                <a:effectLst/>
                <a:latin typeface="Times New Roman" panose="02020603050405020304" pitchFamily="18" charset="0"/>
                <a:cs typeface="Times New Roman" panose="02020603050405020304" pitchFamily="18" charset="0"/>
              </a:rPr>
              <a:t>The final step is to create a new commit with the help of the git commit command</a:t>
            </a:r>
          </a:p>
          <a:p>
            <a:pPr algn="l">
              <a:buFont typeface="+mj-lt"/>
              <a:buAutoNum type="arabicPeriod"/>
            </a:pPr>
            <a:r>
              <a:rPr lang="en-IN" sz="2400" b="0" i="0" dirty="0">
                <a:solidFill>
                  <a:schemeClr val="tx1"/>
                </a:solidFill>
                <a:effectLst/>
                <a:latin typeface="Times New Roman" panose="02020603050405020304" pitchFamily="18" charset="0"/>
                <a:cs typeface="Times New Roman" panose="02020603050405020304" pitchFamily="18" charset="0"/>
              </a:rPr>
              <a:t>Git will create a new merge commit to finalize the merge</a:t>
            </a:r>
          </a:p>
          <a:p>
            <a:pPr marL="36900" indent="0">
              <a:buNone/>
            </a:pPr>
            <a:endParaRPr lang="en-IN" dirty="0"/>
          </a:p>
        </p:txBody>
      </p:sp>
    </p:spTree>
    <p:extLst>
      <p:ext uri="{BB962C8B-B14F-4D97-AF65-F5344CB8AC3E}">
        <p14:creationId xmlns:p14="http://schemas.microsoft.com/office/powerpoint/2010/main" val="159907315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669089-80DB-B8CE-A520-3D3B64356A8F}"/>
              </a:ext>
            </a:extLst>
          </p:cNvPr>
          <p:cNvSpPr>
            <a:spLocks noGrp="1"/>
          </p:cNvSpPr>
          <p:nvPr>
            <p:ph type="title"/>
          </p:nvPr>
        </p:nvSpPr>
        <p:spPr>
          <a:xfrm>
            <a:off x="919119" y="649357"/>
            <a:ext cx="10353762" cy="397565"/>
          </a:xfrm>
        </p:spPr>
        <p:txBody>
          <a:bodyPr>
            <a:normAutofit fontScale="90000"/>
          </a:bodyPr>
          <a:lstStyle/>
          <a:p>
            <a:r>
              <a:rPr lang="en-IN" b="0" i="0" dirty="0">
                <a:solidFill>
                  <a:schemeClr val="tx1"/>
                </a:solidFill>
                <a:effectLst/>
                <a:latin typeface="Times New Roman" panose="02020603050405020304" pitchFamily="18" charset="0"/>
                <a:cs typeface="Times New Roman" panose="02020603050405020304" pitchFamily="18" charset="0"/>
              </a:rPr>
              <a:t>Git Commands to Resolve Conflicts</a:t>
            </a:r>
            <a:br>
              <a:rPr lang="en-IN" b="0" i="0" dirty="0">
                <a:solidFill>
                  <a:schemeClr val="tx1"/>
                </a:solidFill>
                <a:effectLst/>
                <a:latin typeface="Times New Roman" panose="02020603050405020304" pitchFamily="18" charset="0"/>
                <a:cs typeface="Times New Roman" panose="02020603050405020304" pitchFamily="18" charset="0"/>
              </a:rPr>
            </a:b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B81A34D5-F688-85BE-FD4B-5183D6D5E7E7}"/>
              </a:ext>
            </a:extLst>
          </p:cNvPr>
          <p:cNvSpPr>
            <a:spLocks noGrp="1"/>
          </p:cNvSpPr>
          <p:nvPr>
            <p:ph idx="1"/>
          </p:nvPr>
        </p:nvSpPr>
        <p:spPr>
          <a:xfrm>
            <a:off x="86139" y="649357"/>
            <a:ext cx="12019722" cy="6208643"/>
          </a:xfrm>
        </p:spPr>
        <p:txBody>
          <a:bodyPr>
            <a:normAutofit fontScale="70000" lnSpcReduction="20000"/>
          </a:bodyPr>
          <a:lstStyle/>
          <a:p>
            <a:pPr marL="36900" indent="0" algn="l">
              <a:buNone/>
            </a:pPr>
            <a:r>
              <a:rPr lang="en-IN" sz="3300" b="0" i="0" dirty="0">
                <a:solidFill>
                  <a:schemeClr val="tx1"/>
                </a:solidFill>
                <a:effectLst/>
                <a:latin typeface="Times New Roman" panose="02020603050405020304" pitchFamily="18" charset="0"/>
                <a:cs typeface="Times New Roman" panose="02020603050405020304" pitchFamily="18" charset="0"/>
              </a:rPr>
              <a:t>1. git log --merge </a:t>
            </a:r>
          </a:p>
          <a:p>
            <a:pPr algn="l"/>
            <a:r>
              <a:rPr lang="en-IN" sz="3300" b="0" i="0" dirty="0">
                <a:solidFill>
                  <a:schemeClr val="tx1"/>
                </a:solidFill>
                <a:effectLst/>
                <a:latin typeface="Times New Roman" panose="02020603050405020304" pitchFamily="18" charset="0"/>
                <a:cs typeface="Times New Roman" panose="02020603050405020304" pitchFamily="18" charset="0"/>
              </a:rPr>
              <a:t>The git log --merge command helps to produce the list of commits that are causing the conflict</a:t>
            </a:r>
          </a:p>
          <a:p>
            <a:pPr marL="36900" indent="0" algn="l">
              <a:buNone/>
            </a:pPr>
            <a:r>
              <a:rPr lang="en-IN" sz="3300" b="0" i="0" dirty="0">
                <a:solidFill>
                  <a:schemeClr val="tx1"/>
                </a:solidFill>
                <a:effectLst/>
                <a:latin typeface="Times New Roman" panose="02020603050405020304" pitchFamily="18" charset="0"/>
                <a:cs typeface="Times New Roman" panose="02020603050405020304" pitchFamily="18" charset="0"/>
              </a:rPr>
              <a:t>2. git diff </a:t>
            </a:r>
          </a:p>
          <a:p>
            <a:pPr algn="l"/>
            <a:r>
              <a:rPr lang="en-IN" sz="3300" b="0" i="0" dirty="0">
                <a:solidFill>
                  <a:schemeClr val="tx1"/>
                </a:solidFill>
                <a:effectLst/>
                <a:latin typeface="Times New Roman" panose="02020603050405020304" pitchFamily="18" charset="0"/>
                <a:cs typeface="Times New Roman" panose="02020603050405020304" pitchFamily="18" charset="0"/>
              </a:rPr>
              <a:t>The git diff command helps to identify the differences between the states repositories or files</a:t>
            </a:r>
          </a:p>
          <a:p>
            <a:pPr marL="36900" indent="0" algn="l">
              <a:buNone/>
            </a:pPr>
            <a:r>
              <a:rPr lang="en-IN" sz="3300" b="0" i="0" dirty="0">
                <a:solidFill>
                  <a:schemeClr val="tx1"/>
                </a:solidFill>
                <a:effectLst/>
                <a:latin typeface="Times New Roman" panose="02020603050405020304" pitchFamily="18" charset="0"/>
                <a:cs typeface="Times New Roman" panose="02020603050405020304" pitchFamily="18" charset="0"/>
              </a:rPr>
              <a:t>3. git checkout </a:t>
            </a:r>
          </a:p>
          <a:p>
            <a:pPr algn="l"/>
            <a:r>
              <a:rPr lang="en-IN" sz="3300" b="0" i="0" dirty="0">
                <a:solidFill>
                  <a:schemeClr val="tx1"/>
                </a:solidFill>
                <a:effectLst/>
                <a:latin typeface="Times New Roman" panose="02020603050405020304" pitchFamily="18" charset="0"/>
                <a:cs typeface="Times New Roman" panose="02020603050405020304" pitchFamily="18" charset="0"/>
              </a:rPr>
              <a:t>The git checkout command is used to undo the changes made to the file, or for changing branches</a:t>
            </a:r>
          </a:p>
          <a:p>
            <a:pPr marL="36900" indent="0" algn="l">
              <a:buNone/>
            </a:pPr>
            <a:r>
              <a:rPr lang="en-IN" sz="3300" b="0" i="0" dirty="0">
                <a:solidFill>
                  <a:schemeClr val="tx1"/>
                </a:solidFill>
                <a:effectLst/>
                <a:latin typeface="Times New Roman" panose="02020603050405020304" pitchFamily="18" charset="0"/>
                <a:cs typeface="Times New Roman" panose="02020603050405020304" pitchFamily="18" charset="0"/>
              </a:rPr>
              <a:t>4. git reset --mixed </a:t>
            </a:r>
          </a:p>
          <a:p>
            <a:pPr algn="l"/>
            <a:r>
              <a:rPr lang="en-IN" sz="3300" b="0" i="0" dirty="0">
                <a:solidFill>
                  <a:schemeClr val="tx1"/>
                </a:solidFill>
                <a:effectLst/>
                <a:latin typeface="Times New Roman" panose="02020603050405020304" pitchFamily="18" charset="0"/>
                <a:cs typeface="Times New Roman" panose="02020603050405020304" pitchFamily="18" charset="0"/>
              </a:rPr>
              <a:t>The git reset --mixed command is used to undo changes to the working directory and staging area</a:t>
            </a:r>
          </a:p>
          <a:p>
            <a:pPr marL="36900" indent="0" algn="l">
              <a:buNone/>
            </a:pPr>
            <a:r>
              <a:rPr lang="en-IN" sz="3300" b="0" i="0" dirty="0">
                <a:solidFill>
                  <a:schemeClr val="tx1"/>
                </a:solidFill>
                <a:effectLst/>
                <a:latin typeface="Times New Roman" panose="02020603050405020304" pitchFamily="18" charset="0"/>
                <a:cs typeface="Times New Roman" panose="02020603050405020304" pitchFamily="18" charset="0"/>
              </a:rPr>
              <a:t>5. git merge --abort</a:t>
            </a:r>
          </a:p>
          <a:p>
            <a:pPr algn="l"/>
            <a:r>
              <a:rPr lang="en-IN" sz="3300" b="0" i="0" dirty="0">
                <a:solidFill>
                  <a:schemeClr val="tx1"/>
                </a:solidFill>
                <a:effectLst/>
                <a:latin typeface="Times New Roman" panose="02020603050405020304" pitchFamily="18" charset="0"/>
                <a:cs typeface="Times New Roman" panose="02020603050405020304" pitchFamily="18" charset="0"/>
              </a:rPr>
              <a:t>The git merge --abort command helps in exiting the merge process and returning back to the state before the merging began</a:t>
            </a:r>
          </a:p>
          <a:p>
            <a:pPr marL="36900" indent="0" algn="l">
              <a:buNone/>
            </a:pPr>
            <a:r>
              <a:rPr lang="en-IN" sz="3300" b="0" i="0" dirty="0">
                <a:solidFill>
                  <a:schemeClr val="tx1"/>
                </a:solidFill>
                <a:effectLst/>
                <a:latin typeface="Times New Roman" panose="02020603050405020304" pitchFamily="18" charset="0"/>
                <a:cs typeface="Times New Roman" panose="02020603050405020304" pitchFamily="18" charset="0"/>
              </a:rPr>
              <a:t>6. git reset</a:t>
            </a:r>
          </a:p>
          <a:p>
            <a:pPr algn="l"/>
            <a:r>
              <a:rPr lang="en-IN" sz="3300" b="0" i="0" dirty="0">
                <a:solidFill>
                  <a:schemeClr val="tx1"/>
                </a:solidFill>
                <a:effectLst/>
                <a:latin typeface="Times New Roman" panose="02020603050405020304" pitchFamily="18" charset="0"/>
                <a:cs typeface="Times New Roman" panose="02020603050405020304" pitchFamily="18" charset="0"/>
              </a:rPr>
              <a:t>The git reset command is used at the time of merge conflict to reset the conflicted files to their original state</a:t>
            </a:r>
          </a:p>
          <a:p>
            <a:pPr marL="36900" indent="0">
              <a:buNone/>
            </a:pPr>
            <a:endParaRPr lang="en-IN" dirty="0"/>
          </a:p>
        </p:txBody>
      </p:sp>
    </p:spTree>
    <p:extLst>
      <p:ext uri="{BB962C8B-B14F-4D97-AF65-F5344CB8AC3E}">
        <p14:creationId xmlns:p14="http://schemas.microsoft.com/office/powerpoint/2010/main" val="26999892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B5047E-69A6-EBE6-244D-B8FCA10E1E4A}"/>
              </a:ext>
            </a:extLst>
          </p:cNvPr>
          <p:cNvSpPr>
            <a:spLocks noGrp="1"/>
          </p:cNvSpPr>
          <p:nvPr>
            <p:ph type="title"/>
          </p:nvPr>
        </p:nvSpPr>
        <p:spPr>
          <a:xfrm>
            <a:off x="913795" y="225287"/>
            <a:ext cx="10353762" cy="675861"/>
          </a:xfrm>
        </p:spPr>
        <p:txBody>
          <a:bodyPr>
            <a:normAutofit fontScale="90000"/>
          </a:bodyPr>
          <a:lstStyle/>
          <a:p>
            <a:r>
              <a:rPr lang="en-IN" b="0" i="0" dirty="0">
                <a:solidFill>
                  <a:schemeClr val="tx1"/>
                </a:solidFill>
                <a:effectLst/>
                <a:latin typeface="Times New Roman" panose="02020603050405020304" pitchFamily="18" charset="0"/>
                <a:cs typeface="Times New Roman" panose="02020603050405020304" pitchFamily="18" charset="0"/>
              </a:rPr>
              <a:t>Demo: Resolving Git Merge Conflicts</a:t>
            </a:r>
            <a:br>
              <a:rPr lang="en-IN" b="0" i="0" dirty="0">
                <a:solidFill>
                  <a:srgbClr val="272C37"/>
                </a:solidFill>
                <a:effectLst/>
                <a:latin typeface="Roboto" panose="02000000000000000000" pitchFamily="2" charset="0"/>
              </a:rPr>
            </a:br>
            <a:endParaRPr lang="en-IN" dirty="0"/>
          </a:p>
        </p:txBody>
      </p:sp>
      <p:sp>
        <p:nvSpPr>
          <p:cNvPr id="3" name="Content Placeholder 2">
            <a:extLst>
              <a:ext uri="{FF2B5EF4-FFF2-40B4-BE49-F238E27FC236}">
                <a16:creationId xmlns:a16="http://schemas.microsoft.com/office/drawing/2014/main" id="{2F5CA856-2C8A-F495-DD98-3C9FE1BE9349}"/>
              </a:ext>
            </a:extLst>
          </p:cNvPr>
          <p:cNvSpPr>
            <a:spLocks noGrp="1"/>
          </p:cNvSpPr>
          <p:nvPr>
            <p:ph idx="1"/>
          </p:nvPr>
        </p:nvSpPr>
        <p:spPr>
          <a:xfrm>
            <a:off x="106017" y="662609"/>
            <a:ext cx="11873948" cy="6096000"/>
          </a:xfrm>
        </p:spPr>
        <p:txBody>
          <a:bodyPr/>
          <a:lstStyle/>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First, initialize two repositories:</a:t>
            </a:r>
          </a:p>
          <a:p>
            <a:r>
              <a:rPr lang="en-IN" b="0" i="0" dirty="0">
                <a:solidFill>
                  <a:srgbClr val="51565E"/>
                </a:solidFill>
                <a:effectLst/>
                <a:latin typeface="Roboto" panose="02000000000000000000" pitchFamily="2" charset="0"/>
              </a:rPr>
              <a:t> </a:t>
            </a:r>
            <a:r>
              <a:rPr lang="en-IN" b="0" i="0" dirty="0">
                <a:solidFill>
                  <a:schemeClr val="tx1"/>
                </a:solidFill>
                <a:effectLst/>
                <a:latin typeface="Times New Roman" panose="02020603050405020304" pitchFamily="18" charset="0"/>
                <a:cs typeface="Times New Roman" panose="02020603050405020304" pitchFamily="18" charset="0"/>
              </a:rPr>
              <a:t>git </a:t>
            </a:r>
            <a:r>
              <a:rPr lang="en-IN" b="0" i="0" dirty="0" err="1">
                <a:solidFill>
                  <a:schemeClr val="tx1"/>
                </a:solidFill>
                <a:effectLst/>
                <a:latin typeface="Times New Roman" panose="02020603050405020304" pitchFamily="18" charset="0"/>
                <a:cs typeface="Times New Roman" panose="02020603050405020304" pitchFamily="18" charset="0"/>
              </a:rPr>
              <a:t>init</a:t>
            </a:r>
            <a:r>
              <a:rPr lang="en-IN" b="0" i="0" dirty="0">
                <a:solidFill>
                  <a:schemeClr val="tx1"/>
                </a:solidFill>
                <a:effectLst/>
                <a:latin typeface="Times New Roman" panose="02020603050405020304" pitchFamily="18" charset="0"/>
                <a:cs typeface="Times New Roman" panose="02020603050405020304" pitchFamily="18" charset="0"/>
              </a:rPr>
              <a:t> A</a:t>
            </a:r>
          </a:p>
          <a:p>
            <a:r>
              <a:rPr lang="en-IN" b="0" i="0" dirty="0">
                <a:solidFill>
                  <a:schemeClr val="tx1"/>
                </a:solidFill>
                <a:effectLst/>
                <a:latin typeface="Times New Roman" panose="02020603050405020304" pitchFamily="18" charset="0"/>
                <a:cs typeface="Times New Roman" panose="02020603050405020304" pitchFamily="18" charset="0"/>
              </a:rPr>
              <a:t>git </a:t>
            </a:r>
            <a:r>
              <a:rPr lang="en-IN" b="0" i="0" dirty="0" err="1">
                <a:solidFill>
                  <a:schemeClr val="tx1"/>
                </a:solidFill>
                <a:effectLst/>
                <a:latin typeface="Times New Roman" panose="02020603050405020304" pitchFamily="18" charset="0"/>
                <a:cs typeface="Times New Roman" panose="02020603050405020304" pitchFamily="18" charset="0"/>
              </a:rPr>
              <a:t>init</a:t>
            </a:r>
            <a:r>
              <a:rPr lang="en-IN" b="0" i="0" dirty="0">
                <a:solidFill>
                  <a:schemeClr val="tx1"/>
                </a:solidFill>
                <a:effectLst/>
                <a:latin typeface="Times New Roman" panose="02020603050405020304" pitchFamily="18" charset="0"/>
                <a:cs typeface="Times New Roman" panose="02020603050405020304" pitchFamily="18" charset="0"/>
              </a:rPr>
              <a:t> B</a:t>
            </a:r>
          </a:p>
          <a:p>
            <a:endParaRPr lang="en-IN" b="1" dirty="0"/>
          </a:p>
          <a:p>
            <a:pPr marL="36900" indent="0">
              <a:buNone/>
            </a:pPr>
            <a:endParaRPr lang="en-IN" b="1" dirty="0"/>
          </a:p>
          <a:p>
            <a:pPr marL="36900" indent="0">
              <a:buNone/>
            </a:pPr>
            <a:endParaRPr lang="en-IN" b="1" dirty="0"/>
          </a:p>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Add the remote address in the A repository:</a:t>
            </a:r>
          </a:p>
          <a:p>
            <a:r>
              <a:rPr lang="en-IN" b="0" i="0" dirty="0">
                <a:solidFill>
                  <a:schemeClr val="tx1"/>
                </a:solidFill>
                <a:effectLst/>
                <a:latin typeface="Times New Roman" panose="02020603050405020304" pitchFamily="18" charset="0"/>
                <a:cs typeface="Times New Roman" panose="02020603050405020304" pitchFamily="18" charset="0"/>
              </a:rPr>
              <a:t>git remote add origin *address*       </a:t>
            </a:r>
            <a:endParaRPr lang="en-IN" b="1" dirty="0">
              <a:solidFill>
                <a:schemeClr val="tx1"/>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48C3EA1C-5277-55A7-C83A-3AC4A6EA6F98}"/>
              </a:ext>
            </a:extLst>
          </p:cNvPr>
          <p:cNvPicPr>
            <a:picLocks noChangeAspect="1"/>
          </p:cNvPicPr>
          <p:nvPr/>
        </p:nvPicPr>
        <p:blipFill>
          <a:blip r:embed="rId2"/>
          <a:stretch>
            <a:fillRect/>
          </a:stretch>
        </p:blipFill>
        <p:spPr>
          <a:xfrm>
            <a:off x="2081626" y="1590675"/>
            <a:ext cx="5457825" cy="1838325"/>
          </a:xfrm>
          <a:prstGeom prst="rect">
            <a:avLst/>
          </a:prstGeom>
        </p:spPr>
      </p:pic>
      <p:pic>
        <p:nvPicPr>
          <p:cNvPr id="5" name="Picture 4">
            <a:extLst>
              <a:ext uri="{FF2B5EF4-FFF2-40B4-BE49-F238E27FC236}">
                <a16:creationId xmlns:a16="http://schemas.microsoft.com/office/drawing/2014/main" id="{7BBE701A-5B70-F9A8-3520-C13DF803C954}"/>
              </a:ext>
            </a:extLst>
          </p:cNvPr>
          <p:cNvPicPr>
            <a:picLocks noChangeAspect="1"/>
          </p:cNvPicPr>
          <p:nvPr/>
        </p:nvPicPr>
        <p:blipFill>
          <a:blip r:embed="rId3"/>
          <a:stretch>
            <a:fillRect/>
          </a:stretch>
        </p:blipFill>
        <p:spPr>
          <a:xfrm>
            <a:off x="4439479" y="4794388"/>
            <a:ext cx="6828078" cy="1838325"/>
          </a:xfrm>
          <a:prstGeom prst="rect">
            <a:avLst/>
          </a:prstGeom>
        </p:spPr>
      </p:pic>
    </p:spTree>
    <p:extLst>
      <p:ext uri="{BB962C8B-B14F-4D97-AF65-F5344CB8AC3E}">
        <p14:creationId xmlns:p14="http://schemas.microsoft.com/office/powerpoint/2010/main" val="356135700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08AA9A-3419-CAE0-7D17-30C223B2DA4D}"/>
              </a:ext>
            </a:extLst>
          </p:cNvPr>
          <p:cNvSpPr>
            <a:spLocks noGrp="1"/>
          </p:cNvSpPr>
          <p:nvPr>
            <p:ph idx="1"/>
          </p:nvPr>
        </p:nvSpPr>
        <p:spPr>
          <a:xfrm>
            <a:off x="191070" y="95534"/>
            <a:ext cx="11818960" cy="6482686"/>
          </a:xfrm>
        </p:spPr>
        <p:txBody>
          <a:bodyPr/>
          <a:lstStyle/>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The next step is to pull all the changes in the central repository to the local repository.</a:t>
            </a:r>
          </a:p>
          <a:p>
            <a:r>
              <a:rPr lang="en-IN" b="0" i="0" dirty="0">
                <a:solidFill>
                  <a:schemeClr val="tx1"/>
                </a:solidFill>
                <a:effectLst/>
                <a:latin typeface="Times New Roman" panose="02020603050405020304" pitchFamily="18" charset="0"/>
                <a:cs typeface="Times New Roman" panose="02020603050405020304" pitchFamily="18" charset="0"/>
              </a:rPr>
              <a:t>git pull origin master</a:t>
            </a: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Follow the same process to add the origin in the B repository.</a:t>
            </a:r>
          </a:p>
          <a:p>
            <a:r>
              <a:rPr lang="en-IN" b="0" i="0" dirty="0">
                <a:solidFill>
                  <a:schemeClr val="tx1"/>
                </a:solidFill>
                <a:effectLst/>
                <a:latin typeface="Times New Roman" panose="02020603050405020304" pitchFamily="18" charset="0"/>
                <a:cs typeface="Times New Roman" panose="02020603050405020304" pitchFamily="18" charset="0"/>
              </a:rPr>
              <a:t>git remote add origin *address*</a:t>
            </a:r>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rgbClr val="51565E"/>
              </a:solidFill>
              <a:effectLst/>
              <a:latin typeface="Roboto" panose="02000000000000000000" pitchFamily="2" charset="0"/>
            </a:endParaRPr>
          </a:p>
          <a:p>
            <a:endParaRPr lang="en-IN" dirty="0"/>
          </a:p>
        </p:txBody>
      </p:sp>
      <p:pic>
        <p:nvPicPr>
          <p:cNvPr id="3077" name="Picture 5" descr="follow">
            <a:extLst>
              <a:ext uri="{FF2B5EF4-FFF2-40B4-BE49-F238E27FC236}">
                <a16:creationId xmlns:a16="http://schemas.microsoft.com/office/drawing/2014/main" id="{1C46013D-6B02-9553-D862-639DA0AAEC7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28675" y="571855"/>
            <a:ext cx="6707146" cy="2239584"/>
          </a:xfrm>
          <a:prstGeom prst="rect">
            <a:avLst/>
          </a:prstGeom>
          <a:noFill/>
          <a:extLst>
            <a:ext uri="{909E8E84-426E-40DD-AFC4-6F175D3DCCD1}">
              <a14:hiddenFill xmlns:a14="http://schemas.microsoft.com/office/drawing/2010/main">
                <a:solidFill>
                  <a:srgbClr val="FFFFFF"/>
                </a:solidFill>
              </a14:hiddenFill>
            </a:ext>
          </a:extLst>
        </p:spPr>
      </p:pic>
      <p:pic>
        <p:nvPicPr>
          <p:cNvPr id="3079" name="Picture 7" descr="the-pull">
            <a:extLst>
              <a:ext uri="{FF2B5EF4-FFF2-40B4-BE49-F238E27FC236}">
                <a16:creationId xmlns:a16="http://schemas.microsoft.com/office/drawing/2014/main" id="{62E42249-2E2A-A2DB-D0D1-CCDA43AF98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47535" y="4686655"/>
            <a:ext cx="8571020" cy="9225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7195530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4BE2E46-F317-0D93-B829-E05A78D1F304}"/>
              </a:ext>
            </a:extLst>
          </p:cNvPr>
          <p:cNvSpPr>
            <a:spLocks noGrp="1"/>
          </p:cNvSpPr>
          <p:nvPr>
            <p:ph idx="1"/>
          </p:nvPr>
        </p:nvSpPr>
        <p:spPr>
          <a:xfrm>
            <a:off x="94114" y="120637"/>
            <a:ext cx="11885851" cy="6571711"/>
          </a:xfrm>
        </p:spPr>
        <p:txBody>
          <a:bodyPr/>
          <a:lstStyle/>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The pull command is executed again to retrieve all the content from the remote repository and move it to the local repository.</a:t>
            </a:r>
          </a:p>
          <a:p>
            <a:r>
              <a:rPr lang="en-IN" b="0" i="0" dirty="0">
                <a:solidFill>
                  <a:schemeClr val="tx1"/>
                </a:solidFill>
                <a:effectLst/>
                <a:latin typeface="Times New Roman" panose="02020603050405020304" pitchFamily="18" charset="0"/>
                <a:cs typeface="Times New Roman" panose="02020603050405020304" pitchFamily="18" charset="0"/>
              </a:rPr>
              <a:t>git pull origin master</a:t>
            </a: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b="0" i="0"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b="0" i="0"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buNone/>
            </a:pPr>
            <a:endParaRPr lang="en-IN" b="0" i="0" dirty="0">
              <a:solidFill>
                <a:schemeClr val="tx1"/>
              </a:solidFill>
              <a:effectLst/>
              <a:latin typeface="Times New Roman" panose="02020603050405020304" pitchFamily="18" charset="0"/>
              <a:cs typeface="Times New Roman" panose="02020603050405020304" pitchFamily="18" charset="0"/>
            </a:endParaRPr>
          </a:p>
          <a:p>
            <a:r>
              <a:rPr lang="en-IN" b="0" i="0" dirty="0">
                <a:solidFill>
                  <a:schemeClr val="tx1"/>
                </a:solidFill>
                <a:effectLst/>
                <a:latin typeface="Times New Roman" panose="02020603050405020304" pitchFamily="18" charset="0"/>
                <a:cs typeface="Times New Roman" panose="02020603050405020304" pitchFamily="18" charset="0"/>
              </a:rPr>
              <a:t>Both of these repositories represent two different repositories of two different developers.</a:t>
            </a:r>
          </a:p>
          <a:p>
            <a:pPr marL="36900" indent="0">
              <a:buNone/>
            </a:pPr>
            <a:endParaRPr lang="en-IN" dirty="0"/>
          </a:p>
        </p:txBody>
      </p:sp>
      <p:pic>
        <p:nvPicPr>
          <p:cNvPr id="4098" name="Picture 2" descr="both">
            <a:extLst>
              <a:ext uri="{FF2B5EF4-FFF2-40B4-BE49-F238E27FC236}">
                <a16:creationId xmlns:a16="http://schemas.microsoft.com/office/drawing/2014/main" id="{F3BE6AC4-148E-1484-D649-79188882E2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7268" y="1789043"/>
            <a:ext cx="7301874" cy="2589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09804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96E0C2C-CD7D-4587-E954-69CA175B4011}"/>
              </a:ext>
            </a:extLst>
          </p:cNvPr>
          <p:cNvSpPr>
            <a:spLocks noGrp="1"/>
          </p:cNvSpPr>
          <p:nvPr>
            <p:ph idx="1"/>
          </p:nvPr>
        </p:nvSpPr>
        <p:spPr>
          <a:xfrm>
            <a:off x="119270" y="92764"/>
            <a:ext cx="11940207" cy="6765235"/>
          </a:xfrm>
        </p:spPr>
        <p:txBody>
          <a:bodyPr>
            <a:normAutofit/>
          </a:bodyPr>
          <a:lstStyle/>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Let's get back to the A repository.</a:t>
            </a:r>
          </a:p>
          <a:p>
            <a:r>
              <a:rPr lang="en-IN" b="0" i="0" dirty="0">
                <a:solidFill>
                  <a:schemeClr val="tx1"/>
                </a:solidFill>
                <a:effectLst/>
                <a:latin typeface="Times New Roman" panose="02020603050405020304" pitchFamily="18" charset="0"/>
                <a:cs typeface="Times New Roman" panose="02020603050405020304" pitchFamily="18" charset="0"/>
              </a:rPr>
              <a:t>cd ../A</a:t>
            </a: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In the A repository, a readme file is opened in order to make various changes.</a:t>
            </a:r>
          </a:p>
          <a:p>
            <a:r>
              <a:rPr lang="en-IN" b="0" i="0" dirty="0">
                <a:solidFill>
                  <a:schemeClr val="tx1"/>
                </a:solidFill>
                <a:effectLst/>
                <a:latin typeface="Times New Roman" panose="02020603050405020304" pitchFamily="18" charset="0"/>
                <a:cs typeface="Times New Roman" panose="02020603050405020304" pitchFamily="18" charset="0"/>
              </a:rPr>
              <a:t>vi README.md</a:t>
            </a:r>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rgbClr val="51565E"/>
              </a:solidFill>
              <a:effectLst/>
              <a:latin typeface="Roboto" panose="02000000000000000000" pitchFamily="2" charset="0"/>
            </a:endParaRPr>
          </a:p>
          <a:p>
            <a:endParaRPr lang="en-IN" dirty="0"/>
          </a:p>
        </p:txBody>
      </p:sp>
      <p:pic>
        <p:nvPicPr>
          <p:cNvPr id="5122" name="Picture 2">
            <a:extLst>
              <a:ext uri="{FF2B5EF4-FFF2-40B4-BE49-F238E27FC236}">
                <a16:creationId xmlns:a16="http://schemas.microsoft.com/office/drawing/2014/main" id="{ED2E5C06-7F51-7C80-26D4-C401BB055D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0410" y="727420"/>
            <a:ext cx="5634120" cy="968858"/>
          </a:xfrm>
          <a:prstGeom prst="rect">
            <a:avLst/>
          </a:prstGeom>
          <a:noFill/>
          <a:extLst>
            <a:ext uri="{909E8E84-426E-40DD-AFC4-6F175D3DCCD1}">
              <a14:hiddenFill xmlns:a14="http://schemas.microsoft.com/office/drawing/2010/main">
                <a:solidFill>
                  <a:srgbClr val="FFFFFF"/>
                </a:solidFill>
              </a14:hiddenFill>
            </a:ext>
          </a:extLst>
        </p:spPr>
      </p:pic>
      <p:pic>
        <p:nvPicPr>
          <p:cNvPr id="5124" name="Picture 4" descr="make">
            <a:extLst>
              <a:ext uri="{FF2B5EF4-FFF2-40B4-BE49-F238E27FC236}">
                <a16:creationId xmlns:a16="http://schemas.microsoft.com/office/drawing/2014/main" id="{749370DD-F132-7142-0602-8E2439F09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151385" y="2843626"/>
            <a:ext cx="7503363" cy="388728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714931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AE934E-46BF-4CF9-4AF1-0788479086D9}"/>
              </a:ext>
            </a:extLst>
          </p:cNvPr>
          <p:cNvSpPr>
            <a:spLocks noGrp="1"/>
          </p:cNvSpPr>
          <p:nvPr>
            <p:ph idx="1"/>
          </p:nvPr>
        </p:nvSpPr>
        <p:spPr>
          <a:xfrm>
            <a:off x="92766" y="145774"/>
            <a:ext cx="11979964" cy="6599583"/>
          </a:xfrm>
        </p:spPr>
        <p:txBody>
          <a:bodyPr/>
          <a:lstStyle/>
          <a:p>
            <a:pPr marL="36900" indent="0" algn="l">
              <a:buNone/>
            </a:pPr>
            <a:r>
              <a:rPr lang="en-IN" b="0" i="0" dirty="0">
                <a:solidFill>
                  <a:schemeClr val="tx1"/>
                </a:solidFill>
                <a:effectLst/>
                <a:latin typeface="Times New Roman" panose="02020603050405020304" pitchFamily="18" charset="0"/>
                <a:cs typeface="Times New Roman" panose="02020603050405020304" pitchFamily="18" charset="0"/>
              </a:rPr>
              <a:t>Make the necessary changes in the file, and then save it.</a:t>
            </a:r>
          </a:p>
          <a:p>
            <a:pPr marL="36900" indent="0" algn="l">
              <a:buNone/>
            </a:pPr>
            <a:r>
              <a:rPr lang="en-IN" b="0" i="0" dirty="0">
                <a:solidFill>
                  <a:schemeClr val="tx1"/>
                </a:solidFill>
                <a:effectLst/>
                <a:latin typeface="Times New Roman" panose="02020603050405020304" pitchFamily="18" charset="0"/>
                <a:cs typeface="Times New Roman" panose="02020603050405020304" pitchFamily="18" charset="0"/>
              </a:rPr>
              <a:t>The git status command is then executed in order to see the reflected changes. </a:t>
            </a:r>
          </a:p>
          <a:p>
            <a:pPr algn="l"/>
            <a:r>
              <a:rPr lang="en-IN" b="0" i="0" dirty="0">
                <a:solidFill>
                  <a:schemeClr val="tx1"/>
                </a:solidFill>
                <a:effectLst/>
                <a:latin typeface="Times New Roman" panose="02020603050405020304" pitchFamily="18" charset="0"/>
                <a:cs typeface="Times New Roman" panose="02020603050405020304" pitchFamily="18" charset="0"/>
              </a:rPr>
              <a:t>git status</a:t>
            </a:r>
          </a:p>
          <a:p>
            <a:pPr algn="l"/>
            <a:endParaRPr lang="en-IN" dirty="0">
              <a:solidFill>
                <a:schemeClr val="tx1"/>
              </a:solidFill>
              <a:effectLst/>
              <a:latin typeface="Times New Roman" panose="02020603050405020304" pitchFamily="18" charset="0"/>
              <a:cs typeface="Times New Roman" panose="02020603050405020304" pitchFamily="18" charset="0"/>
            </a:endParaRPr>
          </a:p>
          <a:p>
            <a:pPr algn="l"/>
            <a:endParaRPr lang="en-IN" dirty="0">
              <a:solidFill>
                <a:schemeClr val="tx1"/>
              </a:solidFill>
              <a:effectLst/>
              <a:latin typeface="Times New Roman" panose="02020603050405020304" pitchFamily="18" charset="0"/>
              <a:cs typeface="Times New Roman" panose="02020603050405020304" pitchFamily="18" charset="0"/>
            </a:endParaRPr>
          </a:p>
          <a:p>
            <a:pPr algn="l"/>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lgn="l">
              <a:buNone/>
            </a:pPr>
            <a:r>
              <a:rPr lang="en-IN" b="0" i="0" dirty="0">
                <a:solidFill>
                  <a:schemeClr val="tx1"/>
                </a:solidFill>
                <a:effectLst/>
                <a:latin typeface="Times New Roman" panose="02020603050405020304" pitchFamily="18" charset="0"/>
                <a:cs typeface="Times New Roman" panose="02020603050405020304" pitchFamily="18" charset="0"/>
              </a:rPr>
              <a:t>The next step is to add these changes to the staging area and commit them.</a:t>
            </a:r>
          </a:p>
          <a:p>
            <a:r>
              <a:rPr lang="en-IN" b="0" i="0" dirty="0">
                <a:solidFill>
                  <a:schemeClr val="tx1"/>
                </a:solidFill>
                <a:effectLst/>
                <a:latin typeface="Times New Roman" panose="02020603050405020304" pitchFamily="18" charset="0"/>
                <a:cs typeface="Times New Roman" panose="02020603050405020304" pitchFamily="18" charset="0"/>
              </a:rPr>
              <a:t>git add.</a:t>
            </a:r>
          </a:p>
          <a:p>
            <a:r>
              <a:rPr lang="en-IN" b="0" i="0" dirty="0">
                <a:solidFill>
                  <a:schemeClr val="tx1"/>
                </a:solidFill>
                <a:effectLst/>
                <a:latin typeface="Times New Roman" panose="02020603050405020304" pitchFamily="18" charset="0"/>
                <a:cs typeface="Times New Roman" panose="02020603050405020304" pitchFamily="18" charset="0"/>
              </a:rPr>
              <a:t>git commit -m *commit message*</a:t>
            </a:r>
          </a:p>
          <a:p>
            <a:pPr algn="l"/>
            <a:endParaRPr lang="en-IN" dirty="0">
              <a:solidFill>
                <a:srgbClr val="51565E"/>
              </a:solidFill>
              <a:effectLst/>
              <a:latin typeface="Roboto" panose="02000000000000000000" pitchFamily="2" charset="0"/>
            </a:endParaRPr>
          </a:p>
          <a:p>
            <a:pPr algn="l"/>
            <a:endParaRPr lang="en-IN" b="0" i="0" dirty="0">
              <a:solidFill>
                <a:srgbClr val="51565E"/>
              </a:solidFill>
              <a:effectLst/>
              <a:latin typeface="Roboto" panose="02000000000000000000" pitchFamily="2" charset="0"/>
            </a:endParaRPr>
          </a:p>
        </p:txBody>
      </p:sp>
      <p:pic>
        <p:nvPicPr>
          <p:cNvPr id="6146" name="Picture 2" descr="next-st">
            <a:extLst>
              <a:ext uri="{FF2B5EF4-FFF2-40B4-BE49-F238E27FC236}">
                <a16:creationId xmlns:a16="http://schemas.microsoft.com/office/drawing/2014/main" id="{DCBBD145-1F15-17BB-FD73-C7065F75A2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9692" y="1368908"/>
            <a:ext cx="5505450" cy="1628775"/>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after">
            <a:extLst>
              <a:ext uri="{FF2B5EF4-FFF2-40B4-BE49-F238E27FC236}">
                <a16:creationId xmlns:a16="http://schemas.microsoft.com/office/drawing/2014/main" id="{48EA161C-1BF1-BACE-F532-EFAD2DA9A0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592417" y="4329320"/>
            <a:ext cx="5448300" cy="18859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14458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B30C318-843D-95CA-1F5C-AD6CAD53DE55}"/>
              </a:ext>
            </a:extLst>
          </p:cNvPr>
          <p:cNvSpPr>
            <a:spLocks noGrp="1"/>
          </p:cNvSpPr>
          <p:nvPr>
            <p:ph idx="1"/>
          </p:nvPr>
        </p:nvSpPr>
        <p:spPr>
          <a:xfrm>
            <a:off x="0" y="0"/>
            <a:ext cx="12192000" cy="6858000"/>
          </a:xfrm>
        </p:spPr>
        <p:txBody>
          <a:bodyPr/>
          <a:lstStyle/>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After the commit is finished, the changed file is pushed to the remote repository.</a:t>
            </a:r>
          </a:p>
          <a:p>
            <a:r>
              <a:rPr lang="en-IN" b="0" i="0" dirty="0">
                <a:solidFill>
                  <a:schemeClr val="tx1"/>
                </a:solidFill>
                <a:effectLst/>
                <a:latin typeface="Times New Roman" panose="02020603050405020304" pitchFamily="18" charset="0"/>
                <a:cs typeface="Times New Roman" panose="02020603050405020304" pitchFamily="18" charset="0"/>
              </a:rPr>
              <a:t>git push origin master</a:t>
            </a: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Now, return to the B repository. </a:t>
            </a:r>
          </a:p>
          <a:p>
            <a:r>
              <a:rPr lang="en-IN" b="0" i="0" dirty="0">
                <a:solidFill>
                  <a:schemeClr val="tx1"/>
                </a:solidFill>
                <a:effectLst/>
                <a:latin typeface="Times New Roman" panose="02020603050405020304" pitchFamily="18" charset="0"/>
                <a:cs typeface="Times New Roman" panose="02020603050405020304" pitchFamily="18" charset="0"/>
              </a:rPr>
              <a:t>cd B</a:t>
            </a:r>
          </a:p>
          <a:p>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Open a readme file </a:t>
            </a:r>
          </a:p>
          <a:p>
            <a:r>
              <a:rPr lang="en-IN" b="0" i="0" dirty="0">
                <a:solidFill>
                  <a:schemeClr val="tx1"/>
                </a:solidFill>
                <a:effectLst/>
                <a:latin typeface="Times New Roman" panose="02020603050405020304" pitchFamily="18" charset="0"/>
                <a:cs typeface="Times New Roman" panose="02020603050405020304" pitchFamily="18" charset="0"/>
              </a:rPr>
              <a:t>vi README.md</a:t>
            </a:r>
            <a:r>
              <a:rPr lang="en-IN" dirty="0">
                <a:solidFill>
                  <a:schemeClr val="tx1"/>
                </a:solidFill>
                <a:effectLst/>
                <a:latin typeface="Times New Roman" panose="02020603050405020304" pitchFamily="18" charset="0"/>
                <a:cs typeface="Times New Roman" panose="02020603050405020304" pitchFamily="18" charset="0"/>
              </a:rPr>
              <a:t> </a:t>
            </a:r>
          </a:p>
          <a:p>
            <a:endParaRPr lang="en-IN" dirty="0">
              <a:solidFill>
                <a:srgbClr val="51565E"/>
              </a:solidFill>
              <a:effectLst/>
              <a:latin typeface="Roboto" panose="02000000000000000000" pitchFamily="2" charset="0"/>
            </a:endParaRPr>
          </a:p>
          <a:p>
            <a:endParaRPr lang="en-IN" dirty="0"/>
          </a:p>
        </p:txBody>
      </p:sp>
      <p:pic>
        <p:nvPicPr>
          <p:cNvPr id="7171" name="Picture 3">
            <a:extLst>
              <a:ext uri="{FF2B5EF4-FFF2-40B4-BE49-F238E27FC236}">
                <a16:creationId xmlns:a16="http://schemas.microsoft.com/office/drawing/2014/main" id="{1172FB68-42E7-11B6-2A34-A45E25B2A0C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60034" y="481012"/>
            <a:ext cx="4143375" cy="1457325"/>
          </a:xfrm>
          <a:prstGeom prst="rect">
            <a:avLst/>
          </a:prstGeom>
          <a:noFill/>
          <a:extLst>
            <a:ext uri="{909E8E84-426E-40DD-AFC4-6F175D3DCCD1}">
              <a14:hiddenFill xmlns:a14="http://schemas.microsoft.com/office/drawing/2010/main">
                <a:solidFill>
                  <a:srgbClr val="FFFFFF"/>
                </a:solidFill>
              </a14:hiddenFill>
            </a:ext>
          </a:extLst>
        </p:spPr>
      </p:pic>
      <p:pic>
        <p:nvPicPr>
          <p:cNvPr id="7173" name="Picture 5" descr="open-a">
            <a:extLst>
              <a:ext uri="{FF2B5EF4-FFF2-40B4-BE49-F238E27FC236}">
                <a16:creationId xmlns:a16="http://schemas.microsoft.com/office/drawing/2014/main" id="{1F7ADB9F-B94D-4719-624B-BBF04181012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242766" y="2297390"/>
            <a:ext cx="4819650" cy="895350"/>
          </a:xfrm>
          <a:prstGeom prst="rect">
            <a:avLst/>
          </a:prstGeom>
          <a:noFill/>
          <a:extLst>
            <a:ext uri="{909E8E84-426E-40DD-AFC4-6F175D3DCCD1}">
              <a14:hiddenFill xmlns:a14="http://schemas.microsoft.com/office/drawing/2010/main">
                <a:solidFill>
                  <a:srgbClr val="FFFFFF"/>
                </a:solidFill>
              </a14:hiddenFill>
            </a:ext>
          </a:extLst>
        </p:spPr>
      </p:pic>
      <p:pic>
        <p:nvPicPr>
          <p:cNvPr id="7175" name="Picture 7" descr="make-changes">
            <a:extLst>
              <a:ext uri="{FF2B5EF4-FFF2-40B4-BE49-F238E27FC236}">
                <a16:creationId xmlns:a16="http://schemas.microsoft.com/office/drawing/2014/main" id="{F54A70E4-F1EA-6089-85D1-A2872955039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09461" y="3551793"/>
            <a:ext cx="9106728" cy="320104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1232622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581DAA-32C1-85DC-F76D-171D8990209A}"/>
              </a:ext>
            </a:extLst>
          </p:cNvPr>
          <p:cNvSpPr>
            <a:spLocks noGrp="1"/>
          </p:cNvSpPr>
          <p:nvPr>
            <p:ph idx="1"/>
          </p:nvPr>
        </p:nvSpPr>
        <p:spPr>
          <a:xfrm>
            <a:off x="0" y="0"/>
            <a:ext cx="12191999" cy="6858000"/>
          </a:xfrm>
        </p:spPr>
        <p:txBody>
          <a:bodyPr/>
          <a:lstStyle/>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Make changes to the file, save it, and close it. After that, add the changed file and commit it.</a:t>
            </a:r>
          </a:p>
          <a:p>
            <a:r>
              <a:rPr lang="en-IN" b="0" i="0" dirty="0">
                <a:solidFill>
                  <a:schemeClr val="tx1"/>
                </a:solidFill>
                <a:effectLst/>
                <a:latin typeface="Times New Roman" panose="02020603050405020304" pitchFamily="18" charset="0"/>
                <a:cs typeface="Times New Roman" panose="02020603050405020304" pitchFamily="18" charset="0"/>
              </a:rPr>
              <a:t>git add.</a:t>
            </a:r>
          </a:p>
          <a:p>
            <a:r>
              <a:rPr lang="en-IN" b="0" i="0" dirty="0">
                <a:solidFill>
                  <a:schemeClr val="tx1"/>
                </a:solidFill>
                <a:effectLst/>
                <a:latin typeface="Times New Roman" panose="02020603050405020304" pitchFamily="18" charset="0"/>
                <a:cs typeface="Times New Roman" panose="02020603050405020304" pitchFamily="18" charset="0"/>
              </a:rPr>
              <a:t>git commit -m *commit message*</a:t>
            </a: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b="0" i="0" dirty="0">
              <a:solidFill>
                <a:schemeClr val="tx1"/>
              </a:solidFill>
              <a:effectLst/>
              <a:latin typeface="Times New Roman" panose="02020603050405020304" pitchFamily="18" charset="0"/>
              <a:cs typeface="Times New Roman" panose="02020603050405020304" pitchFamily="18" charset="0"/>
            </a:endParaRPr>
          </a:p>
          <a:p>
            <a:endParaRPr lang="en-IN" dirty="0">
              <a:solidFill>
                <a:schemeClr val="tx1"/>
              </a:solidFill>
              <a:effectLst/>
              <a:latin typeface="Times New Roman" panose="02020603050405020304" pitchFamily="18" charset="0"/>
              <a:cs typeface="Times New Roman" panose="02020603050405020304" pitchFamily="18" charset="0"/>
            </a:endParaRPr>
          </a:p>
          <a:p>
            <a:endParaRPr lang="en-IN" b="0" i="0" dirty="0">
              <a:solidFill>
                <a:schemeClr val="tx1"/>
              </a:solidFill>
              <a:effectLst/>
              <a:latin typeface="Times New Roman" panose="02020603050405020304" pitchFamily="18" charset="0"/>
              <a:cs typeface="Times New Roman" panose="02020603050405020304" pitchFamily="18" charset="0"/>
            </a:endParaRPr>
          </a:p>
          <a:p>
            <a:pPr marL="36900" indent="0">
              <a:buNone/>
            </a:pPr>
            <a:endParaRPr lang="en-IN" b="0" i="0" dirty="0">
              <a:solidFill>
                <a:schemeClr val="tx1"/>
              </a:solidFill>
              <a:effectLst/>
              <a:latin typeface="Times New Roman" panose="02020603050405020304" pitchFamily="18" charset="0"/>
              <a:cs typeface="Times New Roman" panose="02020603050405020304" pitchFamily="18" charset="0"/>
            </a:endParaRPr>
          </a:p>
          <a:p>
            <a:pPr marL="36900" indent="0">
              <a:buNone/>
            </a:pPr>
            <a:r>
              <a:rPr lang="en-IN" b="0" i="0" dirty="0">
                <a:solidFill>
                  <a:schemeClr val="tx1"/>
                </a:solidFill>
                <a:effectLst/>
                <a:latin typeface="Times New Roman" panose="02020603050405020304" pitchFamily="18" charset="0"/>
                <a:cs typeface="Times New Roman" panose="02020603050405020304" pitchFamily="18" charset="0"/>
              </a:rPr>
              <a:t>The next step is to push the file to the remote repository</a:t>
            </a:r>
          </a:p>
          <a:p>
            <a:r>
              <a:rPr lang="en-IN" b="0" i="0" dirty="0">
                <a:solidFill>
                  <a:schemeClr val="tx1"/>
                </a:solidFill>
                <a:effectLst/>
                <a:latin typeface="Times New Roman" panose="02020603050405020304" pitchFamily="18" charset="0"/>
                <a:cs typeface="Times New Roman" panose="02020603050405020304" pitchFamily="18" charset="0"/>
              </a:rPr>
              <a:t>git push</a:t>
            </a:r>
            <a:endParaRPr lang="en-IN" dirty="0">
              <a:solidFill>
                <a:schemeClr val="tx1"/>
              </a:solidFill>
              <a:latin typeface="Times New Roman" panose="02020603050405020304" pitchFamily="18" charset="0"/>
              <a:cs typeface="Times New Roman" panose="02020603050405020304" pitchFamily="18" charset="0"/>
            </a:endParaRPr>
          </a:p>
        </p:txBody>
      </p:sp>
      <p:pic>
        <p:nvPicPr>
          <p:cNvPr id="8194" name="Picture 2">
            <a:extLst>
              <a:ext uri="{FF2B5EF4-FFF2-40B4-BE49-F238E27FC236}">
                <a16:creationId xmlns:a16="http://schemas.microsoft.com/office/drawing/2014/main" id="{3BF31416-64A7-53AB-9AF2-C2C44A3B1A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43094" y="1562100"/>
            <a:ext cx="6409289" cy="2184732"/>
          </a:xfrm>
          <a:prstGeom prst="rect">
            <a:avLst/>
          </a:prstGeom>
          <a:noFill/>
          <a:extLst>
            <a:ext uri="{909E8E84-426E-40DD-AFC4-6F175D3DCCD1}">
              <a14:hiddenFill xmlns:a14="http://schemas.microsoft.com/office/drawing/2010/main">
                <a:solidFill>
                  <a:srgbClr val="FFFFFF"/>
                </a:solidFill>
              </a14:hiddenFill>
            </a:ext>
          </a:extLst>
        </p:spPr>
      </p:pic>
      <p:pic>
        <p:nvPicPr>
          <p:cNvPr id="8196" name="Picture 4" descr="an-error">
            <a:extLst>
              <a:ext uri="{FF2B5EF4-FFF2-40B4-BE49-F238E27FC236}">
                <a16:creationId xmlns:a16="http://schemas.microsoft.com/office/drawing/2014/main" id="{0CC5CD45-D3A1-2E18-CDB0-5000111CD5A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028204" y="4737859"/>
            <a:ext cx="8569746" cy="202074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5573327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ACC5F64-2994-F81C-C4D1-E32F49BE32CC}"/>
              </a:ext>
            </a:extLst>
          </p:cNvPr>
          <p:cNvSpPr>
            <a:spLocks noGrp="1"/>
          </p:cNvSpPr>
          <p:nvPr>
            <p:ph idx="1"/>
          </p:nvPr>
        </p:nvSpPr>
        <p:spPr>
          <a:xfrm>
            <a:off x="0" y="0"/>
            <a:ext cx="12192000" cy="6858000"/>
          </a:xfrm>
        </p:spPr>
        <p:txBody>
          <a:bodyPr/>
          <a:lstStyle/>
          <a:p>
            <a:pPr marL="36900" indent="0" algn="l">
              <a:buNone/>
            </a:pPr>
            <a:r>
              <a:rPr lang="en-IN" b="0" i="0" dirty="0">
                <a:solidFill>
                  <a:schemeClr val="tx1"/>
                </a:solidFill>
                <a:effectLst/>
                <a:latin typeface="Times New Roman" panose="02020603050405020304" pitchFamily="18" charset="0"/>
                <a:cs typeface="Times New Roman" panose="02020603050405020304" pitchFamily="18" charset="0"/>
              </a:rPr>
              <a:t>An error is shown, meaning that the updates are rejected.</a:t>
            </a:r>
          </a:p>
          <a:p>
            <a:pPr marL="36900" indent="0" algn="l">
              <a:buNone/>
            </a:pPr>
            <a:r>
              <a:rPr lang="en-IN" b="0" i="0" dirty="0">
                <a:solidFill>
                  <a:schemeClr val="tx1"/>
                </a:solidFill>
                <a:effectLst/>
                <a:latin typeface="Times New Roman" panose="02020603050405020304" pitchFamily="18" charset="0"/>
                <a:cs typeface="Times New Roman" panose="02020603050405020304" pitchFamily="18" charset="0"/>
              </a:rPr>
              <a:t>Next, we need to execute:</a:t>
            </a:r>
          </a:p>
          <a:p>
            <a:r>
              <a:rPr lang="en-IN" b="0" i="0" dirty="0">
                <a:solidFill>
                  <a:schemeClr val="tx1"/>
                </a:solidFill>
                <a:effectLst/>
                <a:latin typeface="Times New Roman" panose="02020603050405020304" pitchFamily="18" charset="0"/>
                <a:cs typeface="Times New Roman" panose="02020603050405020304" pitchFamily="18" charset="0"/>
              </a:rPr>
              <a:t>git -- rebase origin master</a:t>
            </a:r>
          </a:p>
          <a:p>
            <a:endParaRPr lang="en-IN" dirty="0">
              <a:solidFill>
                <a:schemeClr val="tx1"/>
              </a:solidFill>
              <a:effectLst/>
              <a:latin typeface="Times New Roman" panose="02020603050405020304" pitchFamily="18" charset="0"/>
              <a:cs typeface="Times New Roman" panose="02020603050405020304" pitchFamily="18" charset="0"/>
            </a:endParaRPr>
          </a:p>
          <a:p>
            <a:pPr marL="36900" indent="0">
              <a:buNone/>
            </a:pPr>
            <a:endParaRPr lang="en-IN" dirty="0">
              <a:solidFill>
                <a:schemeClr val="tx1"/>
              </a:solidFill>
              <a:effectLst/>
              <a:latin typeface="Times New Roman" panose="02020603050405020304" pitchFamily="18" charset="0"/>
              <a:cs typeface="Times New Roman" panose="02020603050405020304" pitchFamily="18" charset="0"/>
            </a:endParaRPr>
          </a:p>
          <a:p>
            <a:pPr algn="l"/>
            <a:r>
              <a:rPr lang="en-IN" b="0" i="0" dirty="0">
                <a:solidFill>
                  <a:schemeClr val="tx1"/>
                </a:solidFill>
                <a:effectLst/>
                <a:latin typeface="Times New Roman" panose="02020603050405020304" pitchFamily="18" charset="0"/>
                <a:cs typeface="Times New Roman" panose="02020603050405020304" pitchFamily="18" charset="0"/>
              </a:rPr>
              <a:t>Currently, there are visible conflicts that need to be resolved manually.</a:t>
            </a:r>
          </a:p>
          <a:p>
            <a:pPr algn="l"/>
            <a:r>
              <a:rPr lang="en-IN" b="0" i="0" dirty="0">
                <a:solidFill>
                  <a:schemeClr val="tx1"/>
                </a:solidFill>
                <a:effectLst/>
                <a:latin typeface="Times New Roman" panose="02020603050405020304" pitchFamily="18" charset="0"/>
                <a:cs typeface="Times New Roman" panose="02020603050405020304" pitchFamily="18" charset="0"/>
              </a:rPr>
              <a:t>If you want to skip this commit, you can type git rebase --skip, or if you want to abort this rebase, you can type git rebase --abort.</a:t>
            </a:r>
          </a:p>
          <a:p>
            <a:pPr algn="l"/>
            <a:r>
              <a:rPr lang="en-IN" b="0" i="0" dirty="0">
                <a:solidFill>
                  <a:schemeClr val="tx1"/>
                </a:solidFill>
                <a:effectLst/>
                <a:latin typeface="Times New Roman" panose="02020603050405020304" pitchFamily="18" charset="0"/>
                <a:cs typeface="Times New Roman" panose="02020603050405020304" pitchFamily="18" charset="0"/>
              </a:rPr>
              <a:t>After managing this conflict manually, we will open the merge tool.</a:t>
            </a:r>
          </a:p>
          <a:p>
            <a:r>
              <a:rPr lang="en-IN" b="0" i="0" dirty="0">
                <a:solidFill>
                  <a:schemeClr val="tx1"/>
                </a:solidFill>
                <a:effectLst/>
                <a:latin typeface="Times New Roman" panose="02020603050405020304" pitchFamily="18" charset="0"/>
                <a:cs typeface="Times New Roman" panose="02020603050405020304" pitchFamily="18" charset="0"/>
              </a:rPr>
              <a:t>git </a:t>
            </a:r>
            <a:r>
              <a:rPr lang="en-IN" b="0" i="0" dirty="0" err="1">
                <a:solidFill>
                  <a:schemeClr val="tx1"/>
                </a:solidFill>
                <a:effectLst/>
                <a:latin typeface="Times New Roman" panose="02020603050405020304" pitchFamily="18" charset="0"/>
                <a:cs typeface="Times New Roman" panose="02020603050405020304" pitchFamily="18" charset="0"/>
              </a:rPr>
              <a:t>mergetool</a:t>
            </a:r>
            <a:endParaRPr lang="en-IN" b="0" i="0" dirty="0">
              <a:solidFill>
                <a:schemeClr val="tx1"/>
              </a:solidFill>
              <a:effectLst/>
              <a:latin typeface="Times New Roman" panose="02020603050405020304" pitchFamily="18" charset="0"/>
              <a:cs typeface="Times New Roman" panose="02020603050405020304" pitchFamily="18" charset="0"/>
            </a:endParaRPr>
          </a:p>
          <a:p>
            <a:endParaRPr lang="en-IN" dirty="0"/>
          </a:p>
        </p:txBody>
      </p:sp>
      <p:pic>
        <p:nvPicPr>
          <p:cNvPr id="9218" name="Picture 2" descr="currently">
            <a:extLst>
              <a:ext uri="{FF2B5EF4-FFF2-40B4-BE49-F238E27FC236}">
                <a16:creationId xmlns:a16="http://schemas.microsoft.com/office/drawing/2014/main" id="{D9CA2EC9-5257-9A36-88A3-152739BE71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10607" y="509793"/>
            <a:ext cx="8084277" cy="2167145"/>
          </a:xfrm>
          <a:prstGeom prst="rect">
            <a:avLst/>
          </a:prstGeom>
          <a:noFill/>
          <a:extLst>
            <a:ext uri="{909E8E84-426E-40DD-AFC4-6F175D3DCCD1}">
              <a14:hiddenFill xmlns:a14="http://schemas.microsoft.com/office/drawing/2010/main">
                <a:solidFill>
                  <a:srgbClr val="FFFFFF"/>
                </a:solidFill>
              </a14:hiddenFill>
            </a:ext>
          </a:extLst>
        </p:spPr>
      </p:pic>
      <p:pic>
        <p:nvPicPr>
          <p:cNvPr id="9220" name="Picture 4" descr="input">
            <a:extLst>
              <a:ext uri="{FF2B5EF4-FFF2-40B4-BE49-F238E27FC236}">
                <a16:creationId xmlns:a16="http://schemas.microsoft.com/office/drawing/2014/main" id="{62DC374E-A3FC-4EAF-28BC-18D144AEDED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24225" y="4720466"/>
            <a:ext cx="6985966" cy="202882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93117149"/>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lateVTI">
  <a:themeElements>
    <a:clrScheme name="Coffee">
      <a:dk1>
        <a:sysClr val="windowText" lastClr="000000"/>
      </a:dk1>
      <a:lt1>
        <a:sysClr val="window" lastClr="FFFFFF"/>
      </a:lt1>
      <a:dk2>
        <a:srgbClr val="4E3B30"/>
      </a:dk2>
      <a:lt2>
        <a:srgbClr val="F4EEDC"/>
      </a:lt2>
      <a:accent1>
        <a:srgbClr val="CC830E"/>
      </a:accent1>
      <a:accent2>
        <a:srgbClr val="B54C2D"/>
      </a:accent2>
      <a:accent3>
        <a:srgbClr val="99570C"/>
      </a:accent3>
      <a:accent4>
        <a:srgbClr val="C17529"/>
      </a:accent4>
      <a:accent5>
        <a:srgbClr val="A19574"/>
      </a:accent5>
      <a:accent6>
        <a:srgbClr val="A49518"/>
      </a:accent6>
      <a:hlink>
        <a:srgbClr val="AD1F1F"/>
      </a:hlink>
      <a:folHlink>
        <a:srgbClr val="FFC42F"/>
      </a:folHlink>
    </a:clrScheme>
    <a:fontScheme name="Custom 4">
      <a:majorFont>
        <a:latin typeface="Goudy Old Style"/>
        <a:ea typeface=""/>
        <a:cs typeface=""/>
      </a:majorFont>
      <a:minorFont>
        <a:latin typeface="Goudy Old Style"/>
        <a:ea typeface=""/>
        <a:cs typeface=""/>
      </a:minorFont>
    </a:fontScheme>
    <a:fmtScheme name="Slate">
      <a:fillStyleLst>
        <a:solidFill>
          <a:schemeClr val="phClr"/>
        </a:solidFill>
        <a:gradFill rotWithShape="1">
          <a:gsLst>
            <a:gs pos="0">
              <a:schemeClr val="phClr">
                <a:tint val="60000"/>
                <a:lumMod val="110000"/>
              </a:schemeClr>
            </a:gs>
            <a:gs pos="100000">
              <a:schemeClr val="phClr">
                <a:tint val="88000"/>
              </a:schemeClr>
            </a:gs>
          </a:gsLst>
          <a:lin ang="5400000" scaled="0"/>
        </a:gradFill>
        <a:gradFill rotWithShape="1">
          <a:gsLst>
            <a:gs pos="0">
              <a:schemeClr val="phClr">
                <a:tint val="96000"/>
                <a:lumMod val="104000"/>
              </a:schemeClr>
            </a:gs>
            <a:gs pos="100000">
              <a:schemeClr val="phClr">
                <a:shade val="90000"/>
                <a:lumMod val="90000"/>
              </a:schemeClr>
            </a:gs>
          </a:gsLst>
          <a:lin ang="5400000" scaled="0"/>
        </a:gradFill>
      </a:fillStyleLst>
      <a:lnStyleLst>
        <a:ln w="9525" cap="rnd" cmpd="sng" algn="ctr">
          <a:solidFill>
            <a:schemeClr val="phClr">
              <a:shade val="90000"/>
            </a:scheme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63500" dist="25400" dir="5400000" rotWithShape="0">
              <a:srgbClr val="000000">
                <a:alpha val="60000"/>
              </a:srgbClr>
            </a:outerShdw>
          </a:effectLst>
        </a:effectStyle>
        <a:effectStyle>
          <a:effectLst>
            <a:outerShdw blurRad="76200" dist="38100" dir="5400000" rotWithShape="0">
              <a:srgbClr val="000000">
                <a:alpha val="75000"/>
              </a:srgbClr>
            </a:outerShdw>
          </a:effectLst>
          <a:scene3d>
            <a:camera prst="orthographicFront">
              <a:rot lat="0" lon="0" rev="0"/>
            </a:camera>
            <a:lightRig rig="threePt" dir="t">
              <a:rot lat="0" lon="0" rev="1200000"/>
            </a:lightRig>
          </a:scene3d>
          <a:sp3d>
            <a:bevelT w="63500" h="25400" prst="hardEdge"/>
          </a:sp3d>
        </a:effectStyle>
      </a:effectStyleLst>
      <a:bgFillStyleLst>
        <a:solidFill>
          <a:schemeClr val="phClr"/>
        </a:solidFill>
        <a:solidFill>
          <a:schemeClr val="phClr"/>
        </a:solidFill>
        <a:blipFill rotWithShape="1">
          <a:blip xmlns:r="http://schemas.openxmlformats.org/officeDocument/2006/relationships" r:embed="rId1">
            <a:duotone>
              <a:schemeClr val="phClr">
                <a:shade val="80000"/>
                <a:lumMod val="80000"/>
              </a:schemeClr>
              <a:schemeClr val="phClr">
                <a:tint val="98000"/>
              </a:schemeClr>
            </a:duotone>
          </a:blip>
          <a:stretch/>
        </a:blipFill>
      </a:bgFillStyleLst>
    </a:fmtScheme>
  </a:themeElements>
  <a:objectDefaults/>
  <a:extraClrSchemeLst/>
  <a:extLst>
    <a:ext uri="{05A4C25C-085E-4340-85A3-A5531E510DB2}">
      <thm15:themeFamily xmlns:thm15="http://schemas.microsoft.com/office/thememl/2012/main" name="THREE.pptx" id="{E781C72B-3D65-4B8D-9071-33B66AF0EF30}" vid="{3A5A58F2-9BE1-435C-B12D-88FD9BF70179}"/>
    </a:ext>
  </a:extLst>
</a:theme>
</file>

<file path=docProps/app.xml><?xml version="1.0" encoding="utf-8"?>
<Properties xmlns="http://schemas.openxmlformats.org/officeDocument/2006/extended-properties" xmlns:vt="http://schemas.openxmlformats.org/officeDocument/2006/docPropsVTypes">
  <Template>{5A834AB6-8F7D-4CD6-B40D-E9480765F965}tf12214701_win32</Template>
  <TotalTime>109</TotalTime>
  <Words>1132</Words>
  <Application>Microsoft Office PowerPoint</Application>
  <PresentationFormat>Widescreen</PresentationFormat>
  <Paragraphs>133</Paragraphs>
  <Slides>16</Slides>
  <Notes>0</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16</vt:i4>
      </vt:variant>
    </vt:vector>
  </HeadingPairs>
  <TitlesOfParts>
    <vt:vector size="25" baseType="lpstr">
      <vt:lpstr>Arial</vt:lpstr>
      <vt:lpstr>French Script MT</vt:lpstr>
      <vt:lpstr>Goudy Old Style</vt:lpstr>
      <vt:lpstr>Monotype Corsiva</vt:lpstr>
      <vt:lpstr>Roboto</vt:lpstr>
      <vt:lpstr>Times New Roman</vt:lpstr>
      <vt:lpstr>Wingdings</vt:lpstr>
      <vt:lpstr>Wingdings 2</vt:lpstr>
      <vt:lpstr>SlateVTI</vt:lpstr>
      <vt:lpstr>Basics of GIT</vt:lpstr>
      <vt:lpstr> How to Resolve Merge Conflicts in Git </vt:lpstr>
      <vt:lpstr>What is Git? </vt:lpstr>
      <vt:lpstr>Basic Git Commands </vt:lpstr>
      <vt:lpstr>What is a Git Merge Conflict? </vt:lpstr>
      <vt:lpstr>Types of Git Merge Conflicts  </vt:lpstr>
      <vt:lpstr>How to Resolve Merge Conflicts in Git? </vt:lpstr>
      <vt:lpstr>Git Commands to Resolve Conflicts  </vt:lpstr>
      <vt:lpstr>Demo: Resolving Git Merge Conflicts </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GIT / GIT HUB</dc:title>
  <dc:creator>Chethuprasad</dc:creator>
  <cp:lastModifiedBy>Chethuprasad</cp:lastModifiedBy>
  <cp:revision>5</cp:revision>
  <dcterms:created xsi:type="dcterms:W3CDTF">2022-07-01T09:07:15Z</dcterms:created>
  <dcterms:modified xsi:type="dcterms:W3CDTF">2022-07-01T10:56:30Z</dcterms:modified>
</cp:coreProperties>
</file>
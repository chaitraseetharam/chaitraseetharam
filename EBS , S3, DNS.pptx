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1" r:id="rId4"/>
    <p:sldId id="263" r:id="rId5"/>
    <p:sldId id="264" r:id="rId6"/>
    <p:sldId id="259" r:id="rId7"/>
    <p:sldId id="266" r:id="rId8"/>
    <p:sldId id="265" r:id="rId9"/>
    <p:sldId id="267" r:id="rId10"/>
    <p:sldId id="270" r:id="rId11"/>
    <p:sldId id="268" r:id="rId12"/>
    <p:sldId id="269" r:id="rId13"/>
    <p:sldId id="271" r:id="rId14"/>
    <p:sldId id="272" r:id="rId15"/>
    <p:sldId id="273" r:id="rId16"/>
    <p:sldId id="274" r:id="rId17"/>
    <p:sldId id="275" r:id="rId18"/>
    <p:sldId id="276" r:id="rId19"/>
    <p:sldId id="277" r:id="rId20"/>
    <p:sldId id="279" r:id="rId21"/>
    <p:sldId id="280" r:id="rId22"/>
    <p:sldId id="281" r:id="rId23"/>
    <p:sldId id="282" r:id="rId24"/>
    <p:sldId id="283" r:id="rId25"/>
    <p:sldId id="27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5/17/2022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5/17/2022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5/17/2022</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F8D2E19-188A-E53C-7F0E-380C7F348F63}"/>
              </a:ext>
            </a:extLst>
          </p:cNvPr>
          <p:cNvSpPr>
            <a:spLocks noGrp="1"/>
          </p:cNvSpPr>
          <p:nvPr>
            <p:ph type="subTitle" idx="1"/>
          </p:nvPr>
        </p:nvSpPr>
        <p:spPr>
          <a:xfrm>
            <a:off x="106018" y="1"/>
            <a:ext cx="11966712" cy="6791738"/>
          </a:xfrm>
        </p:spPr>
        <p:txBody>
          <a:bodyPr>
            <a:normAutofit fontScale="25000" lnSpcReduction="20000"/>
          </a:bodyPr>
          <a:lstStyle/>
          <a:p>
            <a:pPr marL="457200" indent="-457200" algn="l">
              <a:buFont typeface="Wingdings" panose="05000000000000000000" pitchFamily="2" charset="2"/>
              <a:buChar char="Ø"/>
            </a:pPr>
            <a:r>
              <a:rPr lang="en-IN" sz="9600" cap="none" dirty="0">
                <a:effectLst/>
                <a:latin typeface="Times New Roman" panose="02020603050405020304" pitchFamily="18" charset="0"/>
                <a:cs typeface="Times New Roman" panose="02020603050405020304" pitchFamily="18" charset="0"/>
              </a:rPr>
              <a:t>AWS Storage Services</a:t>
            </a:r>
          </a:p>
          <a:p>
            <a:pPr marL="457200" indent="-457200" algn="l">
              <a:buFont typeface="Wingdings" panose="05000000000000000000" pitchFamily="2" charset="2"/>
              <a:buChar char="Ø"/>
            </a:pPr>
            <a:r>
              <a:rPr lang="en-IN" sz="9600" cap="none" dirty="0">
                <a:effectLst/>
                <a:latin typeface="Times New Roman" panose="02020603050405020304" pitchFamily="18" charset="0"/>
                <a:ea typeface="Calibri" panose="020F0502020204030204" pitchFamily="34" charset="0"/>
                <a:cs typeface="Times New Roman" panose="02020603050405020304" pitchFamily="18" charset="0"/>
              </a:rPr>
              <a:t>EBS Snapshots / volume</a:t>
            </a:r>
          </a:p>
          <a:p>
            <a:pPr marL="457200" indent="-457200" algn="l">
              <a:buFont typeface="Wingdings" panose="05000000000000000000" pitchFamily="2" charset="2"/>
              <a:buChar char="Ø"/>
            </a:pPr>
            <a:r>
              <a:rPr lang="en-IN" sz="9600" dirty="0">
                <a:effectLst/>
                <a:latin typeface="Times New Roman" panose="02020603050405020304" pitchFamily="18" charset="0"/>
                <a:cs typeface="Times New Roman" panose="02020603050405020304" pitchFamily="18" charset="0"/>
              </a:rPr>
              <a:t>S3 Storage Classes</a:t>
            </a:r>
          </a:p>
          <a:p>
            <a:pPr marL="457200" indent="-457200" algn="l">
              <a:buFont typeface="Wingdings" panose="05000000000000000000" pitchFamily="2" charset="2"/>
              <a:buChar char="Ø"/>
            </a:pPr>
            <a:r>
              <a:rPr lang="en-IN" sz="9600" i="0" dirty="0">
                <a:effectLst/>
                <a:latin typeface="Times New Roman" panose="02020603050405020304" pitchFamily="18" charset="0"/>
                <a:cs typeface="Times New Roman" panose="02020603050405020304" pitchFamily="18" charset="0"/>
              </a:rPr>
              <a:t>Glacier Vault Lock /</a:t>
            </a:r>
            <a:r>
              <a:rPr lang="en-IN" sz="9600" cap="none" dirty="0">
                <a:effectLst/>
                <a:latin typeface="Times New Roman" panose="02020603050405020304" pitchFamily="18" charset="0"/>
                <a:cs typeface="Times New Roman" panose="02020603050405020304" pitchFamily="18" charset="0"/>
              </a:rPr>
              <a:t> S3 Object Lock</a:t>
            </a:r>
          </a:p>
          <a:p>
            <a:pPr marL="457200" indent="-457200" algn="l">
              <a:buFont typeface="Wingdings" panose="05000000000000000000" pitchFamily="2" charset="2"/>
              <a:buChar char="Ø"/>
            </a:pPr>
            <a:r>
              <a:rPr lang="en-IN" sz="9600" i="0" cap="none" dirty="0">
                <a:effectLst/>
                <a:latin typeface="Times New Roman" panose="02020603050405020304" pitchFamily="18" charset="0"/>
                <a:cs typeface="Times New Roman" panose="02020603050405020304" pitchFamily="18" charset="0"/>
              </a:rPr>
              <a:t>Amazon (S3) - Versioning </a:t>
            </a:r>
            <a:r>
              <a:rPr lang="en-IN" sz="9600" cap="none" dirty="0">
                <a:effectLst/>
                <a:latin typeface="Times New Roman" panose="02020603050405020304" pitchFamily="18" charset="0"/>
                <a:cs typeface="Times New Roman" panose="02020603050405020304" pitchFamily="18" charset="0"/>
              </a:rPr>
              <a:t>/</a:t>
            </a:r>
            <a:r>
              <a:rPr lang="en-IN" sz="9600" i="0" cap="none" dirty="0">
                <a:effectLst/>
                <a:latin typeface="Times New Roman" panose="02020603050405020304" pitchFamily="18" charset="0"/>
                <a:cs typeface="Times New Roman" panose="02020603050405020304" pitchFamily="18" charset="0"/>
              </a:rPr>
              <a:t>Amazon (S3) - Replication </a:t>
            </a:r>
          </a:p>
          <a:p>
            <a:pPr marL="457200" indent="-457200" algn="l">
              <a:buFont typeface="Wingdings" panose="05000000000000000000" pitchFamily="2" charset="2"/>
              <a:buChar char="Ø"/>
            </a:pPr>
            <a:r>
              <a:rPr lang="en-IN" sz="9600" i="0" dirty="0">
                <a:effectLst/>
                <a:latin typeface="Times New Roman" panose="02020603050405020304" pitchFamily="18" charset="0"/>
                <a:cs typeface="Times New Roman" panose="02020603050405020304" pitchFamily="18" charset="0"/>
              </a:rPr>
              <a:t>Cross-Region replication (CRR)</a:t>
            </a:r>
            <a:r>
              <a:rPr lang="en-IN" sz="9600" dirty="0">
                <a:effectLst/>
                <a:latin typeface="Times New Roman" panose="02020603050405020304" pitchFamily="18" charset="0"/>
                <a:cs typeface="Times New Roman" panose="02020603050405020304" pitchFamily="18" charset="0"/>
              </a:rPr>
              <a:t> / </a:t>
            </a:r>
            <a:r>
              <a:rPr lang="en-IN" sz="9600" i="0" dirty="0">
                <a:effectLst/>
                <a:latin typeface="Times New Roman" panose="02020603050405020304" pitchFamily="18" charset="0"/>
                <a:cs typeface="Times New Roman" panose="02020603050405020304" pitchFamily="18" charset="0"/>
              </a:rPr>
              <a:t>Same-Region replication (SRR)</a:t>
            </a:r>
          </a:p>
          <a:p>
            <a:pPr marL="457200" indent="-457200" algn="l">
              <a:buFont typeface="Wingdings" panose="05000000000000000000" pitchFamily="2" charset="2"/>
              <a:buChar char="Ø"/>
            </a:pPr>
            <a:r>
              <a:rPr lang="en-IN" sz="9600" i="0" dirty="0">
                <a:effectLst/>
                <a:latin typeface="Times New Roman" panose="02020603050405020304" pitchFamily="18" charset="0"/>
                <a:cs typeface="Times New Roman" panose="02020603050405020304" pitchFamily="18" charset="0"/>
              </a:rPr>
              <a:t>DNS</a:t>
            </a:r>
            <a:r>
              <a:rPr lang="en-IN" sz="9600" dirty="0">
                <a:effectLst/>
                <a:latin typeface="Times New Roman" panose="02020603050405020304" pitchFamily="18" charset="0"/>
                <a:cs typeface="Times New Roman" panose="02020603050405020304" pitchFamily="18" charset="0"/>
              </a:rPr>
              <a:t>/ </a:t>
            </a:r>
            <a:r>
              <a:rPr lang="en-IN" sz="9600" i="0" dirty="0">
                <a:effectLst/>
                <a:latin typeface="Times New Roman" panose="02020603050405020304" pitchFamily="18" charset="0"/>
                <a:cs typeface="Times New Roman" panose="02020603050405020304" pitchFamily="18" charset="0"/>
              </a:rPr>
              <a:t>AWS Route </a:t>
            </a:r>
            <a:r>
              <a:rPr lang="en-IN" sz="9600" dirty="0">
                <a:effectLst/>
                <a:latin typeface="Times New Roman" panose="02020603050405020304" pitchFamily="18" charset="0"/>
                <a:cs typeface="Times New Roman" panose="02020603050405020304" pitchFamily="18" charset="0"/>
              </a:rPr>
              <a:t>53 / </a:t>
            </a:r>
            <a:r>
              <a:rPr lang="en-IN" sz="9600" cap="none" dirty="0">
                <a:effectLst/>
                <a:latin typeface="Times New Roman" panose="02020603050405020304" pitchFamily="18" charset="0"/>
                <a:cs typeface="Times New Roman" panose="02020603050405020304" pitchFamily="18" charset="0"/>
              </a:rPr>
              <a:t>Feature Of Route 53</a:t>
            </a:r>
            <a:endParaRPr lang="en-IN" sz="960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Ø"/>
            </a:pPr>
            <a:r>
              <a:rPr lang="en-IN" sz="9600" cap="none" dirty="0">
                <a:effectLst/>
                <a:latin typeface="Times New Roman" panose="02020603050405020304" pitchFamily="18" charset="0"/>
                <a:cs typeface="Times New Roman" panose="02020603050405020304" pitchFamily="18" charset="0"/>
              </a:rPr>
              <a:t>Sub-domain</a:t>
            </a:r>
          </a:p>
          <a:p>
            <a:pPr marL="457200" indent="-457200" algn="l">
              <a:buFont typeface="Wingdings" panose="05000000000000000000" pitchFamily="2" charset="2"/>
              <a:buChar char="Ø"/>
            </a:pPr>
            <a:r>
              <a:rPr lang="en-IN" sz="9600" cap="none" dirty="0">
                <a:effectLst/>
                <a:latin typeface="Times New Roman" panose="02020603050405020304" pitchFamily="18" charset="0"/>
                <a:cs typeface="Times New Roman" panose="02020603050405020304" pitchFamily="18" charset="0"/>
              </a:rPr>
              <a:t>Single Point Of Failure / </a:t>
            </a:r>
            <a:r>
              <a:rPr lang="en-IN" sz="9600" i="0" cap="none" dirty="0">
                <a:effectLst/>
                <a:latin typeface="Times New Roman" panose="02020603050405020304" pitchFamily="18" charset="0"/>
                <a:cs typeface="Times New Roman" panose="02020603050405020304" pitchFamily="18" charset="0"/>
              </a:rPr>
              <a:t>Elastic Load Balancing </a:t>
            </a:r>
          </a:p>
          <a:p>
            <a:pPr marL="457200" indent="-457200" algn="l">
              <a:buFont typeface="Wingdings" panose="05000000000000000000" pitchFamily="2" charset="2"/>
              <a:buChar char="Ø"/>
            </a:pPr>
            <a:r>
              <a:rPr lang="en-IN" sz="9600" cap="none" dirty="0">
                <a:latin typeface="Times New Roman" panose="02020603050405020304" pitchFamily="18" charset="0"/>
                <a:cs typeface="Times New Roman" panose="02020603050405020304" pitchFamily="18" charset="0"/>
              </a:rPr>
              <a:t>High Availability / Fault Tolerance</a:t>
            </a:r>
          </a:p>
          <a:p>
            <a:pPr marL="457200" indent="-457200" algn="l">
              <a:buFont typeface="Wingdings" panose="05000000000000000000" pitchFamily="2" charset="2"/>
              <a:buChar char="Ø"/>
            </a:pPr>
            <a:r>
              <a:rPr lang="en-IN" sz="9600" cap="none" dirty="0">
                <a:latin typeface="Times New Roman" panose="02020603050405020304" pitchFamily="18" charset="0"/>
                <a:cs typeface="Times New Roman" panose="02020603050405020304" pitchFamily="18" charset="0"/>
              </a:rPr>
              <a:t>Types Of Load Balancers In AWS</a:t>
            </a:r>
          </a:p>
          <a:p>
            <a:pPr marL="457200" indent="-457200" algn="l">
              <a:buFont typeface="Wingdings" panose="05000000000000000000" pitchFamily="2" charset="2"/>
              <a:buChar char="Ø"/>
            </a:pPr>
            <a:r>
              <a:rPr lang="en-IN" sz="9600" cap="none" dirty="0">
                <a:effectLst/>
                <a:latin typeface="Times New Roman" panose="02020603050405020304" pitchFamily="18" charset="0"/>
                <a:ea typeface="Calibri" panose="020F0502020204030204" pitchFamily="34" charset="0"/>
                <a:cs typeface="Times New Roman" panose="02020603050405020304" pitchFamily="18" charset="0"/>
              </a:rPr>
              <a:t>A Launch Template</a:t>
            </a:r>
          </a:p>
          <a:p>
            <a:pPr marL="457200" indent="-457200" algn="l">
              <a:buFont typeface="Wingdings" panose="05000000000000000000" pitchFamily="2" charset="2"/>
              <a:buChar char="Ø"/>
            </a:pPr>
            <a:r>
              <a:rPr lang="en-IN" sz="9600" i="0" dirty="0">
                <a:effectLst/>
                <a:latin typeface="Times New Roman" panose="02020603050405020304" pitchFamily="18" charset="0"/>
                <a:cs typeface="Times New Roman" panose="02020603050405020304" pitchFamily="18" charset="0"/>
              </a:rPr>
              <a:t>VPC</a:t>
            </a:r>
            <a:endParaRPr lang="en-IN" sz="9600" i="0" cap="none"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Ø"/>
            </a:pPr>
            <a:endParaRPr lang="en-IN" sz="2800" i="0" dirty="0">
              <a:effectLst/>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Ø"/>
            </a:pPr>
            <a:endParaRPr lang="en-IN" sz="2800" i="0" dirty="0">
              <a:effectLst/>
              <a:latin typeface="Times New Roman" panose="02020603050405020304" pitchFamily="18" charset="0"/>
              <a:cs typeface="Times New Roman" panose="02020603050405020304" pitchFamily="18" charset="0"/>
            </a:endParaRPr>
          </a:p>
          <a:p>
            <a:pPr algn="l"/>
            <a:br>
              <a:rPr lang="en-IN" b="0" i="0" dirty="0">
                <a:solidFill>
                  <a:srgbClr val="51585F"/>
                </a:solidFill>
                <a:effectLst/>
                <a:latin typeface="Roboto" panose="02000000000000000000" pitchFamily="2" charset="0"/>
              </a:rPr>
            </a:br>
            <a:endParaRPr lang="en-IN" dirty="0"/>
          </a:p>
        </p:txBody>
      </p:sp>
    </p:spTree>
    <p:extLst>
      <p:ext uri="{BB962C8B-B14F-4D97-AF65-F5344CB8AC3E}">
        <p14:creationId xmlns:p14="http://schemas.microsoft.com/office/powerpoint/2010/main" val="3463084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9981F-C9D4-833B-90A7-343796AAB469}"/>
              </a:ext>
            </a:extLst>
          </p:cNvPr>
          <p:cNvSpPr>
            <a:spLocks noGrp="1"/>
          </p:cNvSpPr>
          <p:nvPr>
            <p:ph type="title"/>
          </p:nvPr>
        </p:nvSpPr>
        <p:spPr>
          <a:xfrm>
            <a:off x="919119" y="106017"/>
            <a:ext cx="10353761" cy="490332"/>
          </a:xfrm>
        </p:spPr>
        <p:txBody>
          <a:bodyPr>
            <a:normAutofit fontScale="90000"/>
          </a:bodyPr>
          <a:lstStyle/>
          <a:p>
            <a:r>
              <a:rPr lang="en-IN" cap="none" dirty="0">
                <a:latin typeface="Times New Roman" panose="02020603050405020304" pitchFamily="18" charset="0"/>
                <a:cs typeface="Times New Roman" panose="02020603050405020304" pitchFamily="18" charset="0"/>
              </a:rPr>
              <a:t>AWS Storage Services</a:t>
            </a:r>
          </a:p>
        </p:txBody>
      </p:sp>
      <p:sp>
        <p:nvSpPr>
          <p:cNvPr id="3" name="Content Placeholder 2">
            <a:extLst>
              <a:ext uri="{FF2B5EF4-FFF2-40B4-BE49-F238E27FC236}">
                <a16:creationId xmlns:a16="http://schemas.microsoft.com/office/drawing/2014/main" id="{DC5A67D4-387E-A388-B443-4737541CB981}"/>
              </a:ext>
            </a:extLst>
          </p:cNvPr>
          <p:cNvSpPr>
            <a:spLocks noGrp="1"/>
          </p:cNvSpPr>
          <p:nvPr>
            <p:ph idx="1"/>
          </p:nvPr>
        </p:nvSpPr>
        <p:spPr>
          <a:xfrm>
            <a:off x="198783" y="715618"/>
            <a:ext cx="11807688" cy="6036366"/>
          </a:xfrm>
        </p:spPr>
        <p:txBody>
          <a:bodyPr>
            <a:normAutofit/>
          </a:bodyPr>
          <a:lstStyle/>
          <a:p>
            <a:pPr marL="0" indent="0">
              <a:buNone/>
              <a:tabLst>
                <a:tab pos="2865755" algn="ctr"/>
                <a:tab pos="5731510" algn="r"/>
              </a:tabLs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Object Storage</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 </a:t>
            </a:r>
          </a:p>
          <a:p>
            <a:pPr marL="342900" lvl="0" indent="-342900">
              <a:buFont typeface="Courier New" panose="02070309020205020404" pitchFamily="49" charset="0"/>
              <a:buChar char="o"/>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Applications developed in the cloud often take advantage of object storage's vast scalability and metadata characteristics. Object storage solutions like Amazon Simple Storage Service (S3) are ideal for building modern applications from scratch that require scale and flexibility, and can also be used to import existing data stores for analytics, backup, or archive.</a:t>
            </a:r>
          </a:p>
          <a:p>
            <a:pPr marL="0" indent="0">
              <a:buNone/>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buNone/>
              <a:tabLst>
                <a:tab pos="2865755" algn="ctr"/>
                <a:tab pos="5731510" algn="r"/>
              </a:tabLs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File Storage –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Courier New" panose="02070309020205020404" pitchFamily="49" charset="0"/>
              <a:buChar char="o"/>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Some applications need to access shared files and require a file system. This type of storage is often supported with a Network Attached Storage (NAS) server. File storage solutions like Amazon Elastic File System (EFS) are ideal for use cases like large content repositories, development environments, media stores, or user home directories.</a:t>
            </a:r>
          </a:p>
          <a:p>
            <a:pPr marL="0" indent="0">
              <a:buNone/>
              <a:tabLst>
                <a:tab pos="2865755" algn="ctr"/>
                <a:tab pos="5731510" algn="r"/>
              </a:tabLst>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tabLst>
                <a:tab pos="2865755" algn="ctr"/>
                <a:tab pos="5731510" algn="r"/>
              </a:tabLs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Block Storage –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buFont typeface="Courier New" panose="02070309020205020404" pitchFamily="49" charset="0"/>
              <a:buChar char="o"/>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Other enterprise applications like databases or ERP systems often require dedicated, low latency storage for each host. This is analogous to direct-attached storage (DAS) or a Storage Area Network (SAN). Block-based cloud storage solutions like Amazon Elastic Block Store (EBS) are provisioned with each virtual server and offer the ultra-low latency required for high performance workloads.</a:t>
            </a:r>
          </a:p>
          <a:p>
            <a:endParaRPr lang="en-IN" dirty="0"/>
          </a:p>
        </p:txBody>
      </p:sp>
    </p:spTree>
    <p:extLst>
      <p:ext uri="{BB962C8B-B14F-4D97-AF65-F5344CB8AC3E}">
        <p14:creationId xmlns:p14="http://schemas.microsoft.com/office/powerpoint/2010/main" val="1787231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F8CDB4D-1EC7-45E5-BF98-3136B9FC2054}"/>
              </a:ext>
            </a:extLst>
          </p:cNvPr>
          <p:cNvPicPr>
            <a:picLocks noChangeAspect="1"/>
          </p:cNvPicPr>
          <p:nvPr/>
        </p:nvPicPr>
        <p:blipFill>
          <a:blip r:embed="rId2"/>
          <a:stretch>
            <a:fillRect/>
          </a:stretch>
        </p:blipFill>
        <p:spPr>
          <a:xfrm>
            <a:off x="596347" y="393377"/>
            <a:ext cx="11027731" cy="6086936"/>
          </a:xfrm>
          <a:prstGeom prst="rect">
            <a:avLst/>
          </a:prstGeom>
        </p:spPr>
      </p:pic>
    </p:spTree>
    <p:extLst>
      <p:ext uri="{BB962C8B-B14F-4D97-AF65-F5344CB8AC3E}">
        <p14:creationId xmlns:p14="http://schemas.microsoft.com/office/powerpoint/2010/main" val="2825582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C72E86-72DA-D54B-A28C-9A9CF64302BE}"/>
              </a:ext>
            </a:extLst>
          </p:cNvPr>
          <p:cNvPicPr>
            <a:picLocks noChangeAspect="1"/>
          </p:cNvPicPr>
          <p:nvPr/>
        </p:nvPicPr>
        <p:blipFill>
          <a:blip r:embed="rId2"/>
          <a:stretch>
            <a:fillRect/>
          </a:stretch>
        </p:blipFill>
        <p:spPr>
          <a:xfrm>
            <a:off x="192156" y="159026"/>
            <a:ext cx="11807687" cy="6573078"/>
          </a:xfrm>
          <a:prstGeom prst="rect">
            <a:avLst/>
          </a:prstGeom>
        </p:spPr>
      </p:pic>
    </p:spTree>
    <p:extLst>
      <p:ext uri="{BB962C8B-B14F-4D97-AF65-F5344CB8AC3E}">
        <p14:creationId xmlns:p14="http://schemas.microsoft.com/office/powerpoint/2010/main" val="156342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249C323-A73A-F6F0-7710-AE84F7E7893E}"/>
              </a:ext>
            </a:extLst>
          </p:cNvPr>
          <p:cNvPicPr>
            <a:picLocks noChangeAspect="1"/>
          </p:cNvPicPr>
          <p:nvPr/>
        </p:nvPicPr>
        <p:blipFill>
          <a:blip r:embed="rId2"/>
          <a:stretch>
            <a:fillRect/>
          </a:stretch>
        </p:blipFill>
        <p:spPr>
          <a:xfrm>
            <a:off x="294491" y="253448"/>
            <a:ext cx="11672221" cy="6438899"/>
          </a:xfrm>
          <a:prstGeom prst="rect">
            <a:avLst/>
          </a:prstGeom>
        </p:spPr>
      </p:pic>
    </p:spTree>
    <p:extLst>
      <p:ext uri="{BB962C8B-B14F-4D97-AF65-F5344CB8AC3E}">
        <p14:creationId xmlns:p14="http://schemas.microsoft.com/office/powerpoint/2010/main" val="1652811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0CC3-8EA6-0FB9-3150-AD88B1A9CFB8}"/>
              </a:ext>
            </a:extLst>
          </p:cNvPr>
          <p:cNvSpPr>
            <a:spLocks noGrp="1"/>
          </p:cNvSpPr>
          <p:nvPr>
            <p:ph type="title" idx="4294967295"/>
          </p:nvPr>
        </p:nvSpPr>
        <p:spPr>
          <a:xfrm>
            <a:off x="132522" y="119270"/>
            <a:ext cx="11808653" cy="742743"/>
          </a:xfrm>
        </p:spPr>
        <p:txBody>
          <a:bodyPr>
            <a:normAutofit/>
          </a:bodyPr>
          <a:lstStyle/>
          <a:p>
            <a:r>
              <a:rPr lang="en-IN" sz="4400" cap="none" dirty="0">
                <a:effectLst/>
                <a:latin typeface="Times New Roman" panose="02020603050405020304" pitchFamily="18" charset="0"/>
                <a:ea typeface="Calibri" panose="020F0502020204030204" pitchFamily="34" charset="0"/>
                <a:cs typeface="Times New Roman" panose="02020603050405020304" pitchFamily="18" charset="0"/>
              </a:rPr>
              <a:t>Snapshots / volume</a:t>
            </a:r>
            <a:endParaRPr lang="en-IN" sz="4000" cap="none" dirty="0"/>
          </a:p>
        </p:txBody>
      </p:sp>
      <p:sp>
        <p:nvSpPr>
          <p:cNvPr id="3" name="Content Placeholder 2">
            <a:extLst>
              <a:ext uri="{FF2B5EF4-FFF2-40B4-BE49-F238E27FC236}">
                <a16:creationId xmlns:a16="http://schemas.microsoft.com/office/drawing/2014/main" id="{C47A47B2-1598-253F-9226-42EA81428C5D}"/>
              </a:ext>
            </a:extLst>
          </p:cNvPr>
          <p:cNvSpPr>
            <a:spLocks noGrp="1"/>
          </p:cNvSpPr>
          <p:nvPr>
            <p:ph idx="4294967295"/>
          </p:nvPr>
        </p:nvSpPr>
        <p:spPr>
          <a:xfrm>
            <a:off x="0" y="862013"/>
            <a:ext cx="12192000" cy="5995988"/>
          </a:xfrm>
        </p:spPr>
        <p:txBody>
          <a:bodyPr>
            <a:normAutofit/>
          </a:bodyPr>
          <a:lstStyle/>
          <a:p>
            <a:pPr marL="0" indent="0">
              <a:lnSpc>
                <a:spcPct val="107000"/>
              </a:lnSpc>
              <a:spcAft>
                <a:spcPts val="800"/>
              </a:spcAft>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b="1" u="sng" dirty="0">
                <a:effectLst/>
                <a:latin typeface="Times New Roman" panose="02020603050405020304" pitchFamily="18" charset="0"/>
                <a:ea typeface="Calibri" panose="020F0502020204030204" pitchFamily="34" charset="0"/>
                <a:cs typeface="Times New Roman" panose="02020603050405020304" pitchFamily="18" charset="0"/>
              </a:rPr>
              <a:t>EBS Snapshots </a:t>
            </a:r>
            <a:endParaRPr lang="en-IN" sz="2400" b="1" u="sng"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dirty="0">
                <a:effectLst/>
                <a:latin typeface="Times New Roman" panose="02020603050405020304" pitchFamily="18" charset="0"/>
                <a:ea typeface="Calibri" panose="020F0502020204030204" pitchFamily="34" charset="0"/>
                <a:cs typeface="Times New Roman" panose="02020603050405020304" pitchFamily="18" charset="0"/>
              </a:rPr>
              <a:t>This are a point-in-time copy of your data, and can be used to enable disaster recovery, migrate data across regions and accounts, and improve backup compliance. You can create and manage your EBS Snapshots through the AWS Management Console, AWS Command Line Interface (CLI), or the AWS SDKs.</a:t>
            </a:r>
          </a:p>
          <a:p>
            <a:pPr marL="0" indent="0">
              <a:lnSpc>
                <a:spcPct val="107000"/>
              </a:lnSpc>
              <a:spcAft>
                <a:spcPts val="800"/>
              </a:spcAft>
              <a:buNone/>
            </a:pP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IN" i="0" u="sng" dirty="0">
                <a:effectLst/>
                <a:latin typeface="Times New Roman" panose="02020603050405020304" pitchFamily="18" charset="0"/>
                <a:cs typeface="Times New Roman" panose="02020603050405020304" pitchFamily="18" charset="0"/>
              </a:rPr>
              <a:t> </a:t>
            </a:r>
            <a:r>
              <a:rPr lang="en-IN" sz="2400" b="1" i="0" u="sng" dirty="0">
                <a:effectLst/>
                <a:latin typeface="Times New Roman" panose="02020603050405020304" pitchFamily="18" charset="0"/>
                <a:cs typeface="Times New Roman" panose="02020603050405020304" pitchFamily="18" charset="0"/>
              </a:rPr>
              <a:t>EBS volume</a:t>
            </a:r>
          </a:p>
          <a:p>
            <a:r>
              <a:rPr lang="en-IN" i="0" dirty="0">
                <a:effectLst/>
                <a:latin typeface="Times New Roman" panose="02020603050405020304" pitchFamily="18" charset="0"/>
                <a:cs typeface="Times New Roman" panose="02020603050405020304" pitchFamily="18" charset="0"/>
              </a:rPr>
              <a:t> It’s a durable, block-level storage device that you can attach to your instances. After you attach a volume to an instance, you can use it as you would use a physical hard drive.</a:t>
            </a:r>
          </a:p>
          <a:p>
            <a:r>
              <a:rPr lang="en-IN" i="0" dirty="0">
                <a:effectLst/>
                <a:latin typeface="Times New Roman" panose="02020603050405020304" pitchFamily="18" charset="0"/>
                <a:cs typeface="Times New Roman" panose="02020603050405020304" pitchFamily="18" charset="0"/>
              </a:rPr>
              <a:t> Provisioned IOPS SSD (io2 Block Express, io2, and io1).</a:t>
            </a:r>
          </a:p>
          <a:p>
            <a:r>
              <a:rPr lang="en-IN" i="0" dirty="0">
                <a:effectLst/>
                <a:latin typeface="Times New Roman" panose="02020603050405020304" pitchFamily="18" charset="0"/>
                <a:cs typeface="Times New Roman" panose="02020603050405020304" pitchFamily="18" charset="0"/>
              </a:rPr>
              <a:t> General Purpose SSD (gp3 and gp2).</a:t>
            </a:r>
          </a:p>
          <a:p>
            <a:r>
              <a:rPr lang="en-IN" i="0" dirty="0">
                <a:effectLst/>
                <a:latin typeface="Times New Roman" panose="02020603050405020304" pitchFamily="18" charset="0"/>
                <a:cs typeface="Times New Roman" panose="02020603050405020304" pitchFamily="18" charset="0"/>
              </a:rPr>
              <a:t>Throughput Optimized HDD (st1).</a:t>
            </a:r>
          </a:p>
          <a:p>
            <a:r>
              <a:rPr lang="en-IN" i="0" dirty="0">
                <a:effectLst/>
                <a:latin typeface="Times New Roman" panose="02020603050405020304" pitchFamily="18" charset="0"/>
                <a:cs typeface="Times New Roman" panose="02020603050405020304" pitchFamily="18" charset="0"/>
              </a:rPr>
              <a:t> Cold HDD (sc1).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715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087CCB-4556-D059-0DD6-B140D9304552}"/>
              </a:ext>
            </a:extLst>
          </p:cNvPr>
          <p:cNvPicPr>
            <a:picLocks noChangeAspect="1"/>
          </p:cNvPicPr>
          <p:nvPr/>
        </p:nvPicPr>
        <p:blipFill>
          <a:blip r:embed="rId2"/>
          <a:stretch>
            <a:fillRect/>
          </a:stretch>
        </p:blipFill>
        <p:spPr>
          <a:xfrm>
            <a:off x="159025" y="1"/>
            <a:ext cx="11873949" cy="6745356"/>
          </a:xfrm>
          <a:prstGeom prst="rect">
            <a:avLst/>
          </a:prstGeom>
        </p:spPr>
      </p:pic>
    </p:spTree>
    <p:extLst>
      <p:ext uri="{BB962C8B-B14F-4D97-AF65-F5344CB8AC3E}">
        <p14:creationId xmlns:p14="http://schemas.microsoft.com/office/powerpoint/2010/main" val="2251520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625EA33-9092-28C4-0AB2-F48F14EB9117}"/>
              </a:ext>
            </a:extLst>
          </p:cNvPr>
          <p:cNvPicPr>
            <a:picLocks noGrp="1" noChangeAspect="1"/>
          </p:cNvPicPr>
          <p:nvPr>
            <p:ph idx="1"/>
          </p:nvPr>
        </p:nvPicPr>
        <p:blipFill>
          <a:blip r:embed="rId2"/>
          <a:stretch>
            <a:fillRect/>
          </a:stretch>
        </p:blipFill>
        <p:spPr>
          <a:xfrm>
            <a:off x="258549" y="228600"/>
            <a:ext cx="11668407" cy="6437243"/>
          </a:xfrm>
          <a:prstGeom prst="rect">
            <a:avLst/>
          </a:prstGeom>
        </p:spPr>
      </p:pic>
    </p:spTree>
    <p:extLst>
      <p:ext uri="{BB962C8B-B14F-4D97-AF65-F5344CB8AC3E}">
        <p14:creationId xmlns:p14="http://schemas.microsoft.com/office/powerpoint/2010/main" val="2654742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F9F3E-35BC-6F57-22CD-DC2B75B9DAC1}"/>
              </a:ext>
            </a:extLst>
          </p:cNvPr>
          <p:cNvSpPr>
            <a:spLocks noGrp="1"/>
          </p:cNvSpPr>
          <p:nvPr>
            <p:ph type="title"/>
          </p:nvPr>
        </p:nvSpPr>
        <p:spPr>
          <a:xfrm>
            <a:off x="768021" y="106017"/>
            <a:ext cx="10353761" cy="662610"/>
          </a:xfrm>
        </p:spPr>
        <p:txBody>
          <a:bodyPr/>
          <a:lstStyle/>
          <a:p>
            <a:r>
              <a:rPr lang="en-IN" sz="3600" b="1" i="0" dirty="0">
                <a:effectLst/>
                <a:latin typeface="Times New Roman" panose="02020603050405020304" pitchFamily="18" charset="0"/>
                <a:cs typeface="Times New Roman" panose="02020603050405020304" pitchFamily="18" charset="0"/>
              </a:rPr>
              <a:t>SRR / CRR</a:t>
            </a:r>
            <a:endParaRPr lang="en-IN" dirty="0"/>
          </a:p>
        </p:txBody>
      </p:sp>
      <p:sp>
        <p:nvSpPr>
          <p:cNvPr id="3" name="Content Placeholder 2">
            <a:extLst>
              <a:ext uri="{FF2B5EF4-FFF2-40B4-BE49-F238E27FC236}">
                <a16:creationId xmlns:a16="http://schemas.microsoft.com/office/drawing/2014/main" id="{0E877B0E-DBF7-903D-EB6B-D903BF0F4B99}"/>
              </a:ext>
            </a:extLst>
          </p:cNvPr>
          <p:cNvSpPr>
            <a:spLocks noGrp="1"/>
          </p:cNvSpPr>
          <p:nvPr>
            <p:ph idx="1"/>
          </p:nvPr>
        </p:nvSpPr>
        <p:spPr>
          <a:xfrm>
            <a:off x="0" y="1020416"/>
            <a:ext cx="12192000" cy="5837583"/>
          </a:xfrm>
        </p:spPr>
        <p:txBody>
          <a:bodyPr>
            <a:normAutofit/>
          </a:bodyPr>
          <a:lstStyle/>
          <a:p>
            <a:pPr marL="0" indent="0">
              <a:buNone/>
            </a:pPr>
            <a:r>
              <a:rPr lang="en-IN" sz="2400" b="1" i="0" dirty="0">
                <a:effectLst/>
                <a:latin typeface="Times New Roman" panose="02020603050405020304" pitchFamily="18" charset="0"/>
                <a:cs typeface="Times New Roman" panose="02020603050405020304" pitchFamily="18" charset="0"/>
              </a:rPr>
              <a:t> </a:t>
            </a:r>
            <a:r>
              <a:rPr lang="en-IN" sz="2400" b="1" i="0" u="sng" dirty="0">
                <a:effectLst/>
                <a:latin typeface="Times New Roman" panose="02020603050405020304" pitchFamily="18" charset="0"/>
                <a:cs typeface="Times New Roman" panose="02020603050405020304" pitchFamily="18" charset="0"/>
              </a:rPr>
              <a:t>SRR – Same Region Replication</a:t>
            </a:r>
          </a:p>
          <a:p>
            <a:r>
              <a:rPr lang="en-IN" dirty="0">
                <a:effectLst/>
                <a:latin typeface="Times New Roman" panose="02020603050405020304" pitchFamily="18" charset="0"/>
                <a:cs typeface="Times New Roman" panose="02020603050405020304" pitchFamily="18" charset="0"/>
              </a:rPr>
              <a:t>It’</a:t>
            </a:r>
            <a:r>
              <a:rPr lang="en-IN" i="0" dirty="0">
                <a:effectLst/>
                <a:latin typeface="Times New Roman" panose="02020603050405020304" pitchFamily="18" charset="0"/>
                <a:cs typeface="Times New Roman" panose="02020603050405020304" pitchFamily="18" charset="0"/>
              </a:rPr>
              <a:t>s an S3 feature that automatically replicates data between buckets within the same AWS Region. </a:t>
            </a:r>
          </a:p>
          <a:p>
            <a:r>
              <a:rPr lang="en-IN" i="0" dirty="0">
                <a:effectLst/>
                <a:latin typeface="Times New Roman" panose="02020603050405020304" pitchFamily="18" charset="0"/>
                <a:cs typeface="Times New Roman" panose="02020603050405020304" pitchFamily="18" charset="0"/>
              </a:rPr>
              <a:t>With SRR, you can set up replication at a bucket level, a shared prefix level, or an object level using S3 object tags. You can use SRR to make one or more copies of your data in the same AWS Region.</a:t>
            </a:r>
          </a:p>
          <a:p>
            <a:pPr marL="0" indent="0">
              <a:buNone/>
            </a:pPr>
            <a:endParaRPr lang="en-IN" i="0" dirty="0">
              <a:effectLst/>
              <a:latin typeface="Times New Roman" panose="02020603050405020304" pitchFamily="18" charset="0"/>
              <a:cs typeface="Times New Roman" panose="02020603050405020304" pitchFamily="18" charset="0"/>
            </a:endParaRPr>
          </a:p>
          <a:p>
            <a:pPr marL="0" indent="0">
              <a:buNone/>
            </a:pPr>
            <a:r>
              <a:rPr lang="en-IN" sz="2400" b="1" i="0" u="sng" dirty="0">
                <a:effectLst/>
                <a:latin typeface="Times New Roman" panose="02020603050405020304" pitchFamily="18" charset="0"/>
                <a:cs typeface="Times New Roman" panose="02020603050405020304" pitchFamily="18" charset="0"/>
              </a:rPr>
              <a:t>CRR  - Cross Region Replication</a:t>
            </a:r>
          </a:p>
          <a:p>
            <a:r>
              <a:rPr lang="en-IN" i="0" dirty="0">
                <a:effectLst/>
                <a:latin typeface="Times New Roman" panose="02020603050405020304" pitchFamily="18" charset="0"/>
                <a:cs typeface="Times New Roman" panose="02020603050405020304" pitchFamily="18" charset="0"/>
              </a:rPr>
              <a:t>It’s an Amazon S3 feature that automatically replicates every object uploaded to an S3 bucket to a destination bucket in a different AWS Region that you choose.</a:t>
            </a:r>
          </a:p>
          <a:p>
            <a:r>
              <a:rPr lang="en-IN" i="0" dirty="0">
                <a:effectLst/>
                <a:latin typeface="Times New Roman" panose="02020603050405020304" pitchFamily="18" charset="0"/>
                <a:cs typeface="Times New Roman" panose="02020603050405020304" pitchFamily="18" charset="0"/>
              </a:rPr>
              <a:t> S3 object tags are key-value pairs applied to S3 objects that allow you to better organize, secure, and manage your data stored in S3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3995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23FB9-F7E7-5424-0BB5-3ACB9FC0748D}"/>
              </a:ext>
            </a:extLst>
          </p:cNvPr>
          <p:cNvSpPr>
            <a:spLocks noGrp="1"/>
          </p:cNvSpPr>
          <p:nvPr>
            <p:ph type="title"/>
          </p:nvPr>
        </p:nvSpPr>
        <p:spPr>
          <a:xfrm>
            <a:off x="913795" y="0"/>
            <a:ext cx="10353761" cy="1935921"/>
          </a:xfrm>
        </p:spPr>
        <p:txBody>
          <a:bodyPr>
            <a:normAutofit fontScale="90000"/>
          </a:bodyPr>
          <a:lstStyle/>
          <a:p>
            <a:br>
              <a:rPr lang="en-IN" sz="3600" i="0" dirty="0">
                <a:effectLst/>
                <a:latin typeface="Times New Roman" panose="02020603050405020304" pitchFamily="18" charset="0"/>
                <a:cs typeface="Times New Roman" panose="02020603050405020304" pitchFamily="18" charset="0"/>
              </a:rPr>
            </a:br>
            <a:r>
              <a:rPr lang="en-IN" sz="3600" i="0" dirty="0">
                <a:effectLst/>
                <a:latin typeface="Times New Roman" panose="02020603050405020304" pitchFamily="18" charset="0"/>
                <a:cs typeface="Times New Roman" panose="02020603050405020304" pitchFamily="18" charset="0"/>
              </a:rPr>
              <a:t>Same-Region replication (SRR)</a:t>
            </a:r>
            <a:br>
              <a:rPr lang="en-IN" sz="3600" i="0" dirty="0">
                <a:effectLst/>
                <a:latin typeface="Times New Roman" panose="02020603050405020304" pitchFamily="18" charset="0"/>
                <a:cs typeface="Times New Roman" panose="02020603050405020304" pitchFamily="18" charset="0"/>
              </a:rPr>
            </a:br>
            <a:r>
              <a:rPr lang="en-IN" sz="3600" i="0" dirty="0">
                <a:effectLst/>
                <a:latin typeface="Times New Roman" panose="02020603050405020304" pitchFamily="18" charset="0"/>
                <a:cs typeface="Times New Roman" panose="02020603050405020304" pitchFamily="18" charset="0"/>
              </a:rPr>
              <a:t>&amp;</a:t>
            </a:r>
            <a:br>
              <a:rPr lang="en-IN" sz="3600" i="0" dirty="0">
                <a:effectLst/>
                <a:latin typeface="Times New Roman" panose="02020603050405020304" pitchFamily="18" charset="0"/>
                <a:cs typeface="Times New Roman" panose="02020603050405020304" pitchFamily="18" charset="0"/>
              </a:rPr>
            </a:br>
            <a:r>
              <a:rPr lang="en-IN" sz="3200" i="0" dirty="0">
                <a:effectLst/>
                <a:latin typeface="Times New Roman" panose="02020603050405020304" pitchFamily="18" charset="0"/>
                <a:cs typeface="Times New Roman" panose="02020603050405020304" pitchFamily="18" charset="0"/>
              </a:rPr>
              <a:t>Cross-Region replication (CRR)</a:t>
            </a:r>
            <a:br>
              <a:rPr lang="en-IN" sz="3200" i="0" dirty="0">
                <a:effectLst/>
                <a:latin typeface="Times New Roman" panose="02020603050405020304" pitchFamily="18" charset="0"/>
                <a:cs typeface="Times New Roman" panose="02020603050405020304" pitchFamily="18" charset="0"/>
              </a:rPr>
            </a:br>
            <a:br>
              <a:rPr lang="en-IN" b="0" i="0" dirty="0">
                <a:solidFill>
                  <a:srgbClr val="51585F"/>
                </a:solidFill>
                <a:effectLst/>
                <a:latin typeface="Roboto" panose="02000000000000000000" pitchFamily="2" charset="0"/>
              </a:rPr>
            </a:br>
            <a:endParaRPr lang="en-IN" dirty="0"/>
          </a:p>
        </p:txBody>
      </p:sp>
      <p:pic>
        <p:nvPicPr>
          <p:cNvPr id="4" name="Content Placeholder 3">
            <a:extLst>
              <a:ext uri="{FF2B5EF4-FFF2-40B4-BE49-F238E27FC236}">
                <a16:creationId xmlns:a16="http://schemas.microsoft.com/office/drawing/2014/main" id="{DD290BEC-2818-3942-6C73-56D4F48ABC39}"/>
              </a:ext>
            </a:extLst>
          </p:cNvPr>
          <p:cNvPicPr>
            <a:picLocks noGrp="1" noChangeAspect="1"/>
          </p:cNvPicPr>
          <p:nvPr>
            <p:ph idx="1"/>
          </p:nvPr>
        </p:nvPicPr>
        <p:blipFill>
          <a:blip r:embed="rId2"/>
          <a:stretch>
            <a:fillRect/>
          </a:stretch>
        </p:blipFill>
        <p:spPr>
          <a:xfrm>
            <a:off x="158101" y="3385929"/>
            <a:ext cx="5624098" cy="3107635"/>
          </a:xfrm>
          <a:prstGeom prst="rect">
            <a:avLst/>
          </a:prstGeom>
        </p:spPr>
      </p:pic>
      <p:pic>
        <p:nvPicPr>
          <p:cNvPr id="5" name="Picture 4">
            <a:extLst>
              <a:ext uri="{FF2B5EF4-FFF2-40B4-BE49-F238E27FC236}">
                <a16:creationId xmlns:a16="http://schemas.microsoft.com/office/drawing/2014/main" id="{5975DA1A-9211-4204-C5B0-5912918E97DD}"/>
              </a:ext>
            </a:extLst>
          </p:cNvPr>
          <p:cNvPicPr>
            <a:picLocks noChangeAspect="1"/>
          </p:cNvPicPr>
          <p:nvPr/>
        </p:nvPicPr>
        <p:blipFill>
          <a:blip r:embed="rId3"/>
          <a:stretch>
            <a:fillRect/>
          </a:stretch>
        </p:blipFill>
        <p:spPr>
          <a:xfrm>
            <a:off x="6096000" y="3149965"/>
            <a:ext cx="5862586" cy="3442252"/>
          </a:xfrm>
          <a:prstGeom prst="rect">
            <a:avLst/>
          </a:prstGeom>
        </p:spPr>
      </p:pic>
    </p:spTree>
    <p:extLst>
      <p:ext uri="{BB962C8B-B14F-4D97-AF65-F5344CB8AC3E}">
        <p14:creationId xmlns:p14="http://schemas.microsoft.com/office/powerpoint/2010/main" val="559976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88827-9F22-D611-D602-239F6C6DAA15}"/>
              </a:ext>
            </a:extLst>
          </p:cNvPr>
          <p:cNvSpPr>
            <a:spLocks noGrp="1"/>
          </p:cNvSpPr>
          <p:nvPr>
            <p:ph type="title"/>
          </p:nvPr>
        </p:nvSpPr>
        <p:spPr>
          <a:xfrm>
            <a:off x="794526" y="145774"/>
            <a:ext cx="10353761" cy="675861"/>
          </a:xfrm>
        </p:spPr>
        <p:txBody>
          <a:bodyPr/>
          <a:lstStyle/>
          <a:p>
            <a:r>
              <a:rPr lang="en-IN" cap="none" dirty="0">
                <a:latin typeface="Times New Roman" panose="02020603050405020304" pitchFamily="18" charset="0"/>
                <a:cs typeface="Times New Roman" panose="02020603050405020304" pitchFamily="18" charset="0"/>
              </a:rPr>
              <a:t>Glacier (WORM) Lock / S3 Object Lock</a:t>
            </a:r>
          </a:p>
        </p:txBody>
      </p:sp>
      <p:sp>
        <p:nvSpPr>
          <p:cNvPr id="3" name="Content Placeholder 2">
            <a:extLst>
              <a:ext uri="{FF2B5EF4-FFF2-40B4-BE49-F238E27FC236}">
                <a16:creationId xmlns:a16="http://schemas.microsoft.com/office/drawing/2014/main" id="{B35F1198-0C9F-2F93-4704-A260F75C5D6F}"/>
              </a:ext>
            </a:extLst>
          </p:cNvPr>
          <p:cNvSpPr>
            <a:spLocks noGrp="1"/>
          </p:cNvSpPr>
          <p:nvPr>
            <p:ph idx="1"/>
          </p:nvPr>
        </p:nvSpPr>
        <p:spPr>
          <a:xfrm>
            <a:off x="0" y="1219200"/>
            <a:ext cx="12192000" cy="5638800"/>
          </a:xfrm>
        </p:spPr>
        <p:txBody>
          <a:bodyPr/>
          <a:lstStyle/>
          <a:p>
            <a:pPr marL="0" indent="0">
              <a:buNone/>
            </a:pPr>
            <a:r>
              <a:rPr lang="en-IN" sz="2800" i="0" u="sng" dirty="0">
                <a:effectLst/>
                <a:latin typeface="Times New Roman" panose="02020603050405020304" pitchFamily="18" charset="0"/>
                <a:cs typeface="Times New Roman" panose="02020603050405020304" pitchFamily="18" charset="0"/>
              </a:rPr>
              <a:t>S3 Glacier Vault Lock </a:t>
            </a:r>
          </a:p>
          <a:p>
            <a:r>
              <a:rPr lang="en-IN" sz="2400" dirty="0">
                <a:effectLst/>
                <a:latin typeface="Times New Roman" panose="02020603050405020304" pitchFamily="18" charset="0"/>
                <a:cs typeface="Times New Roman" panose="02020603050405020304" pitchFamily="18" charset="0"/>
              </a:rPr>
              <a:t>It</a:t>
            </a:r>
            <a:r>
              <a:rPr lang="en-IN" sz="2800" dirty="0">
                <a:effectLst/>
                <a:latin typeface="Times New Roman" panose="02020603050405020304" pitchFamily="18" charset="0"/>
                <a:cs typeface="Times New Roman" panose="02020603050405020304" pitchFamily="18" charset="0"/>
              </a:rPr>
              <a:t> </a:t>
            </a:r>
            <a:r>
              <a:rPr lang="en-IN" i="0" dirty="0">
                <a:effectLst/>
                <a:latin typeface="Times New Roman" panose="02020603050405020304" pitchFamily="18" charset="0"/>
                <a:cs typeface="Times New Roman" panose="02020603050405020304" pitchFamily="18" charset="0"/>
              </a:rPr>
              <a:t>allows you to easily deploy and enforce compliance controls for individual S3 Glacier vaults with a vault lock policy. You can specify controls such as “write once read many” (WORM) in a vault lock policy and lock the policy from future edits. Once locked, the policy can no longer be changed.</a:t>
            </a:r>
          </a:p>
          <a:p>
            <a:pPr marL="0" indent="0">
              <a:buNone/>
            </a:pPr>
            <a:endParaRPr lang="en-IN" i="0" dirty="0">
              <a:effectLst/>
              <a:latin typeface="Times New Roman" panose="02020603050405020304" pitchFamily="18" charset="0"/>
              <a:cs typeface="Times New Roman" panose="02020603050405020304" pitchFamily="18" charset="0"/>
            </a:endParaRPr>
          </a:p>
          <a:p>
            <a:pPr marL="0" indent="0">
              <a:buNone/>
            </a:pPr>
            <a:r>
              <a:rPr lang="en-IN" sz="2800" i="0" u="sng" dirty="0">
                <a:effectLst/>
                <a:latin typeface="Times New Roman" panose="02020603050405020304" pitchFamily="18" charset="0"/>
                <a:cs typeface="Times New Roman" panose="02020603050405020304" pitchFamily="18" charset="0"/>
              </a:rPr>
              <a:t>Amazon S3 Object Lock </a:t>
            </a:r>
          </a:p>
          <a:p>
            <a:r>
              <a:rPr lang="en-IN" sz="2400" dirty="0">
                <a:effectLst/>
                <a:latin typeface="Times New Roman" panose="02020603050405020304" pitchFamily="18" charset="0"/>
                <a:cs typeface="Times New Roman" panose="02020603050405020304" pitchFamily="18" charset="0"/>
              </a:rPr>
              <a:t>It</a:t>
            </a:r>
            <a:r>
              <a:rPr lang="en-IN" sz="2800" dirty="0">
                <a:effectLst/>
                <a:latin typeface="Times New Roman" panose="02020603050405020304" pitchFamily="18" charset="0"/>
                <a:cs typeface="Times New Roman" panose="02020603050405020304" pitchFamily="18" charset="0"/>
              </a:rPr>
              <a:t>’</a:t>
            </a:r>
            <a:r>
              <a:rPr lang="en-IN" i="0" dirty="0">
                <a:effectLst/>
                <a:latin typeface="Times New Roman" panose="02020603050405020304" pitchFamily="18" charset="0"/>
                <a:cs typeface="Times New Roman" panose="02020603050405020304" pitchFamily="18" charset="0"/>
              </a:rPr>
              <a:t>s an Amazon S3 feature that allows you to store objects using a write once, read many (WORM) model. You can use WORM protection for scenarios where it is imperative that data is not changed or deleted after it has been written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2135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0A371-35DA-A01C-0957-C5CAC85A898D}"/>
              </a:ext>
            </a:extLst>
          </p:cNvPr>
          <p:cNvSpPr>
            <a:spLocks noGrp="1"/>
          </p:cNvSpPr>
          <p:nvPr>
            <p:ph type="title"/>
          </p:nvPr>
        </p:nvSpPr>
        <p:spPr>
          <a:xfrm>
            <a:off x="741517" y="106017"/>
            <a:ext cx="10353761" cy="1326321"/>
          </a:xfrm>
        </p:spPr>
        <p:txBody>
          <a:bodyPr/>
          <a:lstStyle/>
          <a:p>
            <a:r>
              <a:rPr lang="en-IN" i="0" cap="none" dirty="0">
                <a:effectLst/>
                <a:latin typeface="Times New Roman" panose="02020603050405020304" pitchFamily="18" charset="0"/>
                <a:cs typeface="Times New Roman" panose="02020603050405020304" pitchFamily="18" charset="0"/>
              </a:rPr>
              <a:t>Amazon (S3) - Versioning </a:t>
            </a:r>
            <a:r>
              <a:rPr lang="en-IN" cap="none" dirty="0">
                <a:effectLst/>
                <a:latin typeface="Times New Roman" panose="02020603050405020304" pitchFamily="18" charset="0"/>
                <a:cs typeface="Times New Roman" panose="02020603050405020304" pitchFamily="18" charset="0"/>
              </a:rPr>
              <a:t>/</a:t>
            </a:r>
            <a:r>
              <a:rPr lang="en-IN" i="0" cap="none" dirty="0">
                <a:effectLst/>
                <a:latin typeface="Times New Roman" panose="02020603050405020304" pitchFamily="18" charset="0"/>
                <a:cs typeface="Times New Roman" panose="02020603050405020304" pitchFamily="18" charset="0"/>
              </a:rPr>
              <a:t>Amazon (S3) - Replication </a:t>
            </a:r>
            <a:endParaRPr lang="en-IN"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374CAC-7E70-76BF-9069-6D9B1F52CED4}"/>
              </a:ext>
            </a:extLst>
          </p:cNvPr>
          <p:cNvSpPr>
            <a:spLocks noGrp="1"/>
          </p:cNvSpPr>
          <p:nvPr>
            <p:ph idx="1"/>
          </p:nvPr>
        </p:nvSpPr>
        <p:spPr>
          <a:xfrm>
            <a:off x="185530" y="1537252"/>
            <a:ext cx="11834192" cy="4969565"/>
          </a:xfrm>
        </p:spPr>
        <p:txBody>
          <a:bodyPr>
            <a:normAutofit/>
          </a:bodyPr>
          <a:lstStyle/>
          <a:p>
            <a:pPr marL="0" indent="0">
              <a:buNone/>
            </a:pPr>
            <a:r>
              <a:rPr lang="en-IN" sz="2800" i="0" u="sng" cap="none" dirty="0">
                <a:effectLst/>
                <a:latin typeface="Times New Roman" panose="02020603050405020304" pitchFamily="18" charset="0"/>
                <a:cs typeface="Times New Roman" panose="02020603050405020304" pitchFamily="18" charset="0"/>
              </a:rPr>
              <a:t>Amazon (S3) - Versioning </a:t>
            </a:r>
          </a:p>
          <a:p>
            <a:pPr marL="0" indent="0">
              <a:buNone/>
            </a:pPr>
            <a:r>
              <a:rPr lang="en-IN" sz="2400" i="0" cap="none" dirty="0">
                <a:effectLst/>
                <a:latin typeface="Times New Roman" panose="02020603050405020304" pitchFamily="18" charset="0"/>
                <a:cs typeface="Times New Roman" panose="02020603050405020304" pitchFamily="18" charset="0"/>
              </a:rPr>
              <a:t>It’s </a:t>
            </a:r>
            <a:r>
              <a:rPr lang="en-IN" sz="2400" i="0" dirty="0">
                <a:effectLst/>
                <a:latin typeface="Times New Roman" panose="02020603050405020304" pitchFamily="18" charset="0"/>
                <a:cs typeface="Times New Roman" panose="02020603050405020304" pitchFamily="18" charset="0"/>
              </a:rPr>
              <a:t> a means of keeping multiple variants of an object in the same bucket. You can use the S3 Versioning feature to preserve, retrieve, and restore every version of every object stored in your buckets.</a:t>
            </a:r>
          </a:p>
          <a:p>
            <a:pPr marL="0" indent="0">
              <a:buNone/>
            </a:pPr>
            <a:endParaRPr lang="en-IN" sz="2400" i="0" dirty="0">
              <a:effectLst/>
              <a:latin typeface="Times New Roman" panose="02020603050405020304" pitchFamily="18" charset="0"/>
              <a:cs typeface="Times New Roman" panose="02020603050405020304" pitchFamily="18" charset="0"/>
            </a:endParaRPr>
          </a:p>
          <a:p>
            <a:pPr marL="0" indent="0">
              <a:buNone/>
            </a:pPr>
            <a:r>
              <a:rPr lang="en-IN" sz="2800" i="0" u="sng" cap="none" dirty="0">
                <a:effectLst/>
                <a:latin typeface="Times New Roman" panose="02020603050405020304" pitchFamily="18" charset="0"/>
                <a:cs typeface="Times New Roman" panose="02020603050405020304" pitchFamily="18" charset="0"/>
              </a:rPr>
              <a:t>Amazon (S3) – Replication</a:t>
            </a:r>
          </a:p>
          <a:p>
            <a:pPr marL="0" indent="0">
              <a:buNone/>
            </a:pPr>
            <a:r>
              <a:rPr lang="en-IN" sz="2800" i="0" cap="none" dirty="0">
                <a:effectLst/>
                <a:latin typeface="Times New Roman" panose="02020603050405020304" pitchFamily="18" charset="0"/>
                <a:cs typeface="Times New Roman" panose="02020603050405020304" pitchFamily="18" charset="0"/>
              </a:rPr>
              <a:t>It’s </a:t>
            </a:r>
            <a:r>
              <a:rPr lang="en-IN" sz="2400" i="0" dirty="0">
                <a:effectLst/>
                <a:latin typeface="Times New Roman" panose="02020603050405020304" pitchFamily="18" charset="0"/>
                <a:cs typeface="Times New Roman" panose="02020603050405020304" pitchFamily="18" charset="0"/>
              </a:rPr>
              <a:t>an elastic, fully managed, low cost feature that replicates objects between buckets. S3 Replication offers the most flexibility and functionality in cloud storage, giving you the controls you need to meet your data sovereignty and other business needs.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3213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7C743-8DC4-731E-6EBA-49CCB558F0FC}"/>
              </a:ext>
            </a:extLst>
          </p:cNvPr>
          <p:cNvSpPr>
            <a:spLocks noGrp="1"/>
          </p:cNvSpPr>
          <p:nvPr>
            <p:ph type="title"/>
          </p:nvPr>
        </p:nvSpPr>
        <p:spPr>
          <a:xfrm>
            <a:off x="0" y="1"/>
            <a:ext cx="12192000" cy="768626"/>
          </a:xfrm>
        </p:spPr>
        <p:txBody>
          <a:bodyPr/>
          <a:lstStyle/>
          <a:p>
            <a:r>
              <a:rPr lang="en-IN" cap="none" dirty="0">
                <a:latin typeface="Times New Roman" panose="02020603050405020304" pitchFamily="18" charset="0"/>
                <a:cs typeface="Times New Roman" panose="02020603050405020304" pitchFamily="18" charset="0"/>
              </a:rPr>
              <a:t>Why DNS is Called as Route53 in AWS</a:t>
            </a:r>
          </a:p>
        </p:txBody>
      </p:sp>
      <p:sp>
        <p:nvSpPr>
          <p:cNvPr id="3" name="Content Placeholder 2">
            <a:extLst>
              <a:ext uri="{FF2B5EF4-FFF2-40B4-BE49-F238E27FC236}">
                <a16:creationId xmlns:a16="http://schemas.microsoft.com/office/drawing/2014/main" id="{A5340DFB-7B8E-796F-0BAB-A16E436BC85E}"/>
              </a:ext>
            </a:extLst>
          </p:cNvPr>
          <p:cNvSpPr>
            <a:spLocks noGrp="1"/>
          </p:cNvSpPr>
          <p:nvPr>
            <p:ph idx="1"/>
          </p:nvPr>
        </p:nvSpPr>
        <p:spPr>
          <a:xfrm>
            <a:off x="0" y="980661"/>
            <a:ext cx="12192000" cy="5877338"/>
          </a:xfrm>
        </p:spPr>
        <p:txBody>
          <a:bodyPr>
            <a:normAutofit fontScale="92500" lnSpcReduction="20000"/>
          </a:bodyPr>
          <a:lstStyle/>
          <a:p>
            <a:pPr marL="0" indent="0">
              <a:buNone/>
            </a:pPr>
            <a:r>
              <a:rPr lang="en-IN" sz="3500" i="0" u="sng" dirty="0">
                <a:effectLst/>
                <a:latin typeface="Times New Roman" panose="02020603050405020304" pitchFamily="18" charset="0"/>
                <a:cs typeface="Times New Roman" panose="02020603050405020304" pitchFamily="18" charset="0"/>
              </a:rPr>
              <a:t>DNS (or) Domain Name System</a:t>
            </a:r>
          </a:p>
          <a:p>
            <a:r>
              <a:rPr lang="en-IN" sz="3500" i="0" dirty="0">
                <a:effectLst/>
                <a:latin typeface="Times New Roman" panose="02020603050405020304" pitchFamily="18" charset="0"/>
                <a:cs typeface="Times New Roman" panose="02020603050405020304" pitchFamily="18" charset="0"/>
              </a:rPr>
              <a:t> </a:t>
            </a:r>
            <a:r>
              <a:rPr lang="en-IN" sz="2600" i="0" dirty="0">
                <a:effectLst/>
                <a:latin typeface="Times New Roman" panose="02020603050405020304" pitchFamily="18" charset="0"/>
                <a:cs typeface="Times New Roman" panose="02020603050405020304" pitchFamily="18" charset="0"/>
              </a:rPr>
              <a:t>translates human readable domain names (for example, www.amazon.com) to machine readable IP addresses (for example, 192.0. 2.44).</a:t>
            </a:r>
          </a:p>
          <a:p>
            <a:r>
              <a:rPr lang="en-IN" sz="2600" dirty="0">
                <a:effectLst/>
                <a:latin typeface="Times New Roman" panose="02020603050405020304" pitchFamily="18" charset="0"/>
                <a:cs typeface="Times New Roman" panose="02020603050405020304" pitchFamily="18" charset="0"/>
              </a:rPr>
              <a:t>Ex:- </a:t>
            </a:r>
            <a:r>
              <a:rPr lang="en-IN" sz="2600" i="0" dirty="0">
                <a:effectLst/>
                <a:latin typeface="Times New Roman" panose="02020603050405020304" pitchFamily="18" charset="0"/>
                <a:cs typeface="Times New Roman" panose="02020603050405020304" pitchFamily="18" charset="0"/>
              </a:rPr>
              <a:t>A DNS service such as Amazon Route 53 is a globally distributed service that translates human readable names like www.example.com into the numeric IP addresses.</a:t>
            </a:r>
          </a:p>
          <a:p>
            <a:pPr marL="0" indent="0">
              <a:buNone/>
            </a:pPr>
            <a:endParaRPr lang="en-IN" sz="2600" i="0" dirty="0">
              <a:effectLst/>
              <a:latin typeface="Times New Roman" panose="02020603050405020304" pitchFamily="18" charset="0"/>
              <a:cs typeface="Times New Roman" panose="02020603050405020304" pitchFamily="18" charset="0"/>
            </a:endParaRPr>
          </a:p>
          <a:p>
            <a:pPr marL="0" indent="0">
              <a:buNone/>
            </a:pPr>
            <a:r>
              <a:rPr lang="en-IN" sz="3500" i="0" u="sng" dirty="0">
                <a:effectLst/>
                <a:latin typeface="Times New Roman" panose="02020603050405020304" pitchFamily="18" charset="0"/>
                <a:cs typeface="Times New Roman" panose="02020603050405020304" pitchFamily="18" charset="0"/>
              </a:rPr>
              <a:t>AWS Route 53 </a:t>
            </a:r>
          </a:p>
          <a:p>
            <a:r>
              <a:rPr lang="en-IN" sz="2600" i="0" dirty="0">
                <a:effectLst/>
                <a:latin typeface="Times New Roman" panose="02020603050405020304" pitchFamily="18" charset="0"/>
                <a:cs typeface="Times New Roman" panose="02020603050405020304" pitchFamily="18" charset="0"/>
              </a:rPr>
              <a:t>takes its name with reference to Port 53, which handles DNS for both the TCP and UDP traffic requests</a:t>
            </a:r>
            <a:endParaRPr lang="en-IN" sz="2600" dirty="0">
              <a:effectLst/>
              <a:latin typeface="Times New Roman" panose="02020603050405020304" pitchFamily="18" charset="0"/>
              <a:cs typeface="Times New Roman" panose="02020603050405020304" pitchFamily="18" charset="0"/>
            </a:endParaRPr>
          </a:p>
          <a:p>
            <a:pPr algn="l"/>
            <a:r>
              <a:rPr lang="en-IN" sz="2600" i="0" dirty="0">
                <a:effectLst/>
                <a:latin typeface="Times New Roman" panose="02020603050405020304" pitchFamily="18" charset="0"/>
                <a:cs typeface="Times New Roman" panose="02020603050405020304" pitchFamily="18" charset="0"/>
              </a:rPr>
              <a:t>Amazon Route 53 effectively connects user requests to infrastructure running in AWS – such as Amazon EC2 instances, Elastic Load Balancing load balancers, or Amazon S3 buckets – and can also be used to route users to infrastructure outside of AWS.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3728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7FE16B-46EA-26F5-A454-8A8183071333}"/>
              </a:ext>
            </a:extLst>
          </p:cNvPr>
          <p:cNvPicPr>
            <a:picLocks noChangeAspect="1"/>
          </p:cNvPicPr>
          <p:nvPr/>
        </p:nvPicPr>
        <p:blipFill>
          <a:blip r:embed="rId2"/>
          <a:stretch>
            <a:fillRect/>
          </a:stretch>
        </p:blipFill>
        <p:spPr>
          <a:xfrm>
            <a:off x="543339" y="287988"/>
            <a:ext cx="11131826" cy="6282024"/>
          </a:xfrm>
          <a:prstGeom prst="rect">
            <a:avLst/>
          </a:prstGeom>
        </p:spPr>
      </p:pic>
    </p:spTree>
    <p:extLst>
      <p:ext uri="{BB962C8B-B14F-4D97-AF65-F5344CB8AC3E}">
        <p14:creationId xmlns:p14="http://schemas.microsoft.com/office/powerpoint/2010/main" val="1877031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9B1E1-2DCB-83FB-A189-0575F39C88F4}"/>
              </a:ext>
            </a:extLst>
          </p:cNvPr>
          <p:cNvSpPr>
            <a:spLocks noGrp="1"/>
          </p:cNvSpPr>
          <p:nvPr>
            <p:ph type="title"/>
          </p:nvPr>
        </p:nvSpPr>
        <p:spPr>
          <a:xfrm>
            <a:off x="892615" y="106018"/>
            <a:ext cx="10353761" cy="715618"/>
          </a:xfrm>
        </p:spPr>
        <p:txBody>
          <a:bodyPr/>
          <a:lstStyle/>
          <a:p>
            <a:r>
              <a:rPr lang="en-IN" cap="none" dirty="0">
                <a:latin typeface="Times New Roman" panose="02020603050405020304" pitchFamily="18" charset="0"/>
                <a:cs typeface="Times New Roman" panose="02020603050405020304" pitchFamily="18" charset="0"/>
              </a:rPr>
              <a:t>Sub-domain</a:t>
            </a:r>
          </a:p>
        </p:txBody>
      </p:sp>
      <p:sp>
        <p:nvSpPr>
          <p:cNvPr id="3" name="Content Placeholder 2">
            <a:extLst>
              <a:ext uri="{FF2B5EF4-FFF2-40B4-BE49-F238E27FC236}">
                <a16:creationId xmlns:a16="http://schemas.microsoft.com/office/drawing/2014/main" id="{1F97F139-CE09-F33E-35EF-C38B8832E496}"/>
              </a:ext>
            </a:extLst>
          </p:cNvPr>
          <p:cNvSpPr>
            <a:spLocks noGrp="1"/>
          </p:cNvSpPr>
          <p:nvPr>
            <p:ph idx="1"/>
          </p:nvPr>
        </p:nvSpPr>
        <p:spPr>
          <a:xfrm>
            <a:off x="0" y="1099930"/>
            <a:ext cx="12192000" cy="5758070"/>
          </a:xfrm>
        </p:spPr>
        <p:txBody>
          <a:bodyPr>
            <a:normAutofit/>
          </a:bodyPr>
          <a:lstStyle/>
          <a:p>
            <a:r>
              <a:rPr lang="en-IN" sz="2400" i="0" dirty="0">
                <a:effectLst/>
                <a:latin typeface="Times New Roman" panose="02020603050405020304" pitchFamily="18" charset="0"/>
                <a:cs typeface="Times New Roman" panose="02020603050405020304" pitchFamily="18" charset="0"/>
              </a:rPr>
              <a:t>A sub-domain name is a piece of additional information added to the beginning of a website's domain name. </a:t>
            </a:r>
          </a:p>
          <a:p>
            <a:r>
              <a:rPr lang="en-IN" sz="2400" i="0" dirty="0">
                <a:effectLst/>
                <a:latin typeface="Times New Roman" panose="02020603050405020304" pitchFamily="18" charset="0"/>
                <a:cs typeface="Times New Roman" panose="02020603050405020304" pitchFamily="18" charset="0"/>
              </a:rPr>
              <a:t>It allows websites to separate and organize content for a specific function </a:t>
            </a:r>
          </a:p>
          <a:p>
            <a:pPr marL="0" indent="0">
              <a:buNone/>
            </a:pPr>
            <a:r>
              <a:rPr lang="en-IN" sz="2400" dirty="0">
                <a:effectLst/>
                <a:latin typeface="Times New Roman" panose="02020603050405020304" pitchFamily="18" charset="0"/>
                <a:cs typeface="Times New Roman" panose="02020603050405020304" pitchFamily="18" charset="0"/>
              </a:rPr>
              <a:t>    </a:t>
            </a:r>
            <a:r>
              <a:rPr lang="en-IN" sz="2400" i="0" dirty="0">
                <a:effectLst/>
                <a:latin typeface="Times New Roman" panose="02020603050405020304" pitchFamily="18" charset="0"/>
                <a:cs typeface="Times New Roman" panose="02020603050405020304" pitchFamily="18" charset="0"/>
              </a:rPr>
              <a:t>— such as a blog or an online store — from the rest of your website.</a:t>
            </a:r>
          </a:p>
          <a:p>
            <a:r>
              <a:rPr lang="en-IN" sz="2400" dirty="0">
                <a:effectLst/>
                <a:latin typeface="Times New Roman" panose="02020603050405020304" pitchFamily="18" charset="0"/>
                <a:cs typeface="Times New Roman" panose="02020603050405020304" pitchFamily="18" charset="0"/>
              </a:rPr>
              <a:t>A</a:t>
            </a:r>
            <a:r>
              <a:rPr lang="en-IN" sz="2400" i="0" dirty="0">
                <a:effectLst/>
                <a:latin typeface="Times New Roman" panose="02020603050405020304" pitchFamily="18" charset="0"/>
                <a:cs typeface="Times New Roman" panose="02020603050405020304" pitchFamily="18" charset="0"/>
              </a:rPr>
              <a:t> sub-domain is the portion of a URL that comes before the “main” domain name and the domain extension.</a:t>
            </a:r>
          </a:p>
          <a:p>
            <a:pPr marL="0" indent="0">
              <a:buNone/>
            </a:pPr>
            <a:r>
              <a:rPr lang="en-IN" sz="2400" i="0" dirty="0">
                <a:effectLst/>
                <a:latin typeface="Times New Roman" panose="02020603050405020304" pitchFamily="18" charset="0"/>
                <a:cs typeface="Times New Roman" panose="02020603050405020304" pitchFamily="18" charset="0"/>
              </a:rPr>
              <a:t> </a:t>
            </a:r>
            <a:r>
              <a:rPr lang="en-IN" sz="2400" b="1" i="0" dirty="0">
                <a:effectLst/>
                <a:latin typeface="Times New Roman" panose="02020603050405020304" pitchFamily="18" charset="0"/>
                <a:cs typeface="Times New Roman" panose="02020603050405020304" pitchFamily="18" charset="0"/>
              </a:rPr>
              <a:t>For example </a:t>
            </a:r>
            <a:r>
              <a:rPr lang="en-IN" sz="2400" i="0" dirty="0">
                <a:effectLst/>
                <a:latin typeface="Times New Roman" panose="02020603050405020304" pitchFamily="18" charset="0"/>
                <a:cs typeface="Times New Roman" panose="02020603050405020304" pitchFamily="18" charset="0"/>
              </a:rPr>
              <a:t>:- docs.themeisle.com . </a:t>
            </a:r>
          </a:p>
          <a:p>
            <a:r>
              <a:rPr lang="en-IN" sz="2400" i="0" dirty="0">
                <a:effectLst/>
                <a:latin typeface="Times New Roman" panose="02020603050405020304" pitchFamily="18" charset="0"/>
                <a:cs typeface="Times New Roman" panose="02020603050405020304" pitchFamily="18" charset="0"/>
              </a:rPr>
              <a:t>Subdomains can help you divide your website into logical parts or create separate sites, for example a separate blog for each sports team.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9524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E5ADC-8792-F4CF-2C20-70748BDF54A5}"/>
              </a:ext>
            </a:extLst>
          </p:cNvPr>
          <p:cNvSpPr>
            <a:spLocks noGrp="1"/>
          </p:cNvSpPr>
          <p:nvPr>
            <p:ph type="title"/>
          </p:nvPr>
        </p:nvSpPr>
        <p:spPr>
          <a:xfrm>
            <a:off x="913794" y="106018"/>
            <a:ext cx="10353761" cy="993911"/>
          </a:xfrm>
        </p:spPr>
        <p:txBody>
          <a:bodyPr/>
          <a:lstStyle/>
          <a:p>
            <a:r>
              <a:rPr lang="en-IN" cap="none" dirty="0">
                <a:latin typeface="Times New Roman" panose="02020603050405020304" pitchFamily="18" charset="0"/>
                <a:cs typeface="Times New Roman" panose="02020603050405020304" pitchFamily="18" charset="0"/>
              </a:rPr>
              <a:t>Feature Of Route 53</a:t>
            </a:r>
          </a:p>
        </p:txBody>
      </p:sp>
      <p:sp>
        <p:nvSpPr>
          <p:cNvPr id="3" name="Content Placeholder 2">
            <a:extLst>
              <a:ext uri="{FF2B5EF4-FFF2-40B4-BE49-F238E27FC236}">
                <a16:creationId xmlns:a16="http://schemas.microsoft.com/office/drawing/2014/main" id="{A60FD31C-6957-7BA0-538A-1F4B02F9625C}"/>
              </a:ext>
            </a:extLst>
          </p:cNvPr>
          <p:cNvSpPr>
            <a:spLocks noGrp="1"/>
          </p:cNvSpPr>
          <p:nvPr>
            <p:ph idx="1"/>
          </p:nvPr>
        </p:nvSpPr>
        <p:spPr>
          <a:xfrm>
            <a:off x="913795" y="1908313"/>
            <a:ext cx="10353762" cy="4731026"/>
          </a:xfrm>
        </p:spPr>
        <p:txBody>
          <a:bodyPr>
            <a:normAutofit/>
          </a:bodyPr>
          <a:lstStyle/>
          <a:p>
            <a:pPr marL="0" indent="0">
              <a:lnSpc>
                <a:spcPct val="107000"/>
              </a:lnSpc>
              <a:spcAft>
                <a:spcPts val="800"/>
              </a:spcAft>
              <a:buNone/>
            </a:pP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07000"/>
              </a:lnSpc>
              <a:buFont typeface="+mj-lt"/>
              <a:buAutoNum type="arabicParenR"/>
            </a:pP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Domain registration.</a:t>
            </a:r>
          </a:p>
          <a:p>
            <a:pPr marL="742950" lvl="1" indent="-285750">
              <a:lnSpc>
                <a:spcPct val="107000"/>
              </a:lnSpc>
              <a:buFont typeface="+mj-lt"/>
              <a:buAutoNum type="arabicParenR"/>
            </a:pP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DNS hosting.</a:t>
            </a:r>
          </a:p>
          <a:p>
            <a:pPr marL="742950" lvl="1" indent="-285750">
              <a:lnSpc>
                <a:spcPct val="107000"/>
              </a:lnSpc>
              <a:buFont typeface="+mj-lt"/>
              <a:buAutoNum type="arabicParenR"/>
            </a:pP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DNS routing Policy</a:t>
            </a:r>
          </a:p>
          <a:p>
            <a:pPr marL="742950" lvl="1" indent="-285750">
              <a:lnSpc>
                <a:spcPct val="107000"/>
              </a:lnSpc>
              <a:buFont typeface="+mj-lt"/>
              <a:buAutoNum type="arabicParenR"/>
            </a:pP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Health checking. </a:t>
            </a:r>
          </a:p>
          <a:p>
            <a:pPr marL="742950" lvl="1" indent="-285750">
              <a:lnSpc>
                <a:spcPct val="107000"/>
              </a:lnSpc>
              <a:buFont typeface="+mj-lt"/>
              <a:buAutoNum type="arabicParenR"/>
            </a:pP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Traffic management.</a:t>
            </a:r>
          </a:p>
          <a:p>
            <a:pPr marL="742950" lvl="1" indent="-285750">
              <a:lnSpc>
                <a:spcPct val="107000"/>
              </a:lnSpc>
              <a:spcAft>
                <a:spcPts val="800"/>
              </a:spcAft>
              <a:buFont typeface="+mj-lt"/>
              <a:buAutoNum type="arabicParenR"/>
            </a:pPr>
            <a:endParaRPr lang="en-IN" sz="32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35992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25965-FC60-3EAD-B275-A71947DE6BA2}"/>
              </a:ext>
            </a:extLst>
          </p:cNvPr>
          <p:cNvSpPr>
            <a:spLocks noGrp="1"/>
          </p:cNvSpPr>
          <p:nvPr>
            <p:ph type="title"/>
          </p:nvPr>
        </p:nvSpPr>
        <p:spPr>
          <a:xfrm>
            <a:off x="0" y="0"/>
            <a:ext cx="12191999" cy="1192695"/>
          </a:xfrm>
        </p:spPr>
        <p:txBody>
          <a:bodyPr>
            <a:normAutofit/>
          </a:bodyPr>
          <a:lstStyle/>
          <a:p>
            <a:r>
              <a:rPr lang="en-IN" sz="3600" i="0" cap="none" dirty="0">
                <a:effectLst/>
                <a:latin typeface="Times New Roman" panose="02020603050405020304" pitchFamily="18" charset="0"/>
                <a:cs typeface="Times New Roman" panose="02020603050405020304" pitchFamily="18" charset="0"/>
              </a:rPr>
              <a:t>Auto Scaling / Auto Scaling Group</a:t>
            </a:r>
            <a:br>
              <a:rPr lang="en-IN" sz="3600" i="0" dirty="0">
                <a:effectLst/>
                <a:latin typeface="Times New Roman" panose="02020603050405020304" pitchFamily="18" charset="0"/>
                <a:cs typeface="Times New Roman" panose="02020603050405020304" pitchFamily="18" charset="0"/>
              </a:rPr>
            </a:br>
            <a:endParaRPr lang="en-IN" sz="3600" i="0" dirty="0">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B55C54-9A2E-7CB3-5006-C0E33E4FADD9}"/>
              </a:ext>
            </a:extLst>
          </p:cNvPr>
          <p:cNvSpPr>
            <a:spLocks noGrp="1"/>
          </p:cNvSpPr>
          <p:nvPr>
            <p:ph idx="1"/>
          </p:nvPr>
        </p:nvSpPr>
        <p:spPr>
          <a:xfrm>
            <a:off x="0" y="1060175"/>
            <a:ext cx="12192000" cy="5797825"/>
          </a:xfrm>
        </p:spPr>
        <p:txBody>
          <a:bodyPr>
            <a:normAutofit/>
          </a:bodyPr>
          <a:lstStyle/>
          <a:p>
            <a:pPr marL="0" indent="0">
              <a:buNone/>
            </a:pPr>
            <a:r>
              <a:rPr lang="en-IN" sz="2800" i="0" dirty="0">
                <a:effectLst/>
                <a:latin typeface="Times New Roman" panose="02020603050405020304" pitchFamily="18" charset="0"/>
                <a:cs typeface="Times New Roman" panose="02020603050405020304" pitchFamily="18" charset="0"/>
              </a:rPr>
              <a:t> </a:t>
            </a:r>
            <a:r>
              <a:rPr lang="en-IN" sz="2800" i="0" u="sng" dirty="0">
                <a:effectLst/>
                <a:latin typeface="Times New Roman" panose="02020603050405020304" pitchFamily="18" charset="0"/>
                <a:cs typeface="Times New Roman" panose="02020603050405020304" pitchFamily="18" charset="0"/>
              </a:rPr>
              <a:t>Auto Scaling</a:t>
            </a:r>
          </a:p>
          <a:p>
            <a:r>
              <a:rPr lang="en-IN" i="0" dirty="0">
                <a:effectLst/>
                <a:latin typeface="Times New Roman" panose="02020603050405020304" pitchFamily="18" charset="0"/>
                <a:cs typeface="Times New Roman" panose="02020603050405020304" pitchFamily="18" charset="0"/>
              </a:rPr>
              <a:t>It monitors your applications and automatically adjusts capacity to maintain steady</a:t>
            </a:r>
          </a:p>
          <a:p>
            <a:r>
              <a:rPr lang="en-IN" i="0" dirty="0">
                <a:effectLst/>
                <a:latin typeface="Times New Roman" panose="02020603050405020304" pitchFamily="18" charset="0"/>
                <a:cs typeface="Times New Roman" panose="02020603050405020304" pitchFamily="18" charset="0"/>
              </a:rPr>
              <a:t>It's easy to setup application scaling for multiple resources across multiple services in minutes.</a:t>
            </a:r>
          </a:p>
          <a:p>
            <a:r>
              <a:rPr lang="en-IN" i="0" dirty="0">
                <a:effectLst/>
                <a:latin typeface="Times New Roman" panose="02020603050405020304" pitchFamily="18" charset="0"/>
                <a:cs typeface="Times New Roman" panose="02020603050405020304" pitchFamily="18" charset="0"/>
              </a:rPr>
              <a:t>It helps you maintain application availability and allows you to automatically add or remove EC2 instances according to conditions you define</a:t>
            </a:r>
            <a:r>
              <a:rPr lang="en-IN" b="0" i="0" dirty="0">
                <a:solidFill>
                  <a:srgbClr val="BDC1C6"/>
                </a:solidFill>
                <a:effectLst/>
                <a:latin typeface="Times New Roman" panose="02020603050405020304" pitchFamily="18" charset="0"/>
                <a:cs typeface="Times New Roman" panose="02020603050405020304" pitchFamily="18" charset="0"/>
              </a:rPr>
              <a:t>. </a:t>
            </a:r>
          </a:p>
          <a:p>
            <a:pPr marL="0" indent="0">
              <a:buNone/>
            </a:pPr>
            <a:endParaRPr lang="en-IN" b="0" i="0" dirty="0">
              <a:solidFill>
                <a:srgbClr val="BDC1C6"/>
              </a:solidFill>
              <a:effectLst/>
              <a:latin typeface="Times New Roman" panose="02020603050405020304" pitchFamily="18" charset="0"/>
              <a:cs typeface="Times New Roman" panose="02020603050405020304" pitchFamily="18" charset="0"/>
            </a:endParaRPr>
          </a:p>
          <a:p>
            <a:pPr marL="0" indent="0">
              <a:buNone/>
            </a:pPr>
            <a:r>
              <a:rPr lang="en-IN" i="0" dirty="0">
                <a:effectLst/>
                <a:latin typeface="Times New Roman" panose="02020603050405020304" pitchFamily="18" charset="0"/>
                <a:cs typeface="Times New Roman" panose="02020603050405020304" pitchFamily="18" charset="0"/>
              </a:rPr>
              <a:t> </a:t>
            </a:r>
            <a:r>
              <a:rPr lang="en-IN" sz="2800" i="0" u="sng" dirty="0">
                <a:effectLst/>
                <a:latin typeface="Times New Roman" panose="02020603050405020304" pitchFamily="18" charset="0"/>
                <a:cs typeface="Times New Roman" panose="02020603050405020304" pitchFamily="18" charset="0"/>
              </a:rPr>
              <a:t>Auto Scaling group</a:t>
            </a:r>
          </a:p>
          <a:p>
            <a:r>
              <a:rPr lang="en-IN" i="0" dirty="0">
                <a:effectLst/>
                <a:latin typeface="Times New Roman" panose="02020603050405020304" pitchFamily="18" charset="0"/>
                <a:cs typeface="Times New Roman" panose="02020603050405020304" pitchFamily="18" charset="0"/>
              </a:rPr>
              <a:t> contains a collection of Amazon EC2 instances that are treated as a logical grouping for the purposes of automatic scaling and management. </a:t>
            </a:r>
          </a:p>
          <a:p>
            <a:r>
              <a:rPr lang="en-IN" i="0" dirty="0">
                <a:effectLst/>
                <a:latin typeface="Times New Roman" panose="02020603050405020304" pitchFamily="18" charset="0"/>
                <a:cs typeface="Times New Roman" panose="02020603050405020304" pitchFamily="18" charset="0"/>
              </a:rPr>
              <a:t>An Auto Scaling group also enables you to use Amazon EC2 Auto Scaling features such as health check replacements and scaling policies.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7912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55623-8437-4CD4-23E9-FACFBE4ED377}"/>
              </a:ext>
            </a:extLst>
          </p:cNvPr>
          <p:cNvSpPr>
            <a:spLocks noGrp="1"/>
          </p:cNvSpPr>
          <p:nvPr>
            <p:ph type="title"/>
          </p:nvPr>
        </p:nvSpPr>
        <p:spPr>
          <a:xfrm>
            <a:off x="1" y="1"/>
            <a:ext cx="12192000" cy="1046922"/>
          </a:xfrm>
        </p:spPr>
        <p:txBody>
          <a:bodyPr/>
          <a:lstStyle/>
          <a:p>
            <a:r>
              <a:rPr lang="en-IN" cap="none" dirty="0">
                <a:latin typeface="Times New Roman" panose="02020603050405020304" pitchFamily="18" charset="0"/>
                <a:cs typeface="Times New Roman" panose="02020603050405020304" pitchFamily="18" charset="0"/>
              </a:rPr>
              <a:t>Single Point Of Failure / </a:t>
            </a:r>
            <a:r>
              <a:rPr lang="en-IN" i="0" cap="none" dirty="0">
                <a:effectLst/>
                <a:latin typeface="Times New Roman" panose="02020603050405020304" pitchFamily="18" charset="0"/>
                <a:cs typeface="Times New Roman" panose="02020603050405020304" pitchFamily="18" charset="0"/>
              </a:rPr>
              <a:t>Elastic Load Balancing </a:t>
            </a:r>
            <a:endParaRPr lang="en-IN"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ECF668-0E49-4EB0-B75D-BA209AA4E686}"/>
              </a:ext>
            </a:extLst>
          </p:cNvPr>
          <p:cNvSpPr>
            <a:spLocks noGrp="1"/>
          </p:cNvSpPr>
          <p:nvPr>
            <p:ph idx="1"/>
          </p:nvPr>
        </p:nvSpPr>
        <p:spPr>
          <a:xfrm>
            <a:off x="-1" y="1326321"/>
            <a:ext cx="12191999" cy="5531679"/>
          </a:xfrm>
        </p:spPr>
        <p:txBody>
          <a:bodyPr>
            <a:normAutofit/>
          </a:bodyPr>
          <a:lstStyle/>
          <a:p>
            <a:pPr marL="0" indent="0">
              <a:buNone/>
            </a:pPr>
            <a:r>
              <a:rPr lang="en-IN" sz="2800" u="sng" dirty="0">
                <a:latin typeface="Times New Roman" panose="02020603050405020304" pitchFamily="18" charset="0"/>
                <a:cs typeface="Times New Roman" panose="02020603050405020304" pitchFamily="18" charset="0"/>
              </a:rPr>
              <a:t>single point of failure</a:t>
            </a:r>
            <a:endParaRPr lang="en-IN" sz="2800" u="sng" dirty="0">
              <a:effectLst/>
              <a:latin typeface="Times New Roman" panose="02020603050405020304" pitchFamily="18" charset="0"/>
              <a:cs typeface="Times New Roman" panose="02020603050405020304" pitchFamily="18" charset="0"/>
            </a:endParaRPr>
          </a:p>
          <a:p>
            <a:r>
              <a:rPr lang="en-IN" i="0" dirty="0">
                <a:effectLst/>
                <a:latin typeface="Times New Roman" panose="02020603050405020304" pitchFamily="18" charset="0"/>
                <a:cs typeface="Times New Roman" panose="02020603050405020304" pitchFamily="18" charset="0"/>
              </a:rPr>
              <a:t>Single points of failure occur when a single Cloud HSM device fails in a non-HA configuration, which can result in the permanent loss of keys and data.</a:t>
            </a:r>
          </a:p>
          <a:p>
            <a:r>
              <a:rPr lang="en-IN" i="0" dirty="0">
                <a:effectLst/>
                <a:latin typeface="Times New Roman" panose="02020603050405020304" pitchFamily="18" charset="0"/>
                <a:cs typeface="Times New Roman" panose="02020603050405020304" pitchFamily="18" charset="0"/>
              </a:rPr>
              <a:t> The HA partition group, however, allows for one or more Cloud HSM devices to fail, while still keeping your environment operational.</a:t>
            </a:r>
          </a:p>
          <a:p>
            <a:pPr marL="0" indent="0">
              <a:buNone/>
            </a:pPr>
            <a:endParaRPr lang="en-IN" i="0" dirty="0">
              <a:effectLst/>
              <a:latin typeface="Times New Roman" panose="02020603050405020304" pitchFamily="18" charset="0"/>
              <a:cs typeface="Times New Roman" panose="02020603050405020304" pitchFamily="18" charset="0"/>
            </a:endParaRPr>
          </a:p>
          <a:p>
            <a:pPr marL="0" indent="0">
              <a:buNone/>
            </a:pPr>
            <a:r>
              <a:rPr lang="en-IN" sz="2400" i="0" u="sng" dirty="0">
                <a:effectLst/>
                <a:latin typeface="Times New Roman" panose="02020603050405020304" pitchFamily="18" charset="0"/>
                <a:cs typeface="Times New Roman" panose="02020603050405020304" pitchFamily="18" charset="0"/>
              </a:rPr>
              <a:t>Elastic Load Balancing </a:t>
            </a:r>
          </a:p>
          <a:p>
            <a:r>
              <a:rPr lang="en-IN" i="0" dirty="0">
                <a:effectLst/>
                <a:latin typeface="Times New Roman" panose="02020603050405020304" pitchFamily="18" charset="0"/>
                <a:cs typeface="Times New Roman" panose="02020603050405020304" pitchFamily="18" charset="0"/>
              </a:rPr>
              <a:t>Elastic Load Balancing automatically distributes your incoming traffic across multiple targets, such as EC2 instances, containers, and IP addresses, in one or more Availability Zones.</a:t>
            </a:r>
          </a:p>
          <a:p>
            <a:r>
              <a:rPr lang="en-IN" i="0" dirty="0">
                <a:effectLst/>
                <a:latin typeface="Times New Roman" panose="02020603050405020304" pitchFamily="18" charset="0"/>
                <a:cs typeface="Times New Roman" panose="02020603050405020304" pitchFamily="18" charset="0"/>
              </a:rPr>
              <a:t> It monitors the health of its registered targets, and routes traffic only to the healthy targets.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0056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0F2976-3CFA-522A-E247-C6C0310D5135}"/>
              </a:ext>
            </a:extLst>
          </p:cNvPr>
          <p:cNvPicPr>
            <a:picLocks noChangeAspect="1"/>
          </p:cNvPicPr>
          <p:nvPr/>
        </p:nvPicPr>
        <p:blipFill>
          <a:blip r:embed="rId2"/>
          <a:stretch>
            <a:fillRect/>
          </a:stretch>
        </p:blipFill>
        <p:spPr>
          <a:xfrm>
            <a:off x="357809" y="238540"/>
            <a:ext cx="11489634" cy="2993594"/>
          </a:xfrm>
          <a:prstGeom prst="rect">
            <a:avLst/>
          </a:prstGeom>
        </p:spPr>
      </p:pic>
      <p:pic>
        <p:nvPicPr>
          <p:cNvPr id="3" name="Picture 2">
            <a:extLst>
              <a:ext uri="{FF2B5EF4-FFF2-40B4-BE49-F238E27FC236}">
                <a16:creationId xmlns:a16="http://schemas.microsoft.com/office/drawing/2014/main" id="{91530580-6ED5-F443-0078-591AFB94AF66}"/>
              </a:ext>
            </a:extLst>
          </p:cNvPr>
          <p:cNvPicPr>
            <a:picLocks noChangeAspect="1"/>
          </p:cNvPicPr>
          <p:nvPr/>
        </p:nvPicPr>
        <p:blipFill>
          <a:blip r:embed="rId3"/>
          <a:stretch>
            <a:fillRect/>
          </a:stretch>
        </p:blipFill>
        <p:spPr>
          <a:xfrm>
            <a:off x="357807" y="3591340"/>
            <a:ext cx="11489635" cy="3118053"/>
          </a:xfrm>
          <a:prstGeom prst="rect">
            <a:avLst/>
          </a:prstGeom>
        </p:spPr>
      </p:pic>
    </p:spTree>
    <p:extLst>
      <p:ext uri="{BB962C8B-B14F-4D97-AF65-F5344CB8AC3E}">
        <p14:creationId xmlns:p14="http://schemas.microsoft.com/office/powerpoint/2010/main" val="653069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17AB6-9C8F-572D-045A-B2E245D02471}"/>
              </a:ext>
            </a:extLst>
          </p:cNvPr>
          <p:cNvSpPr>
            <a:spLocks noGrp="1"/>
          </p:cNvSpPr>
          <p:nvPr>
            <p:ph type="title"/>
          </p:nvPr>
        </p:nvSpPr>
        <p:spPr>
          <a:xfrm>
            <a:off x="106016" y="1"/>
            <a:ext cx="11966713" cy="887896"/>
          </a:xfrm>
        </p:spPr>
        <p:txBody>
          <a:bodyPr/>
          <a:lstStyle/>
          <a:p>
            <a:r>
              <a:rPr lang="en-IN" cap="none" dirty="0"/>
              <a:t>High Availability / Fault Tolerance</a:t>
            </a:r>
          </a:p>
        </p:txBody>
      </p:sp>
      <p:sp>
        <p:nvSpPr>
          <p:cNvPr id="3" name="Content Placeholder 2">
            <a:extLst>
              <a:ext uri="{FF2B5EF4-FFF2-40B4-BE49-F238E27FC236}">
                <a16:creationId xmlns:a16="http://schemas.microsoft.com/office/drawing/2014/main" id="{50EF58CD-EA80-53C2-995B-6E111D511039}"/>
              </a:ext>
            </a:extLst>
          </p:cNvPr>
          <p:cNvSpPr>
            <a:spLocks noGrp="1"/>
          </p:cNvSpPr>
          <p:nvPr>
            <p:ph idx="1"/>
          </p:nvPr>
        </p:nvSpPr>
        <p:spPr>
          <a:xfrm>
            <a:off x="106016" y="1789044"/>
            <a:ext cx="11966713" cy="5068956"/>
          </a:xfrm>
        </p:spPr>
        <p:txBody>
          <a:bodyPr>
            <a:normAutofit/>
          </a:bodyPr>
          <a:lstStyle/>
          <a:p>
            <a:pPr marL="0" indent="0">
              <a:buNone/>
            </a:pPr>
            <a:r>
              <a:rPr lang="en-IN" sz="2800" b="1" i="0" dirty="0">
                <a:effectLst/>
                <a:latin typeface="Times New Roman" panose="02020603050405020304" pitchFamily="18" charset="0"/>
                <a:cs typeface="Times New Roman" panose="02020603050405020304" pitchFamily="18" charset="0"/>
              </a:rPr>
              <a:t>High availability </a:t>
            </a:r>
          </a:p>
          <a:p>
            <a:r>
              <a:rPr lang="en-IN" i="0" dirty="0">
                <a:effectLst/>
                <a:latin typeface="Times New Roman" panose="02020603050405020304" pitchFamily="18" charset="0"/>
                <a:cs typeface="Times New Roman" panose="02020603050405020304" pitchFamily="18" charset="0"/>
              </a:rPr>
              <a:t>It’s a software solutions offer data protection for all the legacy file data that businesses want to move to Amazon Web Services (AWS), as well as reliable performance with minimal downtime and costs.</a:t>
            </a:r>
          </a:p>
          <a:p>
            <a:pPr marL="0" indent="0">
              <a:buNone/>
            </a:pPr>
            <a:endParaRPr lang="en-IN" i="0" dirty="0">
              <a:effectLst/>
              <a:latin typeface="Times New Roman" panose="02020603050405020304" pitchFamily="18" charset="0"/>
              <a:cs typeface="Times New Roman" panose="02020603050405020304" pitchFamily="18" charset="0"/>
            </a:endParaRPr>
          </a:p>
          <a:p>
            <a:pPr marL="0" indent="0">
              <a:buNone/>
            </a:pPr>
            <a:r>
              <a:rPr lang="en-IN" sz="2800" b="1" i="0" dirty="0">
                <a:effectLst/>
                <a:latin typeface="Times New Roman" panose="02020603050405020304" pitchFamily="18" charset="0"/>
                <a:cs typeface="Times New Roman" panose="02020603050405020304" pitchFamily="18" charset="0"/>
              </a:rPr>
              <a:t>Fault tolerance </a:t>
            </a:r>
          </a:p>
          <a:p>
            <a:r>
              <a:rPr lang="en-IN" i="0" dirty="0">
                <a:effectLst/>
                <a:latin typeface="Times New Roman" panose="02020603050405020304" pitchFamily="18" charset="0"/>
                <a:cs typeface="Times New Roman" panose="02020603050405020304" pitchFamily="18" charset="0"/>
              </a:rPr>
              <a:t>It’s the ability of a workload to remain operational with zero downtime or data loss in the event of a disruption. In a fault-tolerant environment, instances of the same workload are typically hosted on two or more independent sets of servers</a:t>
            </a:r>
          </a:p>
          <a:p>
            <a:endParaRPr lang="en-IN" dirty="0"/>
          </a:p>
        </p:txBody>
      </p:sp>
    </p:spTree>
    <p:extLst>
      <p:ext uri="{BB962C8B-B14F-4D97-AF65-F5344CB8AC3E}">
        <p14:creationId xmlns:p14="http://schemas.microsoft.com/office/powerpoint/2010/main" val="3835456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5F041-205C-0B83-774A-F2070818DAFB}"/>
              </a:ext>
            </a:extLst>
          </p:cNvPr>
          <p:cNvSpPr>
            <a:spLocks noGrp="1"/>
          </p:cNvSpPr>
          <p:nvPr>
            <p:ph type="title"/>
          </p:nvPr>
        </p:nvSpPr>
        <p:spPr>
          <a:xfrm>
            <a:off x="172279" y="159027"/>
            <a:ext cx="11728174" cy="728870"/>
          </a:xfrm>
        </p:spPr>
        <p:txBody>
          <a:bodyPr/>
          <a:lstStyle/>
          <a:p>
            <a:r>
              <a:rPr lang="en-IN" cap="none" dirty="0">
                <a:latin typeface="Times New Roman" panose="02020603050405020304" pitchFamily="18" charset="0"/>
                <a:cs typeface="Times New Roman" panose="02020603050405020304" pitchFamily="18" charset="0"/>
              </a:rPr>
              <a:t>Types Of Load Balancers In AWS</a:t>
            </a:r>
          </a:p>
        </p:txBody>
      </p:sp>
      <p:sp>
        <p:nvSpPr>
          <p:cNvPr id="3" name="Content Placeholder 2">
            <a:extLst>
              <a:ext uri="{FF2B5EF4-FFF2-40B4-BE49-F238E27FC236}">
                <a16:creationId xmlns:a16="http://schemas.microsoft.com/office/drawing/2014/main" id="{61F4D8D9-9920-EA30-D47D-4C7AF56709B8}"/>
              </a:ext>
            </a:extLst>
          </p:cNvPr>
          <p:cNvSpPr>
            <a:spLocks noGrp="1"/>
          </p:cNvSpPr>
          <p:nvPr>
            <p:ph idx="1"/>
          </p:nvPr>
        </p:nvSpPr>
        <p:spPr>
          <a:xfrm>
            <a:off x="172279" y="1126435"/>
            <a:ext cx="11873947" cy="5665878"/>
          </a:xfrm>
        </p:spPr>
        <p:txBody>
          <a:bodyPr>
            <a:normAutofit/>
          </a:bodyPr>
          <a:lstStyle/>
          <a:p>
            <a:r>
              <a:rPr lang="en-IN" i="0" dirty="0">
                <a:effectLst/>
                <a:latin typeface="Times New Roman" panose="02020603050405020304" pitchFamily="18" charset="0"/>
                <a:cs typeface="Times New Roman" panose="02020603050405020304" pitchFamily="18" charset="0"/>
              </a:rPr>
              <a:t>Elastic Load Balancing supports the following types of load balancers:</a:t>
            </a:r>
          </a:p>
          <a:p>
            <a:pPr marL="457200" indent="-457200">
              <a:buFont typeface="+mj-lt"/>
              <a:buAutoNum type="arabicParenR"/>
            </a:pPr>
            <a:r>
              <a:rPr lang="en-IN" i="0" dirty="0">
                <a:effectLst/>
                <a:latin typeface="Times New Roman" panose="02020603050405020304" pitchFamily="18" charset="0"/>
                <a:cs typeface="Times New Roman" panose="02020603050405020304" pitchFamily="18" charset="0"/>
              </a:rPr>
              <a:t> Application Load Balancers.</a:t>
            </a:r>
          </a:p>
          <a:p>
            <a:pPr marL="457200" indent="-457200">
              <a:buFont typeface="+mj-lt"/>
              <a:buAutoNum type="arabicParenR"/>
            </a:pPr>
            <a:r>
              <a:rPr lang="en-IN" i="0" dirty="0">
                <a:effectLst/>
                <a:latin typeface="Times New Roman" panose="02020603050405020304" pitchFamily="18" charset="0"/>
                <a:cs typeface="Times New Roman" panose="02020603050405020304" pitchFamily="18" charset="0"/>
              </a:rPr>
              <a:t> Network Load Balancers.</a:t>
            </a:r>
            <a:endParaRPr lang="en-IN" dirty="0">
              <a:effectLst/>
              <a:latin typeface="Times New Roman" panose="02020603050405020304" pitchFamily="18" charset="0"/>
              <a:cs typeface="Times New Roman" panose="02020603050405020304" pitchFamily="18" charset="0"/>
            </a:endParaRPr>
          </a:p>
          <a:p>
            <a:pPr marL="457200" indent="-457200">
              <a:buFont typeface="+mj-lt"/>
              <a:buAutoNum type="arabicParenR"/>
            </a:pPr>
            <a:r>
              <a:rPr lang="en-IN" i="0" dirty="0">
                <a:effectLst/>
                <a:latin typeface="Times New Roman" panose="02020603050405020304" pitchFamily="18" charset="0"/>
                <a:cs typeface="Times New Roman" panose="02020603050405020304" pitchFamily="18" charset="0"/>
              </a:rPr>
              <a:t>Classic Load Balancers.</a:t>
            </a:r>
          </a:p>
          <a:p>
            <a:pPr marL="0" indent="0">
              <a:buNone/>
            </a:pPr>
            <a:endParaRPr lang="en-IN" i="0" dirty="0">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1028" name="Picture 4" descr="Deep Dive on Advanced features on AWS Application Load Balancer and Network Load  Balancer | by Eray ALTILI | DataDrivenInvestor">
            <a:extLst>
              <a:ext uri="{FF2B5EF4-FFF2-40B4-BE49-F238E27FC236}">
                <a16:creationId xmlns:a16="http://schemas.microsoft.com/office/drawing/2014/main" id="{0863E838-C105-58BA-52A1-CF51615C92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51" y="3154017"/>
            <a:ext cx="10531498" cy="3352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369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D9026-6539-7724-A3A5-822025C44DF0}"/>
              </a:ext>
            </a:extLst>
          </p:cNvPr>
          <p:cNvSpPr>
            <a:spLocks noGrp="1"/>
          </p:cNvSpPr>
          <p:nvPr>
            <p:ph type="title"/>
          </p:nvPr>
        </p:nvSpPr>
        <p:spPr>
          <a:xfrm>
            <a:off x="913795" y="106019"/>
            <a:ext cx="10353761" cy="649356"/>
          </a:xfrm>
        </p:spPr>
        <p:txBody>
          <a:bodyPr>
            <a:normAutofit/>
          </a:bodyPr>
          <a:lstStyle/>
          <a:p>
            <a:r>
              <a:rPr lang="en-IN" sz="3200" cap="none" dirty="0">
                <a:effectLst/>
                <a:latin typeface="Times New Roman" panose="02020603050405020304" pitchFamily="18" charset="0"/>
                <a:ea typeface="Calibri" panose="020F0502020204030204" pitchFamily="34" charset="0"/>
              </a:rPr>
              <a:t>A Launch Template</a:t>
            </a:r>
            <a:endParaRPr lang="en-IN" sz="4800" cap="none" dirty="0"/>
          </a:p>
        </p:txBody>
      </p:sp>
      <p:sp>
        <p:nvSpPr>
          <p:cNvPr id="3" name="Content Placeholder 2">
            <a:extLst>
              <a:ext uri="{FF2B5EF4-FFF2-40B4-BE49-F238E27FC236}">
                <a16:creationId xmlns:a16="http://schemas.microsoft.com/office/drawing/2014/main" id="{DD1CF988-D66A-4972-4807-DEE9BC6EEEB0}"/>
              </a:ext>
            </a:extLst>
          </p:cNvPr>
          <p:cNvSpPr>
            <a:spLocks noGrp="1"/>
          </p:cNvSpPr>
          <p:nvPr>
            <p:ph idx="1"/>
          </p:nvPr>
        </p:nvSpPr>
        <p:spPr>
          <a:xfrm>
            <a:off x="132522" y="1033669"/>
            <a:ext cx="11900451" cy="5718311"/>
          </a:xfrm>
        </p:spPr>
        <p:txBody>
          <a:bodyPr>
            <a:normAutofit/>
          </a:bodyPr>
          <a:lstStyle/>
          <a:p>
            <a:pPr marL="342900" lvl="0" indent="-342900">
              <a:lnSpc>
                <a:spcPct val="107000"/>
              </a:lnSpc>
              <a:buFont typeface="Courier New" panose="02070309020205020404" pitchFamily="49" charset="0"/>
              <a:buChar char="o"/>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A launch template provides full functionality for Amazon EC2 Auto Scaling</a:t>
            </a:r>
          </a:p>
          <a:p>
            <a:pPr marL="342900" lvl="0" indent="-342900">
              <a:lnSpc>
                <a:spcPct val="107000"/>
              </a:lnSpc>
              <a:buFont typeface="Courier New" panose="02070309020205020404" pitchFamily="49" charset="0"/>
              <a:buChar char="o"/>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It reduces the number of steps that are required to create an AWS instance by capturing all launch parameters within one resource.</a:t>
            </a:r>
          </a:p>
          <a:p>
            <a:pPr marL="0" lvl="0" indent="0">
              <a:lnSpc>
                <a:spcPct val="107000"/>
              </a:lnSpc>
              <a:buNone/>
            </a:pP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Courier New" panose="02070309020205020404" pitchFamily="49" charset="0"/>
              <a:buChar char="o"/>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Also, newer features of Amazon EC2 such as the current generation of Amazon EBS</a:t>
            </a:r>
          </a:p>
          <a:p>
            <a:pPr marL="0" indent="0">
              <a:lnSpc>
                <a:spcPct val="107000"/>
              </a:lnSpc>
              <a:spcAft>
                <a:spcPts val="800"/>
              </a:spcAft>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 Provisioned IOPS volumes (io2)</a:t>
            </a:r>
          </a:p>
          <a:p>
            <a:pPr marL="0" indent="0">
              <a:lnSpc>
                <a:spcPct val="107000"/>
              </a:lnSpc>
              <a:spcAft>
                <a:spcPts val="800"/>
              </a:spcAft>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(b) EBS volume tagging</a:t>
            </a:r>
          </a:p>
          <a:p>
            <a:pPr marL="0" indent="0">
              <a:lnSpc>
                <a:spcPct val="107000"/>
              </a:lnSpc>
              <a:spcAft>
                <a:spcPts val="800"/>
              </a:spcAft>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(c) T2 Unlimited instances</a:t>
            </a:r>
          </a:p>
          <a:p>
            <a:pPr marL="0" indent="0">
              <a:lnSpc>
                <a:spcPct val="107000"/>
              </a:lnSpc>
              <a:spcAft>
                <a:spcPts val="800"/>
              </a:spcAft>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(d) Elastic Inference</a:t>
            </a:r>
          </a:p>
          <a:p>
            <a:pPr marL="0" indent="0">
              <a:lnSpc>
                <a:spcPct val="107000"/>
              </a:lnSpc>
              <a:spcAft>
                <a:spcPts val="800"/>
              </a:spcAft>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(e) Dedicated Hosts.</a:t>
            </a:r>
          </a:p>
          <a:p>
            <a:pPr marL="0" indent="0">
              <a:buNone/>
            </a:pPr>
            <a:endParaRPr lang="en-IN" dirty="0"/>
          </a:p>
        </p:txBody>
      </p:sp>
    </p:spTree>
    <p:extLst>
      <p:ext uri="{BB962C8B-B14F-4D97-AF65-F5344CB8AC3E}">
        <p14:creationId xmlns:p14="http://schemas.microsoft.com/office/powerpoint/2010/main" val="332695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4B05E-FF3C-2749-A53F-E950376B5275}"/>
              </a:ext>
            </a:extLst>
          </p:cNvPr>
          <p:cNvSpPr>
            <a:spLocks noGrp="1"/>
          </p:cNvSpPr>
          <p:nvPr>
            <p:ph type="title"/>
          </p:nvPr>
        </p:nvSpPr>
        <p:spPr>
          <a:xfrm>
            <a:off x="119271" y="1"/>
            <a:ext cx="11940208" cy="583095"/>
          </a:xfrm>
        </p:spPr>
        <p:txBody>
          <a:bodyPr>
            <a:normAutofit/>
          </a:bodyPr>
          <a:lstStyle/>
          <a:p>
            <a:r>
              <a:rPr lang="en-IN" dirty="0"/>
              <a:t>VPC</a:t>
            </a:r>
          </a:p>
        </p:txBody>
      </p:sp>
      <p:sp>
        <p:nvSpPr>
          <p:cNvPr id="3" name="Content Placeholder 2">
            <a:extLst>
              <a:ext uri="{FF2B5EF4-FFF2-40B4-BE49-F238E27FC236}">
                <a16:creationId xmlns:a16="http://schemas.microsoft.com/office/drawing/2014/main" id="{FEF6A899-A5F3-95D2-5539-0D9F6A05E665}"/>
              </a:ext>
            </a:extLst>
          </p:cNvPr>
          <p:cNvSpPr>
            <a:spLocks noGrp="1"/>
          </p:cNvSpPr>
          <p:nvPr>
            <p:ph idx="1"/>
          </p:nvPr>
        </p:nvSpPr>
        <p:spPr>
          <a:xfrm>
            <a:off x="0" y="967409"/>
            <a:ext cx="12192000" cy="5890589"/>
          </a:xfrm>
        </p:spPr>
        <p:txBody>
          <a:bodyPr>
            <a:normAutofit/>
          </a:bodyPr>
          <a:lstStyle/>
          <a:p>
            <a:pPr marL="0" indent="0">
              <a:buNone/>
            </a:pPr>
            <a:r>
              <a:rPr lang="en-IN" sz="2400" u="sng" dirty="0">
                <a:effectLst/>
                <a:latin typeface="Times New Roman" panose="02020603050405020304" pitchFamily="18" charset="0"/>
                <a:cs typeface="Times New Roman" panose="02020603050405020304" pitchFamily="18" charset="0"/>
              </a:rPr>
              <a:t>virtual private cloud </a:t>
            </a:r>
            <a:r>
              <a:rPr lang="en-IN" sz="2400" i="0" u="sng" dirty="0">
                <a:effectLst/>
                <a:latin typeface="Times New Roman" panose="02020603050405020304" pitchFamily="18" charset="0"/>
                <a:cs typeface="Times New Roman" panose="02020603050405020304" pitchFamily="18" charset="0"/>
              </a:rPr>
              <a:t>(VPC) </a:t>
            </a:r>
          </a:p>
          <a:p>
            <a:pPr>
              <a:buFont typeface="Courier New" panose="02070309020205020404" pitchFamily="49" charset="0"/>
              <a:buChar char="o"/>
            </a:pPr>
            <a:r>
              <a:rPr lang="en-IN" i="0" dirty="0">
                <a:effectLst/>
                <a:latin typeface="Times New Roman" panose="02020603050405020304" pitchFamily="18" charset="0"/>
                <a:cs typeface="Times New Roman" panose="02020603050405020304" pitchFamily="18" charset="0"/>
              </a:rPr>
              <a:t>is a virtual network dedicated to your AWS account. It is logically isolated from other virtual networks in the AWS Cloud. </a:t>
            </a:r>
          </a:p>
          <a:p>
            <a:pPr>
              <a:buFont typeface="Courier New" panose="02070309020205020404" pitchFamily="49" charset="0"/>
              <a:buChar char="o"/>
            </a:pPr>
            <a:r>
              <a:rPr lang="en-IN" i="0" dirty="0">
                <a:effectLst/>
                <a:latin typeface="Times New Roman" panose="02020603050405020304" pitchFamily="18" charset="0"/>
                <a:cs typeface="Times New Roman" panose="02020603050405020304" pitchFamily="18" charset="0"/>
              </a:rPr>
              <a:t>You can launch your AWS resources, such as Amazon EC2 instances, into your VPC</a:t>
            </a:r>
          </a:p>
          <a:p>
            <a:pPr>
              <a:buFont typeface="Courier New" panose="02070309020205020404" pitchFamily="49" charset="0"/>
              <a:buChar char="o"/>
            </a:pPr>
            <a:r>
              <a:rPr lang="en-IN" i="0" dirty="0">
                <a:effectLst/>
                <a:latin typeface="Times New Roman" panose="02020603050405020304" pitchFamily="18" charset="0"/>
                <a:cs typeface="Times New Roman" panose="02020603050405020304" pitchFamily="18" charset="0"/>
              </a:rPr>
              <a:t>You can specify an IP address range for the VPC, add subnets, associate security groups, and configure route tables.</a:t>
            </a:r>
          </a:p>
          <a:p>
            <a:pPr>
              <a:buFont typeface="Courier New" panose="02070309020205020404" pitchFamily="49" charset="0"/>
              <a:buChar char="o"/>
            </a:pPr>
            <a:endParaRPr lang="en-IN" u="sng" dirty="0">
              <a:effectLst/>
              <a:latin typeface="Times New Roman" panose="02020603050405020304" pitchFamily="18" charset="0"/>
              <a:cs typeface="Times New Roman" panose="02020603050405020304" pitchFamily="18" charset="0"/>
            </a:endParaRPr>
          </a:p>
          <a:p>
            <a:pPr marL="0" indent="0">
              <a:buNone/>
            </a:pPr>
            <a:r>
              <a:rPr lang="en-IN" u="sng" dirty="0">
                <a:effectLst/>
                <a:latin typeface="Times New Roman" panose="02020603050405020304" pitchFamily="18" charset="0"/>
                <a:cs typeface="Times New Roman" panose="02020603050405020304" pitchFamily="18" charset="0"/>
              </a:rPr>
              <a:t>USE</a:t>
            </a:r>
            <a:r>
              <a:rPr lang="en-IN" dirty="0">
                <a:effectLst/>
                <a:latin typeface="Times New Roman" panose="02020603050405020304" pitchFamily="18" charset="0"/>
                <a:cs typeface="Times New Roman" panose="02020603050405020304" pitchFamily="18" charset="0"/>
              </a:rPr>
              <a:t>:</a:t>
            </a:r>
          </a:p>
          <a:p>
            <a:r>
              <a:rPr lang="en-IN" dirty="0">
                <a:effectLst/>
                <a:latin typeface="Times New Roman" panose="02020603050405020304" pitchFamily="18" charset="0"/>
                <a:cs typeface="Times New Roman" panose="02020603050405020304" pitchFamily="18" charset="0"/>
              </a:rPr>
              <a:t> </a:t>
            </a:r>
            <a:r>
              <a:rPr lang="en-IN" i="0" dirty="0">
                <a:effectLst/>
                <a:latin typeface="Times New Roman" panose="02020603050405020304" pitchFamily="18" charset="0"/>
                <a:cs typeface="Times New Roman" panose="02020603050405020304" pitchFamily="18" charset="0"/>
              </a:rPr>
              <a:t>Amazon VPC enables you to build a virtual network in the AWS cloud</a:t>
            </a:r>
          </a:p>
          <a:p>
            <a:r>
              <a:rPr lang="en-IN" i="0" dirty="0">
                <a:effectLst/>
                <a:latin typeface="Times New Roman" panose="02020603050405020304" pitchFamily="18" charset="0"/>
                <a:cs typeface="Times New Roman" panose="02020603050405020304" pitchFamily="18" charset="0"/>
              </a:rPr>
              <a:t>You</a:t>
            </a:r>
            <a:r>
              <a:rPr lang="en-IN" b="0" i="0" dirty="0">
                <a:effectLst/>
                <a:latin typeface="Times New Roman" panose="02020603050405020304" pitchFamily="18" charset="0"/>
                <a:cs typeface="Times New Roman" panose="02020603050405020304" pitchFamily="18" charset="0"/>
              </a:rPr>
              <a:t> can define your own network space, and control how your network and the Amazon EC2 resources inside your network are exposed to the Internet.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0606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WS 201: Understanding the Default Virtual Private Cloud">
            <a:extLst>
              <a:ext uri="{FF2B5EF4-FFF2-40B4-BE49-F238E27FC236}">
                <a16:creationId xmlns:a16="http://schemas.microsoft.com/office/drawing/2014/main" id="{FC71F658-7AAB-78F4-2EBF-5780804364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828675"/>
            <a:ext cx="8521148" cy="520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954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2C45B-8B23-A8E3-3487-AF66748E00BB}"/>
              </a:ext>
            </a:extLst>
          </p:cNvPr>
          <p:cNvSpPr>
            <a:spLocks noGrp="1"/>
          </p:cNvSpPr>
          <p:nvPr>
            <p:ph type="title"/>
          </p:nvPr>
        </p:nvSpPr>
        <p:spPr>
          <a:xfrm>
            <a:off x="145774" y="609600"/>
            <a:ext cx="11741425" cy="5645426"/>
          </a:xfrm>
        </p:spPr>
        <p:txBody>
          <a:bodyPr>
            <a:noAutofit/>
          </a:bodyPr>
          <a:lstStyle/>
          <a:p>
            <a:r>
              <a:rPr lang="en-IN" sz="17900" dirty="0">
                <a:latin typeface="Freestyle Script" panose="030804020302050B0404" pitchFamily="66" charset="0"/>
              </a:rPr>
              <a:t>Thank you</a:t>
            </a:r>
          </a:p>
        </p:txBody>
      </p:sp>
    </p:spTree>
    <p:extLst>
      <p:ext uri="{BB962C8B-B14F-4D97-AF65-F5344CB8AC3E}">
        <p14:creationId xmlns:p14="http://schemas.microsoft.com/office/powerpoint/2010/main" val="17592925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1563</TotalTime>
  <Words>1611</Words>
  <Application>Microsoft Office PowerPoint</Application>
  <PresentationFormat>Widescreen</PresentationFormat>
  <Paragraphs>126</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Bookman Old Style</vt:lpstr>
      <vt:lpstr>Courier New</vt:lpstr>
      <vt:lpstr>Freestyle Script</vt:lpstr>
      <vt:lpstr>Roboto</vt:lpstr>
      <vt:lpstr>Rockwell</vt:lpstr>
      <vt:lpstr>Times New Roman</vt:lpstr>
      <vt:lpstr>Wingdings</vt:lpstr>
      <vt:lpstr>Damask</vt:lpstr>
      <vt:lpstr>PowerPoint Presentation</vt:lpstr>
      <vt:lpstr>AWS Storage Services</vt:lpstr>
      <vt:lpstr>PowerPoint Presentation</vt:lpstr>
      <vt:lpstr>PowerPoint Presentation</vt:lpstr>
      <vt:lpstr>PowerPoint Presentation</vt:lpstr>
      <vt:lpstr>Snapshots / volume</vt:lpstr>
      <vt:lpstr>PowerPoint Presentation</vt:lpstr>
      <vt:lpstr>PowerPoint Presentation</vt:lpstr>
      <vt:lpstr>SRR / CRR</vt:lpstr>
      <vt:lpstr> Same-Region replication (SRR) &amp; Cross-Region replication (CRR)  </vt:lpstr>
      <vt:lpstr>Glacier (WORM) Lock / S3 Object Lock</vt:lpstr>
      <vt:lpstr>Amazon (S3) - Versioning /Amazon (S3) - Replication </vt:lpstr>
      <vt:lpstr>Why DNS is Called as Route53 in AWS</vt:lpstr>
      <vt:lpstr>PowerPoint Presentation</vt:lpstr>
      <vt:lpstr>Sub-domain</vt:lpstr>
      <vt:lpstr>Feature Of Route 53</vt:lpstr>
      <vt:lpstr>Auto Scaling / Auto Scaling Group </vt:lpstr>
      <vt:lpstr>Single Point Of Failure / Elastic Load Balancing </vt:lpstr>
      <vt:lpstr>PowerPoint Presentation</vt:lpstr>
      <vt:lpstr>High Availability / Fault Tolerance</vt:lpstr>
      <vt:lpstr>Types Of Load Balancers In AWS</vt:lpstr>
      <vt:lpstr>A Launch Template</vt:lpstr>
      <vt:lpstr>VPC</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Chethuprasad</dc:creator>
  <cp:lastModifiedBy>Chethuprasad</cp:lastModifiedBy>
  <cp:revision>13</cp:revision>
  <dcterms:created xsi:type="dcterms:W3CDTF">2022-05-06T09:14:10Z</dcterms:created>
  <dcterms:modified xsi:type="dcterms:W3CDTF">2022-05-17T19:01:35Z</dcterms:modified>
</cp:coreProperties>
</file>